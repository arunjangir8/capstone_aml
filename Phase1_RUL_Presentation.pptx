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1b117a1-8233-4f20-53c5-2ab23bebb86b}">
          <p14:sldIdLst>
            <p14:sldId id="256"/>
          </p14:sldIdLst>
        </p14:section>
        <p14:section name="Problem and data" id="{773c3e69-76ef-89e3-0af3-35474ca4ac57}">
          <p14:sldIdLst>
            <p14:sldId id="257"/>
          </p14:sldIdLst>
        </p14:section>
        <p14:section name="Exploration" id="{2e1054d9-845f-7ab1-73dc-1bdcc61ad9b1}">
          <p14:sldIdLst>
            <p14:sldId id="258"/>
          </p14:sldIdLst>
        </p14:section>
        <p14:section name="Features" id="{7e8bee33-8ed5-41f5-aa8d-a7f6d074d308}">
          <p14:sldIdLst>
            <p14:sldId id="259"/>
          </p14:sldIdLst>
        </p14:section>
        <p14:section name="Method" id="{8f273be8-fe17-fca9-2092-2e9c3c856be5}">
          <p14:sldIdLst>
            <p14:sldId id="260"/>
          </p14:sldIdLst>
        </p14:section>
        <p14:section name="Results" id="{9d5d6d79-9d03-f83a-fa34-0dc4be738fd2}">
          <p14:sldIdLst>
            <p14:sldId id="261"/>
          </p14:sldIdLst>
        </p14:section>
        <p14:section name="Conclusion" id="{8df1798d-de69-bd7e-37b1-0633a74b1675}">
          <p14:sldIdLst>
            <p14:sldId id="262"/>
          </p14:sldIdLst>
        </p14:section>
        <p14:section name="Team" id="{45ec5352-cc38-785d-8b73-e89b3ab777f7}">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Engine lifetimes (cycles)</a:t>
            </a:r>
          </a:p>
        </c:rich>
      </c:tx>
      <c:layout/>
      <c:overlay val="0"/>
    </c:title>
    <c:autoTitleDeleted val="0"/>
    <c:plotArea>
      <c:layout/>
      <c:barChart>
        <c:barDir val="col"/>
        <c:grouping val="clustered"/>
        <c:varyColors val="0"/>
        <c:ser>
          <c:idx val="0"/>
          <c:order val="0"/>
          <c:tx>
            <c:strRef>
              <c:f>Sheet1!$B$1</c:f>
              <c:strCache>
                <c:ptCount val="1"/>
                <c:pt idx="0">
                  <c:v>Engines</c:v>
                </c:pt>
              </c:strCache>
            </c:strRef>
          </c:tx>
          <c:spPr>
            <a:solidFill>
              <a:srgbClr val="3A6EA5"/>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Sheet1!$A$2:$A$8</c:f>
              <c:multiLvlStrCache>
                <c:ptCount val="7"/>
                <c:lvl>
                  <c:pt idx="0">
                    <c:v>120-160</c:v>
                  </c:pt>
                  <c:pt idx="1">
                    <c:v>160-200</c:v>
                  </c:pt>
                  <c:pt idx="2">
                    <c:v>200-240</c:v>
                  </c:pt>
                  <c:pt idx="3">
                    <c:v>240-280</c:v>
                  </c:pt>
                  <c:pt idx="4">
                    <c:v>280-320</c:v>
                  </c:pt>
                  <c:pt idx="5">
                    <c:v>320-360</c:v>
                  </c:pt>
                  <c:pt idx="6">
                    <c:v>360-400</c:v>
                  </c:pt>
                </c:lvl>
              </c:multiLvlStrCache>
            </c:multiLvlStrRef>
          </c:cat>
          <c:val>
            <c:numRef>
              <c:f>Sheet1!$B$2:$B$8</c:f>
              <c:numCache>
                <c:formatCode>General</c:formatCode>
                <c:ptCount val="7"/>
                <c:pt idx="0">
                  <c:v>16</c:v>
                </c:pt>
                <c:pt idx="1">
                  <c:v>38</c:v>
                </c:pt>
                <c:pt idx="2">
                  <c:v>29</c:v>
                </c:pt>
                <c:pt idx="3">
                  <c:v>9</c:v>
                </c:pt>
                <c:pt idx="4">
                  <c:v>5</c:v>
                </c:pt>
                <c:pt idx="5">
                  <c:v>2</c:v>
                </c:pt>
                <c:pt idx="6">
                  <c:v>1</c:v>
                </c:pt>
              </c:numCache>
            </c:numRef>
          </c:val>
        </c:ser>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11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max val="45"/>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Correlation with RUL</c:v>
                </c:pt>
              </c:strCache>
            </c:strRef>
          </c:tx>
          <c:spPr>
            <a:solidFill>
              <a:srgbClr val="E07A2F"/>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Sheet1!$A$2:$A$15</c:f>
              <c:multiLvlStrCache>
                <c:ptCount val="14"/>
                <c:lvl>
                  <c:pt idx="0">
                    <c:v>s11</c:v>
                  </c:pt>
                  <c:pt idx="1">
                    <c:v>s4</c:v>
                  </c:pt>
                  <c:pt idx="2">
                    <c:v>s15</c:v>
                  </c:pt>
                  <c:pt idx="3">
                    <c:v>s2</c:v>
                  </c:pt>
                  <c:pt idx="4">
                    <c:v>s17</c:v>
                  </c:pt>
                  <c:pt idx="5">
                    <c:v>s3</c:v>
                  </c:pt>
                  <c:pt idx="6">
                    <c:v>s8</c:v>
                  </c:pt>
                  <c:pt idx="7">
                    <c:v>s13</c:v>
                  </c:pt>
                  <c:pt idx="8">
                    <c:v>s9</c:v>
                  </c:pt>
                  <c:pt idx="9">
                    <c:v>s14</c:v>
                  </c:pt>
                  <c:pt idx="10">
                    <c:v>s20</c:v>
                  </c:pt>
                  <c:pt idx="11">
                    <c:v>s21</c:v>
                  </c:pt>
                  <c:pt idx="12">
                    <c:v>s7</c:v>
                  </c:pt>
                  <c:pt idx="13">
                    <c:v>s12</c:v>
                  </c:pt>
                </c:lvl>
              </c:multiLvlStrCache>
            </c:multiLvlStrRef>
          </c:cat>
          <c:val>
            <c:numRef>
              <c:f>Sheet1!$B$2:$B$15</c:f>
              <c:numCache>
                <c:formatCode>General</c:formatCode>
                <c:ptCount val="14"/>
                <c:pt idx="0">
                  <c:v>-0.7</c:v>
                </c:pt>
                <c:pt idx="1">
                  <c:v>-0.68</c:v>
                </c:pt>
                <c:pt idx="2">
                  <c:v>-0.64</c:v>
                </c:pt>
                <c:pt idx="3">
                  <c:v>-0.61</c:v>
                </c:pt>
                <c:pt idx="4">
                  <c:v>-0.61</c:v>
                </c:pt>
                <c:pt idx="5">
                  <c:v>-0.58</c:v>
                </c:pt>
                <c:pt idx="6">
                  <c:v>-0.56</c:v>
                </c:pt>
                <c:pt idx="7">
                  <c:v>-0.56</c:v>
                </c:pt>
                <c:pt idx="8">
                  <c:v>-0.39</c:v>
                </c:pt>
                <c:pt idx="9">
                  <c:v>-0.31</c:v>
                </c:pt>
                <c:pt idx="10">
                  <c:v>0.63</c:v>
                </c:pt>
                <c:pt idx="11">
                  <c:v>0.64</c:v>
                </c:pt>
                <c:pt idx="12">
                  <c:v>0.66</c:v>
                </c:pt>
                <c:pt idx="13">
                  <c:v>0.67</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max val="1"/>
          <c:min val="-1"/>
        </c:scaling>
        <c:delete val="0"/>
        <c:axPos val="b"/>
        <c:majorGridlines>
          <c:spPr>
            <a:ln w="6350" cap="flat">
              <a:solidFill>
                <a:srgbClr val="D5DA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Engine 1, sensor s11 (HPC static pressure)</a:t>
            </a:r>
          </a:p>
        </c:rich>
      </c:tx>
      <c:layout/>
      <c:overlay val="0"/>
    </c:title>
    <c:autoTitleDeleted val="0"/>
    <c:plotArea>
      <c:layout/>
      <c:scatterChart>
        <c:scatterStyle val="lineMarker"/>
        <c:varyColors val="0"/>
        <c:ser>
          <c:idx val="0"/>
          <c:order val="0"/>
          <c:tx>
            <c:strRef>
              <c:f>Sheet1!$B$1</c:f>
              <c:strCache>
                <c:ptCount val="1"/>
                <c:pt idx="0">
                  <c:v>Raw s11 reading</c:v>
                </c:pt>
              </c:strCache>
            </c:strRef>
          </c:tx>
          <c:spPr>
            <a:solidFill>
              <a:srgbClr val="9AA0A6"/>
            </a:solidFill>
            <a:ln w="25400" cap="flat">
              <a:solidFill>
                <a:srgbClr val="9AA0A6"/>
              </a:solidFill>
              <a:prstDash val="solid"/>
              <a:round/>
            </a:ln>
            <a:effectLst/>
          </c:spPr>
          <c:marker>
            <c:symbol val="none"/>
            <c:size val="6"/>
            <c:spPr>
              <a:solidFill>
                <a:srgbClr val="9AA0A6"/>
              </a:solidFill>
              <a:ln w="9525" cap="flat">
                <a:solidFill>
                  <a:srgbClr val="9AA0A6"/>
                </a:solidFill>
                <a:prstDash val="solid"/>
                <a:round/>
              </a:ln>
              <a:effectLst/>
            </c:spPr>
          </c:marker>
          <c:xVal>
            <c:numRef>
              <c:f>Sheet1!$A$2:$A$193</c:f>
              <c:numCache>
                <c:formatCode>General</c:formatCode>
                <c:ptCount val="19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numCache>
            </c:numRef>
          </c:xVal>
          <c:yVal>
            <c:numRef>
              <c:f>Sheet1!$B$2:$B$193</c:f>
              <c:numCache>
                <c:formatCode>General</c:formatCode>
                <c:ptCount val="192"/>
                <c:pt idx="0">
                  <c:v>47.47</c:v>
                </c:pt>
                <c:pt idx="1">
                  <c:v>47.49</c:v>
                </c:pt>
                <c:pt idx="2">
                  <c:v>47.27</c:v>
                </c:pt>
                <c:pt idx="3">
                  <c:v>47.13</c:v>
                </c:pt>
                <c:pt idx="4">
                  <c:v>47.28</c:v>
                </c:pt>
                <c:pt idx="5">
                  <c:v>47.16</c:v>
                </c:pt>
                <c:pt idx="6">
                  <c:v>47.36</c:v>
                </c:pt>
                <c:pt idx="7">
                  <c:v>47.24</c:v>
                </c:pt>
                <c:pt idx="8">
                  <c:v>47.29</c:v>
                </c:pt>
                <c:pt idx="9">
                  <c:v>47.03</c:v>
                </c:pt>
                <c:pt idx="10">
                  <c:v>47.15</c:v>
                </c:pt>
                <c:pt idx="11">
                  <c:v>47.18</c:v>
                </c:pt>
                <c:pt idx="12">
                  <c:v>47.38</c:v>
                </c:pt>
                <c:pt idx="13">
                  <c:v>47.44</c:v>
                </c:pt>
                <c:pt idx="14">
                  <c:v>47.3</c:v>
                </c:pt>
                <c:pt idx="15">
                  <c:v>47.24</c:v>
                </c:pt>
                <c:pt idx="16">
                  <c:v>47.12</c:v>
                </c:pt>
                <c:pt idx="17">
                  <c:v>47.21</c:v>
                </c:pt>
                <c:pt idx="18">
                  <c:v>47.4</c:v>
                </c:pt>
                <c:pt idx="19">
                  <c:v>47.22</c:v>
                </c:pt>
                <c:pt idx="20">
                  <c:v>47.15</c:v>
                </c:pt>
                <c:pt idx="21">
                  <c:v>47.24</c:v>
                </c:pt>
                <c:pt idx="22">
                  <c:v>47.25</c:v>
                </c:pt>
                <c:pt idx="23">
                  <c:v>47.44</c:v>
                </c:pt>
                <c:pt idx="24">
                  <c:v>47.36</c:v>
                </c:pt>
                <c:pt idx="25">
                  <c:v>47.26</c:v>
                </c:pt>
                <c:pt idx="26">
                  <c:v>47.37</c:v>
                </c:pt>
                <c:pt idx="27">
                  <c:v>47.41</c:v>
                </c:pt>
                <c:pt idx="28">
                  <c:v>47.24</c:v>
                </c:pt>
                <c:pt idx="29">
                  <c:v>47.4</c:v>
                </c:pt>
                <c:pt idx="30">
                  <c:v>47.41</c:v>
                </c:pt>
                <c:pt idx="31">
                  <c:v>47.25</c:v>
                </c:pt>
                <c:pt idx="32">
                  <c:v>47.28</c:v>
                </c:pt>
                <c:pt idx="33">
                  <c:v>47.47</c:v>
                </c:pt>
                <c:pt idx="34">
                  <c:v>47.31</c:v>
                </c:pt>
                <c:pt idx="35">
                  <c:v>47.25</c:v>
                </c:pt>
                <c:pt idx="36">
                  <c:v>47.29</c:v>
                </c:pt>
                <c:pt idx="37">
                  <c:v>47.27</c:v>
                </c:pt>
                <c:pt idx="38">
                  <c:v>47.12</c:v>
                </c:pt>
                <c:pt idx="39">
                  <c:v>47.33</c:v>
                </c:pt>
                <c:pt idx="40">
                  <c:v>47.09</c:v>
                </c:pt>
                <c:pt idx="41">
                  <c:v>47.49</c:v>
                </c:pt>
                <c:pt idx="42">
                  <c:v>47.32</c:v>
                </c:pt>
                <c:pt idx="43">
                  <c:v>47.45</c:v>
                </c:pt>
                <c:pt idx="44">
                  <c:v>47.45</c:v>
                </c:pt>
                <c:pt idx="45">
                  <c:v>47.2</c:v>
                </c:pt>
                <c:pt idx="46">
                  <c:v>47.22</c:v>
                </c:pt>
                <c:pt idx="47">
                  <c:v>47.4</c:v>
                </c:pt>
                <c:pt idx="48">
                  <c:v>47.22</c:v>
                </c:pt>
                <c:pt idx="49">
                  <c:v>47.47</c:v>
                </c:pt>
                <c:pt idx="50">
                  <c:v>47.12</c:v>
                </c:pt>
                <c:pt idx="51">
                  <c:v>47.07</c:v>
                </c:pt>
                <c:pt idx="52">
                  <c:v>47.29</c:v>
                </c:pt>
                <c:pt idx="53">
                  <c:v>47.38</c:v>
                </c:pt>
                <c:pt idx="54">
                  <c:v>47.4</c:v>
                </c:pt>
                <c:pt idx="55">
                  <c:v>47.26</c:v>
                </c:pt>
                <c:pt idx="56">
                  <c:v>47.29</c:v>
                </c:pt>
                <c:pt idx="57">
                  <c:v>47.26</c:v>
                </c:pt>
                <c:pt idx="58">
                  <c:v>47.26</c:v>
                </c:pt>
                <c:pt idx="59">
                  <c:v>47.41</c:v>
                </c:pt>
                <c:pt idx="60">
                  <c:v>47.31</c:v>
                </c:pt>
                <c:pt idx="61">
                  <c:v>47.28</c:v>
                </c:pt>
                <c:pt idx="62">
                  <c:v>47.51</c:v>
                </c:pt>
                <c:pt idx="63">
                  <c:v>47.45</c:v>
                </c:pt>
                <c:pt idx="64">
                  <c:v>47.56</c:v>
                </c:pt>
                <c:pt idx="65">
                  <c:v>47.14</c:v>
                </c:pt>
                <c:pt idx="66">
                  <c:v>47.39</c:v>
                </c:pt>
                <c:pt idx="67">
                  <c:v>47.36</c:v>
                </c:pt>
                <c:pt idx="68">
                  <c:v>47.41</c:v>
                </c:pt>
                <c:pt idx="69">
                  <c:v>47.41</c:v>
                </c:pt>
                <c:pt idx="70">
                  <c:v>47.3</c:v>
                </c:pt>
                <c:pt idx="71">
                  <c:v>47.27</c:v>
                </c:pt>
                <c:pt idx="72">
                  <c:v>47.29</c:v>
                </c:pt>
                <c:pt idx="73">
                  <c:v>47.58</c:v>
                </c:pt>
                <c:pt idx="74">
                  <c:v>47.22</c:v>
                </c:pt>
                <c:pt idx="75">
                  <c:v>47.44</c:v>
                </c:pt>
                <c:pt idx="76">
                  <c:v>47.41</c:v>
                </c:pt>
                <c:pt idx="77">
                  <c:v>47.4</c:v>
                </c:pt>
                <c:pt idx="78">
                  <c:v>47.35</c:v>
                </c:pt>
                <c:pt idx="79">
                  <c:v>47.64</c:v>
                </c:pt>
                <c:pt idx="80">
                  <c:v>47.43</c:v>
                </c:pt>
                <c:pt idx="81">
                  <c:v>47.25</c:v>
                </c:pt>
                <c:pt idx="82">
                  <c:v>47.22</c:v>
                </c:pt>
                <c:pt idx="83">
                  <c:v>47.38</c:v>
                </c:pt>
                <c:pt idx="84">
                  <c:v>47.36</c:v>
                </c:pt>
                <c:pt idx="85">
                  <c:v>47.38</c:v>
                </c:pt>
                <c:pt idx="86">
                  <c:v>47.34</c:v>
                </c:pt>
                <c:pt idx="87">
                  <c:v>47.46</c:v>
                </c:pt>
                <c:pt idx="88">
                  <c:v>47.46</c:v>
                </c:pt>
                <c:pt idx="89">
                  <c:v>47.32</c:v>
                </c:pt>
                <c:pt idx="90">
                  <c:v>47.32</c:v>
                </c:pt>
                <c:pt idx="91">
                  <c:v>47.45</c:v>
                </c:pt>
                <c:pt idx="92">
                  <c:v>47.46</c:v>
                </c:pt>
                <c:pt idx="93">
                  <c:v>47.48</c:v>
                </c:pt>
                <c:pt idx="94">
                  <c:v>47.38</c:v>
                </c:pt>
                <c:pt idx="95">
                  <c:v>47.39</c:v>
                </c:pt>
                <c:pt idx="96">
                  <c:v>47.46</c:v>
                </c:pt>
                <c:pt idx="97">
                  <c:v>47.37</c:v>
                </c:pt>
                <c:pt idx="98">
                  <c:v>47.4</c:v>
                </c:pt>
                <c:pt idx="99">
                  <c:v>47.64</c:v>
                </c:pt>
                <c:pt idx="100">
                  <c:v>47.62</c:v>
                </c:pt>
                <c:pt idx="101">
                  <c:v>47.49</c:v>
                </c:pt>
                <c:pt idx="102">
                  <c:v>47.57</c:v>
                </c:pt>
                <c:pt idx="103">
                  <c:v>47.34</c:v>
                </c:pt>
                <c:pt idx="104">
                  <c:v>47.31</c:v>
                </c:pt>
                <c:pt idx="105">
                  <c:v>47.44</c:v>
                </c:pt>
                <c:pt idx="106">
                  <c:v>47.35</c:v>
                </c:pt>
                <c:pt idx="107">
                  <c:v>47.61</c:v>
                </c:pt>
                <c:pt idx="108">
                  <c:v>47.58</c:v>
                </c:pt>
                <c:pt idx="109">
                  <c:v>47.55</c:v>
                </c:pt>
                <c:pt idx="110">
                  <c:v>47.62</c:v>
                </c:pt>
                <c:pt idx="111">
                  <c:v>47.22</c:v>
                </c:pt>
                <c:pt idx="112">
                  <c:v>47.46</c:v>
                </c:pt>
                <c:pt idx="113">
                  <c:v>47.58</c:v>
                </c:pt>
                <c:pt idx="114">
                  <c:v>47.43</c:v>
                </c:pt>
                <c:pt idx="115">
                  <c:v>47.43</c:v>
                </c:pt>
                <c:pt idx="116">
                  <c:v>47.52</c:v>
                </c:pt>
                <c:pt idx="117">
                  <c:v>47.55</c:v>
                </c:pt>
                <c:pt idx="118">
                  <c:v>47.55</c:v>
                </c:pt>
                <c:pt idx="119">
                  <c:v>47.6</c:v>
                </c:pt>
                <c:pt idx="120">
                  <c:v>47.44</c:v>
                </c:pt>
                <c:pt idx="121">
                  <c:v>47.6</c:v>
                </c:pt>
                <c:pt idx="122">
                  <c:v>47.41</c:v>
                </c:pt>
                <c:pt idx="123">
                  <c:v>47.55</c:v>
                </c:pt>
                <c:pt idx="124">
                  <c:v>47.63</c:v>
                </c:pt>
                <c:pt idx="125">
                  <c:v>47.49</c:v>
                </c:pt>
                <c:pt idx="126">
                  <c:v>47.63</c:v>
                </c:pt>
                <c:pt idx="127">
                  <c:v>47.62</c:v>
                </c:pt>
                <c:pt idx="128">
                  <c:v>47.61</c:v>
                </c:pt>
                <c:pt idx="129">
                  <c:v>47.46</c:v>
                </c:pt>
                <c:pt idx="130">
                  <c:v>47.7</c:v>
                </c:pt>
                <c:pt idx="131">
                  <c:v>47.56</c:v>
                </c:pt>
                <c:pt idx="132">
                  <c:v>47.57</c:v>
                </c:pt>
                <c:pt idx="133">
                  <c:v>47.75</c:v>
                </c:pt>
                <c:pt idx="134">
                  <c:v>47.34</c:v>
                </c:pt>
                <c:pt idx="135">
                  <c:v>47.43</c:v>
                </c:pt>
                <c:pt idx="136">
                  <c:v>47.89</c:v>
                </c:pt>
                <c:pt idx="137">
                  <c:v>47.4</c:v>
                </c:pt>
                <c:pt idx="138">
                  <c:v>47.67</c:v>
                </c:pt>
                <c:pt idx="139">
                  <c:v>47.51</c:v>
                </c:pt>
                <c:pt idx="140">
                  <c:v>47.49</c:v>
                </c:pt>
                <c:pt idx="141">
                  <c:v>47.59</c:v>
                </c:pt>
                <c:pt idx="142">
                  <c:v>47.52</c:v>
                </c:pt>
                <c:pt idx="143">
                  <c:v>47.57</c:v>
                </c:pt>
                <c:pt idx="144">
                  <c:v>47.54</c:v>
                </c:pt>
                <c:pt idx="145">
                  <c:v>47.63</c:v>
                </c:pt>
                <c:pt idx="146">
                  <c:v>47.8</c:v>
                </c:pt>
                <c:pt idx="147">
                  <c:v>47.49</c:v>
                </c:pt>
                <c:pt idx="148">
                  <c:v>47.83</c:v>
                </c:pt>
                <c:pt idx="149">
                  <c:v>47.6</c:v>
                </c:pt>
                <c:pt idx="150">
                  <c:v>47.58</c:v>
                </c:pt>
                <c:pt idx="151">
                  <c:v>47.72</c:v>
                </c:pt>
                <c:pt idx="152">
                  <c:v>47.74</c:v>
                </c:pt>
                <c:pt idx="153">
                  <c:v>47.73</c:v>
                </c:pt>
                <c:pt idx="154">
                  <c:v>47.61</c:v>
                </c:pt>
                <c:pt idx="155">
                  <c:v>47.58</c:v>
                </c:pt>
                <c:pt idx="156">
                  <c:v>47.72</c:v>
                </c:pt>
                <c:pt idx="157">
                  <c:v>47.68</c:v>
                </c:pt>
                <c:pt idx="158">
                  <c:v>47.76</c:v>
                </c:pt>
                <c:pt idx="159">
                  <c:v>47.84</c:v>
                </c:pt>
                <c:pt idx="160">
                  <c:v>47.77</c:v>
                </c:pt>
                <c:pt idx="161">
                  <c:v>47.79</c:v>
                </c:pt>
                <c:pt idx="162">
                  <c:v>47.89</c:v>
                </c:pt>
                <c:pt idx="163">
                  <c:v>47.7</c:v>
                </c:pt>
                <c:pt idx="164">
                  <c:v>47.89</c:v>
                </c:pt>
                <c:pt idx="165">
                  <c:v>47.86</c:v>
                </c:pt>
                <c:pt idx="166">
                  <c:v>47.85</c:v>
                </c:pt>
                <c:pt idx="167">
                  <c:v>47.84</c:v>
                </c:pt>
                <c:pt idx="168">
                  <c:v>47.88</c:v>
                </c:pt>
                <c:pt idx="169">
                  <c:v>47.86</c:v>
                </c:pt>
                <c:pt idx="170">
                  <c:v>48.03</c:v>
                </c:pt>
                <c:pt idx="171">
                  <c:v>48.07</c:v>
                </c:pt>
                <c:pt idx="172">
                  <c:v>47.9</c:v>
                </c:pt>
                <c:pt idx="173">
                  <c:v>48</c:v>
                </c:pt>
                <c:pt idx="174">
                  <c:v>47.86</c:v>
                </c:pt>
                <c:pt idx="175">
                  <c:v>47.84</c:v>
                </c:pt>
                <c:pt idx="176">
                  <c:v>48.03</c:v>
                </c:pt>
                <c:pt idx="177">
                  <c:v>48</c:v>
                </c:pt>
                <c:pt idx="178">
                  <c:v>48.02</c:v>
                </c:pt>
                <c:pt idx="179">
                  <c:v>47.85</c:v>
                </c:pt>
                <c:pt idx="180">
                  <c:v>48.1</c:v>
                </c:pt>
                <c:pt idx="181">
                  <c:v>47.98</c:v>
                </c:pt>
                <c:pt idx="182">
                  <c:v>48.03</c:v>
                </c:pt>
                <c:pt idx="183">
                  <c:v>48.07</c:v>
                </c:pt>
                <c:pt idx="184">
                  <c:v>48.15</c:v>
                </c:pt>
                <c:pt idx="185">
                  <c:v>48.12</c:v>
                </c:pt>
                <c:pt idx="186">
                  <c:v>48.23</c:v>
                </c:pt>
                <c:pt idx="187">
                  <c:v>48</c:v>
                </c:pt>
                <c:pt idx="188">
                  <c:v>48.08</c:v>
                </c:pt>
                <c:pt idx="189">
                  <c:v>48.33</c:v>
                </c:pt>
                <c:pt idx="190">
                  <c:v>48.15</c:v>
                </c:pt>
                <c:pt idx="191">
                  <c:v>48.25</c:v>
                </c:pt>
              </c:numCache>
            </c:numRef>
          </c:yVal>
          <c:smooth val="0"/>
        </c:ser>
        <c:ser>
          <c:idx val="1"/>
          <c:order val="1"/>
          <c:tx>
            <c:strRef>
              <c:f>Sheet1!$C$1</c:f>
              <c:strCache>
                <c:ptCount val="1"/>
                <c:pt idx="0">
                  <c:v>10-cycle rolling mean</c:v>
                </c:pt>
              </c:strCache>
            </c:strRef>
          </c:tx>
          <c:spPr>
            <a:solidFill>
              <a:srgbClr val="E07A2F"/>
            </a:solidFill>
            <a:ln w="25400" cap="flat">
              <a:solidFill>
                <a:srgbClr val="E07A2F"/>
              </a:solidFill>
              <a:prstDash val="solid"/>
              <a:round/>
            </a:ln>
            <a:effectLst/>
          </c:spPr>
          <c:marker>
            <c:symbol val="none"/>
            <c:size val="6"/>
            <c:spPr>
              <a:solidFill>
                <a:srgbClr val="E07A2F"/>
              </a:solidFill>
              <a:ln w="9525" cap="flat">
                <a:solidFill>
                  <a:srgbClr val="E07A2F"/>
                </a:solidFill>
                <a:prstDash val="solid"/>
                <a:round/>
              </a:ln>
              <a:effectLst/>
            </c:spPr>
          </c:marker>
          <c:xVal>
            <c:numRef>
              <c:f>Sheet1!$A$2:$A$193</c:f>
              <c:numCache>
                <c:formatCode>General</c:formatCode>
                <c:ptCount val="19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numCache>
            </c:numRef>
          </c:xVal>
          <c:yVal>
            <c:numRef>
              <c:f>Sheet1!$C$2:$C$193</c:f>
              <c:numCache>
                <c:formatCode>General</c:formatCode>
                <c:ptCount val="192"/>
                <c:pt idx="0">
                  <c:v>47.47</c:v>
                </c:pt>
                <c:pt idx="1">
                  <c:v>47.48</c:v>
                </c:pt>
                <c:pt idx="2">
                  <c:v>47.41</c:v>
                </c:pt>
                <c:pt idx="3">
                  <c:v>47.34</c:v>
                </c:pt>
                <c:pt idx="4">
                  <c:v>47.328</c:v>
                </c:pt>
                <c:pt idx="5">
                  <c:v>47.3</c:v>
                </c:pt>
                <c:pt idx="6">
                  <c:v>47.309</c:v>
                </c:pt>
                <c:pt idx="7">
                  <c:v>47.3</c:v>
                </c:pt>
                <c:pt idx="8">
                  <c:v>47.299</c:v>
                </c:pt>
                <c:pt idx="9">
                  <c:v>47.272</c:v>
                </c:pt>
                <c:pt idx="10">
                  <c:v>47.24</c:v>
                </c:pt>
                <c:pt idx="11">
                  <c:v>47.209</c:v>
                </c:pt>
                <c:pt idx="12">
                  <c:v>47.22</c:v>
                </c:pt>
                <c:pt idx="13">
                  <c:v>47.251</c:v>
                </c:pt>
                <c:pt idx="14">
                  <c:v>47.253</c:v>
                </c:pt>
                <c:pt idx="15">
                  <c:v>47.261</c:v>
                </c:pt>
                <c:pt idx="16">
                  <c:v>47.237</c:v>
                </c:pt>
                <c:pt idx="17">
                  <c:v>47.234</c:v>
                </c:pt>
                <c:pt idx="18">
                  <c:v>47.245</c:v>
                </c:pt>
                <c:pt idx="19">
                  <c:v>47.264</c:v>
                </c:pt>
                <c:pt idx="20">
                  <c:v>47.264</c:v>
                </c:pt>
                <c:pt idx="21">
                  <c:v>47.27</c:v>
                </c:pt>
                <c:pt idx="22">
                  <c:v>47.257</c:v>
                </c:pt>
                <c:pt idx="23">
                  <c:v>47.257</c:v>
                </c:pt>
                <c:pt idx="24">
                  <c:v>47.263</c:v>
                </c:pt>
                <c:pt idx="25">
                  <c:v>47.265</c:v>
                </c:pt>
                <c:pt idx="26">
                  <c:v>47.29</c:v>
                </c:pt>
                <c:pt idx="27">
                  <c:v>47.31</c:v>
                </c:pt>
                <c:pt idx="28">
                  <c:v>47.294</c:v>
                </c:pt>
                <c:pt idx="29">
                  <c:v>47.312</c:v>
                </c:pt>
                <c:pt idx="30">
                  <c:v>47.338</c:v>
                </c:pt>
                <c:pt idx="31">
                  <c:v>47.339</c:v>
                </c:pt>
                <c:pt idx="32">
                  <c:v>47.342</c:v>
                </c:pt>
                <c:pt idx="33">
                  <c:v>47.345</c:v>
                </c:pt>
                <c:pt idx="34">
                  <c:v>47.34</c:v>
                </c:pt>
                <c:pt idx="35">
                  <c:v>47.339</c:v>
                </c:pt>
                <c:pt idx="36">
                  <c:v>47.331</c:v>
                </c:pt>
                <c:pt idx="37">
                  <c:v>47.317</c:v>
                </c:pt>
                <c:pt idx="38">
                  <c:v>47.305</c:v>
                </c:pt>
                <c:pt idx="39">
                  <c:v>47.298</c:v>
                </c:pt>
                <c:pt idx="40">
                  <c:v>47.266</c:v>
                </c:pt>
                <c:pt idx="41">
                  <c:v>47.29</c:v>
                </c:pt>
                <c:pt idx="42">
                  <c:v>47.294</c:v>
                </c:pt>
                <c:pt idx="43">
                  <c:v>47.292</c:v>
                </c:pt>
                <c:pt idx="44">
                  <c:v>47.306</c:v>
                </c:pt>
                <c:pt idx="45">
                  <c:v>47.301</c:v>
                </c:pt>
                <c:pt idx="46">
                  <c:v>47.294</c:v>
                </c:pt>
                <c:pt idx="47">
                  <c:v>47.307</c:v>
                </c:pt>
                <c:pt idx="48">
                  <c:v>47.317</c:v>
                </c:pt>
                <c:pt idx="49">
                  <c:v>47.331</c:v>
                </c:pt>
                <c:pt idx="50">
                  <c:v>47.334</c:v>
                </c:pt>
                <c:pt idx="51">
                  <c:v>47.292</c:v>
                </c:pt>
                <c:pt idx="52">
                  <c:v>47.289</c:v>
                </c:pt>
                <c:pt idx="53">
                  <c:v>47.282</c:v>
                </c:pt>
                <c:pt idx="54">
                  <c:v>47.277</c:v>
                </c:pt>
                <c:pt idx="55">
                  <c:v>47.283</c:v>
                </c:pt>
                <c:pt idx="56">
                  <c:v>47.29</c:v>
                </c:pt>
                <c:pt idx="57">
                  <c:v>47.276</c:v>
                </c:pt>
                <c:pt idx="58">
                  <c:v>47.28</c:v>
                </c:pt>
                <c:pt idx="59">
                  <c:v>47.274</c:v>
                </c:pt>
                <c:pt idx="60">
                  <c:v>47.293</c:v>
                </c:pt>
                <c:pt idx="61">
                  <c:v>47.314</c:v>
                </c:pt>
                <c:pt idx="62">
                  <c:v>47.336</c:v>
                </c:pt>
                <c:pt idx="63">
                  <c:v>47.343</c:v>
                </c:pt>
                <c:pt idx="64">
                  <c:v>47.359</c:v>
                </c:pt>
                <c:pt idx="65">
                  <c:v>47.347</c:v>
                </c:pt>
                <c:pt idx="66">
                  <c:v>47.357</c:v>
                </c:pt>
                <c:pt idx="67">
                  <c:v>47.367</c:v>
                </c:pt>
                <c:pt idx="68">
                  <c:v>47.382</c:v>
                </c:pt>
                <c:pt idx="69">
                  <c:v>47.382</c:v>
                </c:pt>
                <c:pt idx="70">
                  <c:v>47.381</c:v>
                </c:pt>
                <c:pt idx="71">
                  <c:v>47.38</c:v>
                </c:pt>
                <c:pt idx="72">
                  <c:v>47.358</c:v>
                </c:pt>
                <c:pt idx="73">
                  <c:v>47.371</c:v>
                </c:pt>
                <c:pt idx="74">
                  <c:v>47.337</c:v>
                </c:pt>
                <c:pt idx="75">
                  <c:v>47.367</c:v>
                </c:pt>
                <c:pt idx="76">
                  <c:v>47.369</c:v>
                </c:pt>
                <c:pt idx="77">
                  <c:v>47.373</c:v>
                </c:pt>
                <c:pt idx="78">
                  <c:v>47.367</c:v>
                </c:pt>
                <c:pt idx="79">
                  <c:v>47.39</c:v>
                </c:pt>
                <c:pt idx="80">
                  <c:v>47.403</c:v>
                </c:pt>
                <c:pt idx="81">
                  <c:v>47.401</c:v>
                </c:pt>
                <c:pt idx="82">
                  <c:v>47.394</c:v>
                </c:pt>
                <c:pt idx="83">
                  <c:v>47.374</c:v>
                </c:pt>
                <c:pt idx="84">
                  <c:v>47.388</c:v>
                </c:pt>
                <c:pt idx="85">
                  <c:v>47.382</c:v>
                </c:pt>
                <c:pt idx="86">
                  <c:v>47.375</c:v>
                </c:pt>
                <c:pt idx="87">
                  <c:v>47.381</c:v>
                </c:pt>
                <c:pt idx="88">
                  <c:v>47.392</c:v>
                </c:pt>
                <c:pt idx="89">
                  <c:v>47.36</c:v>
                </c:pt>
                <c:pt idx="90">
                  <c:v>47.349</c:v>
                </c:pt>
                <c:pt idx="91">
                  <c:v>47.369</c:v>
                </c:pt>
                <c:pt idx="92">
                  <c:v>47.393</c:v>
                </c:pt>
                <c:pt idx="93">
                  <c:v>47.403</c:v>
                </c:pt>
                <c:pt idx="94">
                  <c:v>47.405</c:v>
                </c:pt>
                <c:pt idx="95">
                  <c:v>47.406</c:v>
                </c:pt>
                <c:pt idx="96">
                  <c:v>47.418</c:v>
                </c:pt>
                <c:pt idx="97">
                  <c:v>47.409</c:v>
                </c:pt>
                <c:pt idx="98">
                  <c:v>47.403</c:v>
                </c:pt>
                <c:pt idx="99">
                  <c:v>47.435</c:v>
                </c:pt>
                <c:pt idx="100">
                  <c:v>47.465</c:v>
                </c:pt>
                <c:pt idx="101">
                  <c:v>47.469</c:v>
                </c:pt>
                <c:pt idx="102">
                  <c:v>47.48</c:v>
                </c:pt>
                <c:pt idx="103">
                  <c:v>47.466</c:v>
                </c:pt>
                <c:pt idx="104">
                  <c:v>47.459</c:v>
                </c:pt>
                <c:pt idx="105">
                  <c:v>47.464</c:v>
                </c:pt>
                <c:pt idx="106">
                  <c:v>47.453</c:v>
                </c:pt>
                <c:pt idx="107">
                  <c:v>47.477</c:v>
                </c:pt>
                <c:pt idx="108">
                  <c:v>47.495</c:v>
                </c:pt>
                <c:pt idx="109">
                  <c:v>47.486</c:v>
                </c:pt>
                <c:pt idx="110">
                  <c:v>47.486</c:v>
                </c:pt>
                <c:pt idx="111">
                  <c:v>47.459</c:v>
                </c:pt>
                <c:pt idx="112">
                  <c:v>47.448</c:v>
                </c:pt>
                <c:pt idx="113">
                  <c:v>47.472</c:v>
                </c:pt>
                <c:pt idx="114">
                  <c:v>47.484</c:v>
                </c:pt>
                <c:pt idx="115">
                  <c:v>47.483</c:v>
                </c:pt>
                <c:pt idx="116">
                  <c:v>47.5</c:v>
                </c:pt>
                <c:pt idx="117">
                  <c:v>47.494</c:v>
                </c:pt>
                <c:pt idx="118">
                  <c:v>47.491</c:v>
                </c:pt>
                <c:pt idx="119">
                  <c:v>47.496</c:v>
                </c:pt>
                <c:pt idx="120">
                  <c:v>47.478</c:v>
                </c:pt>
                <c:pt idx="121">
                  <c:v>47.516</c:v>
                </c:pt>
                <c:pt idx="122">
                  <c:v>47.511</c:v>
                </c:pt>
                <c:pt idx="123">
                  <c:v>47.508</c:v>
                </c:pt>
                <c:pt idx="124">
                  <c:v>47.528</c:v>
                </c:pt>
                <c:pt idx="125">
                  <c:v>47.534</c:v>
                </c:pt>
                <c:pt idx="126">
                  <c:v>47.545</c:v>
                </c:pt>
                <c:pt idx="127">
                  <c:v>47.552</c:v>
                </c:pt>
                <c:pt idx="128">
                  <c:v>47.558</c:v>
                </c:pt>
                <c:pt idx="129">
                  <c:v>47.544</c:v>
                </c:pt>
                <c:pt idx="130">
                  <c:v>47.57</c:v>
                </c:pt>
                <c:pt idx="131">
                  <c:v>47.566</c:v>
                </c:pt>
                <c:pt idx="132">
                  <c:v>47.582</c:v>
                </c:pt>
                <c:pt idx="133">
                  <c:v>47.602</c:v>
                </c:pt>
                <c:pt idx="134">
                  <c:v>47.573</c:v>
                </c:pt>
                <c:pt idx="135">
                  <c:v>47.567</c:v>
                </c:pt>
                <c:pt idx="136">
                  <c:v>47.593</c:v>
                </c:pt>
                <c:pt idx="137">
                  <c:v>47.571</c:v>
                </c:pt>
                <c:pt idx="138">
                  <c:v>47.577</c:v>
                </c:pt>
                <c:pt idx="139">
                  <c:v>47.582</c:v>
                </c:pt>
                <c:pt idx="140">
                  <c:v>47.561</c:v>
                </c:pt>
                <c:pt idx="141">
                  <c:v>47.564</c:v>
                </c:pt>
                <c:pt idx="142">
                  <c:v>47.559</c:v>
                </c:pt>
                <c:pt idx="143">
                  <c:v>47.541</c:v>
                </c:pt>
                <c:pt idx="144">
                  <c:v>47.561</c:v>
                </c:pt>
                <c:pt idx="145">
                  <c:v>47.581</c:v>
                </c:pt>
                <c:pt idx="146">
                  <c:v>47.572</c:v>
                </c:pt>
                <c:pt idx="147">
                  <c:v>47.581</c:v>
                </c:pt>
                <c:pt idx="148">
                  <c:v>47.597</c:v>
                </c:pt>
                <c:pt idx="149">
                  <c:v>47.606</c:v>
                </c:pt>
                <c:pt idx="150">
                  <c:v>47.615</c:v>
                </c:pt>
                <c:pt idx="151">
                  <c:v>47.628</c:v>
                </c:pt>
                <c:pt idx="152">
                  <c:v>47.65</c:v>
                </c:pt>
                <c:pt idx="153">
                  <c:v>47.666</c:v>
                </c:pt>
                <c:pt idx="154">
                  <c:v>47.673</c:v>
                </c:pt>
                <c:pt idx="155">
                  <c:v>47.668</c:v>
                </c:pt>
                <c:pt idx="156">
                  <c:v>47.66</c:v>
                </c:pt>
                <c:pt idx="157">
                  <c:v>47.679</c:v>
                </c:pt>
                <c:pt idx="158">
                  <c:v>47.672</c:v>
                </c:pt>
                <c:pt idx="159">
                  <c:v>47.696</c:v>
                </c:pt>
                <c:pt idx="160">
                  <c:v>47.715</c:v>
                </c:pt>
                <c:pt idx="161">
                  <c:v>47.722</c:v>
                </c:pt>
                <c:pt idx="162">
                  <c:v>47.737</c:v>
                </c:pt>
                <c:pt idx="163">
                  <c:v>47.734</c:v>
                </c:pt>
                <c:pt idx="164">
                  <c:v>47.762</c:v>
                </c:pt>
                <c:pt idx="165">
                  <c:v>47.79</c:v>
                </c:pt>
                <c:pt idx="166">
                  <c:v>47.803</c:v>
                </c:pt>
                <c:pt idx="167">
                  <c:v>47.819</c:v>
                </c:pt>
                <c:pt idx="168">
                  <c:v>47.831</c:v>
                </c:pt>
                <c:pt idx="169">
                  <c:v>47.833</c:v>
                </c:pt>
                <c:pt idx="170">
                  <c:v>47.859</c:v>
                </c:pt>
                <c:pt idx="171">
                  <c:v>47.887</c:v>
                </c:pt>
                <c:pt idx="172">
                  <c:v>47.888</c:v>
                </c:pt>
                <c:pt idx="173">
                  <c:v>47.918</c:v>
                </c:pt>
                <c:pt idx="174">
                  <c:v>47.915</c:v>
                </c:pt>
                <c:pt idx="175">
                  <c:v>47.913</c:v>
                </c:pt>
                <c:pt idx="176">
                  <c:v>47.931</c:v>
                </c:pt>
                <c:pt idx="177">
                  <c:v>47.947</c:v>
                </c:pt>
                <c:pt idx="178">
                  <c:v>47.961</c:v>
                </c:pt>
                <c:pt idx="179">
                  <c:v>47.96</c:v>
                </c:pt>
                <c:pt idx="180">
                  <c:v>47.967</c:v>
                </c:pt>
                <c:pt idx="181">
                  <c:v>47.958</c:v>
                </c:pt>
                <c:pt idx="182">
                  <c:v>47.971</c:v>
                </c:pt>
                <c:pt idx="183">
                  <c:v>47.978</c:v>
                </c:pt>
                <c:pt idx="184">
                  <c:v>48.007</c:v>
                </c:pt>
                <c:pt idx="185">
                  <c:v>48.035</c:v>
                </c:pt>
                <c:pt idx="186">
                  <c:v>48.055</c:v>
                </c:pt>
                <c:pt idx="187">
                  <c:v>48.055</c:v>
                </c:pt>
                <c:pt idx="188">
                  <c:v>48.061</c:v>
                </c:pt>
                <c:pt idx="189">
                  <c:v>48.109</c:v>
                </c:pt>
                <c:pt idx="190">
                  <c:v>48.114</c:v>
                </c:pt>
                <c:pt idx="191">
                  <c:v>48.141</c:v>
                </c:pt>
              </c:numCache>
            </c:numRef>
          </c:yVal>
          <c:smooth val="0"/>
        </c:ser>
        <c:dLbls>
          <c:numFmt formatCode="General" sourceLinked="0"/>
          <c:txPr>
            <a:bodyPr/>
            <a:lstStyle/>
            <a:p>
              <a:pPr>
                <a:defRPr b="0" i="0" strike="noStrike" sz="1100" u="none">
                  <a:solidFill>
                    <a:srgbClr val="1B243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200"/>
          <c:min val="0"/>
        </c:scaling>
        <c:delete val="0"/>
        <c:axPos val="b"/>
        <c:title>
          <c:tx>
            <c:rich>
              <a:bodyPr/>
              <a:lstStyle/>
              <a:p>
                <a:pPr>
                  <a:defRPr sz="1100" b="0" i="0" u="none" strike="noStrike">
                    <a:solidFill>
                      <a:srgbClr val="5B6573"/>
                    </a:solidFill>
                    <a:latin typeface="Arial"/>
                  </a:defRPr>
                </a:pPr>
                <a:r>
                  <a:rPr sz="1100" b="0" i="0" u="none" strike="noStrike">
                    <a:solidFill>
                      <a:srgbClr val="5B6573"/>
                    </a:solidFill>
                    <a:latin typeface="Arial"/>
                  </a:rPr>
                  <a:t>Operating cycle</a:t>
                </a:r>
              </a:p>
            </c:rich>
          </c:tx>
          <c:layout/>
          <c:overlay val="0"/>
        </c:title>
        <c:numFmt formatCode="0.0"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2"/>
        <c:crosses val="autoZero"/>
        <c:auto val="1"/>
        <c:lblAlgn val="ctr"/>
        <c:noMultiLvlLbl val="1"/>
        <c:majorUnit val="25"/>
      </c:valAx>
      <c:valAx>
        <c:axId val="2094734552"/>
        <c:scaling>
          <c:orientation val="minMax"/>
          <c:max val="48.4"/>
          <c:min val="47"/>
        </c:scaling>
        <c:delete val="0"/>
        <c:axPos val="l"/>
        <c:majorGridlines>
          <c:spPr>
            <a:ln w="6350" cap="flat">
              <a:solidFill>
                <a:srgbClr val="D5DAE1"/>
              </a:solidFill>
              <a:prstDash val="solid"/>
              <a:round/>
            </a:ln>
          </c:spPr>
        </c:majorGridlines>
        <c:numFmt formatCode="0.0"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midCat"/>
      </c:valAx>
      <c:spPr>
        <a:noFill/>
        <a:ln>
          <a:noFill/>
        </a:ln>
        <a:effectLst/>
      </c:spPr>
    </c:plotArea>
    <c:legend>
      <c:legendPos val="t"/>
      <c:overlay val="0"/>
      <c:txPr>
        <a:bodyPr/>
        <a:lstStyle/>
        <a:p>
          <a:pPr>
            <a:defRPr sz="1100">
              <a:solidFill>
                <a:srgbClr val="1B24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Validation RMSE</c:v>
                </c:pt>
              </c:strCache>
            </c:strRef>
          </c:tx>
          <c:spPr>
            <a:solidFill>
              <a:srgbClr val="3A6EA5"/>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Baseline</c:v>
                  </c:pt>
                  <c:pt idx="1">
                    <c:v>Random Forest</c:v>
                  </c:pt>
                  <c:pt idx="2">
                    <c:v>XGBoost</c:v>
                  </c:pt>
                  <c:pt idx="3">
                    <c:v>Elastic Net</c:v>
                  </c:pt>
                </c:lvl>
              </c:multiLvlStrCache>
            </c:multiLvlStrRef>
          </c:cat>
          <c:val>
            <c:numRef>
              <c:f>Sheet1!$B$2:$B$5</c:f>
              <c:numCache>
                <c:formatCode>General</c:formatCode>
                <c:ptCount val="4"/>
                <c:pt idx="0">
                  <c:v>41.72</c:v>
                </c:pt>
                <c:pt idx="1">
                  <c:v>10.34</c:v>
                </c:pt>
                <c:pt idx="2">
                  <c:v>9.6</c:v>
                </c:pt>
                <c:pt idx="3">
                  <c:v>15.04</c:v>
                </c:pt>
              </c:numCache>
            </c:numRef>
          </c:val>
        </c:ser>
        <c:ser>
          <c:idx val="1"/>
          <c:order val="1"/>
          <c:tx>
            <c:strRef>
              <c:f>Sheet1!$C$1</c:f>
              <c:strCache>
                <c:ptCount val="1"/>
                <c:pt idx="0">
                  <c:v>Test RMSE</c:v>
                </c:pt>
              </c:strCache>
            </c:strRef>
          </c:tx>
          <c:spPr>
            <a:solidFill>
              <a:srgbClr val="E07A2F"/>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Baseline</c:v>
                  </c:pt>
                  <c:pt idx="1">
                    <c:v>Random Forest</c:v>
                  </c:pt>
                  <c:pt idx="2">
                    <c:v>XGBoost</c:v>
                  </c:pt>
                  <c:pt idx="3">
                    <c:v>Elastic Net</c:v>
                  </c:pt>
                </c:lvl>
              </c:multiLvlStrCache>
            </c:multiLvlStrRef>
          </c:cat>
          <c:val>
            <c:numRef>
              <c:f>Sheet1!$C$2:$C$5</c:f>
              <c:numCache>
                <c:formatCode>General</c:formatCode>
                <c:ptCount val="4"/>
                <c:pt idx="0">
                  <c:v>41.94</c:v>
                </c:pt>
                <c:pt idx="1">
                  <c:v>11.44</c:v>
                </c:pt>
                <c:pt idx="2">
                  <c:v>10.14</c:v>
                </c:pt>
                <c:pt idx="3">
                  <c:v>16.13</c:v>
                </c:pt>
              </c:numCache>
            </c:numRef>
          </c:val>
        </c:ser>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max val="50"/>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Raw sensors only</c:v>
                </c:pt>
              </c:strCache>
            </c:strRef>
          </c:tx>
          <c:spPr>
            <a:solidFill>
              <a:srgbClr val="9AA0A6"/>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Random Forest</c:v>
                  </c:pt>
                  <c:pt idx="1">
                    <c:v>XGBoost</c:v>
                  </c:pt>
                  <c:pt idx="2">
                    <c:v>Elastic Net</c:v>
                  </c:pt>
                </c:lvl>
              </c:multiLvlStrCache>
            </c:multiLvlStrRef>
          </c:cat>
          <c:val>
            <c:numRef>
              <c:f>Sheet1!$B$2:$B$4</c:f>
              <c:numCache>
                <c:formatCode>General</c:formatCode>
                <c:ptCount val="3"/>
                <c:pt idx="0">
                  <c:v>15.98</c:v>
                </c:pt>
                <c:pt idx="1">
                  <c:v>15.53</c:v>
                </c:pt>
                <c:pt idx="2">
                  <c:v>17.96</c:v>
                </c:pt>
              </c:numCache>
            </c:numRef>
          </c:val>
        </c:ser>
        <c:ser>
          <c:idx val="1"/>
          <c:order val="1"/>
          <c:tx>
            <c:strRef>
              <c:f>Sheet1!$C$1</c:f>
              <c:strCache>
                <c:ptCount val="1"/>
                <c:pt idx="0">
                  <c:v>Engineered features</c:v>
                </c:pt>
              </c:strCache>
            </c:strRef>
          </c:tx>
          <c:spPr>
            <a:solidFill>
              <a:srgbClr val="E07A2F"/>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Random Forest</c:v>
                  </c:pt>
                  <c:pt idx="1">
                    <c:v>XGBoost</c:v>
                  </c:pt>
                  <c:pt idx="2">
                    <c:v>Elastic Net</c:v>
                  </c:pt>
                </c:lvl>
              </c:multiLvlStrCache>
            </c:multiLvlStrRef>
          </c:cat>
          <c:val>
            <c:numRef>
              <c:f>Sheet1!$C$2:$C$4</c:f>
              <c:numCache>
                <c:formatCode>General</c:formatCode>
                <c:ptCount val="3"/>
                <c:pt idx="0">
                  <c:v>10.34</c:v>
                </c:pt>
                <c:pt idx="1">
                  <c:v>9.6</c:v>
                </c:pt>
                <c:pt idx="2">
                  <c:v>15.04</c:v>
                </c:pt>
              </c:numCache>
            </c:numRef>
          </c:val>
        </c:ser>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4"/>
        <c:crosses val="autoZero"/>
        <c:crossBetween val="between"/>
        <c:majorUnit val="5"/>
      </c:valAx>
      <c:spPr>
        <a:noFill/>
        <a:ln>
          <a:noFill/>
        </a:ln>
        <a:effectLst/>
      </c:spPr>
    </c:plotArea>
    <c:legend>
      <c:legendPos val="t"/>
      <c:overlay val="0"/>
      <c:txPr>
        <a:bodyPr/>
        <a:lstStyle/>
        <a:p>
          <a:pPr>
            <a:defRPr sz="11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predicting remaining useful life (RUL) of turbofan engines from sensor data, using classical machine learning only. Headline result: XGBoost predicts the official NASA test engines with an RMSE of 10.14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 is simply the number of cycles left. Training engines run to failure, so we can compute it; test engines stop early and NASA gives the true RUL separately. Lifetimes vary a lot, so age alone cannot tell us the RUL.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sensors remain after removing flat ones. Temperatures and pressures such as s11 and s4 rise towards failure, while s7, s12, s20, s21 fall. Because single readings are noisy, we build trend features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sensor we compute four features over the last 10 cycles. The most useful one turned out to be drift from healthy: how far a sensor has moved from that engine's own normal level in its first 10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 engines go to training or validation, never both, to avoid leakage. Settings are tuned with GroupKFold on the 80 training engines; the 20 validation engines pick the best model; the official test set is used only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was chosen on validation before touching the test set. On the 100 official test engines: RMSE 10.14, MAE 7.40, R squared 0.94. Random Forest is only about one cycle worse, so we call XGBoost slightly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the research question: yes. Engineered features reduce the tree models' error by 35 to 38 percent. The hardest region is the transition from healthy to degrading. Phase 2 will compare deep learning under the same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team member.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Turbofan RUL Prediction  |  Applied Machine Learning  |  NASA C-MAPSS FD001</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ph idx="101" type="body" hasCustomPrompt="1"/>
          </p:nvPr>
        </p:nvSpPr>
        <p:spPr>
          <a:xfrm>
            <a:off x="548640" y="987552"/>
            <a:ext cx="11094415" cy="365760"/>
          </a:xfrm>
          <a:prstGeom prst="rect">
            <a:avLst/>
          </a:prstGeom>
          <a:noFill/>
          <a:ln/>
        </p:spPr>
        <p:txBody>
          <a:bodyPr wrap="square" rtlCol="0"/>
          <a:lstStyle>
            <a:lvl1pPr indent="0" marL="0">
              <a:buNone/>
              <a:defRPr lang="en-US" sz="1500" dirty="0">
                <a:solidFill>
                  <a:schemeClr val="accent4"/>
                </a:solidFill>
              </a:defRPr>
            </a:lvl1pPr>
          </a:lstStyle>
          <a:p>
            <a:pPr indent="0" marL="0">
              <a:buNone/>
            </a:pPr>
            <a:endParaRPr lang="en-US" sz="15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tx2"/>
                </a:solidFill>
              </a:rPr>
              <a:t>Turbofan RUL Prediction  |  Applied Machine Learning  |  NASA C-MAPSS FD001</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73152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APPLIED MACHINE LEARNING  ·  PHASE 1 PROJECT</a:t>
            </a:r>
            <a:endParaRPr lang="en-US" sz="1200" dirty="0"/>
          </a:p>
        </p:txBody>
      </p:sp>
      <p:sp>
        <p:nvSpPr>
          <p:cNvPr id="3" name="Text 1"/>
          <p:cNvSpPr txBox="1"/>
          <p:nvPr/>
        </p:nvSpPr>
        <p:spPr>
          <a:xfrm>
            <a:off x="548640" y="1143000"/>
            <a:ext cx="10515600" cy="1371600"/>
          </a:xfrm>
          <a:prstGeom prst="rect">
            <a:avLst/>
          </a:prstGeom>
          <a:noFill/>
          <a:ln/>
        </p:spPr>
        <p:txBody>
          <a:bodyPr wrap="square" lIns="0" tIns="0" rIns="0" bIns="0" rtlCol="0" anchor="t"/>
          <a:lstStyle/>
          <a:p>
            <a:pPr indent="0" marL="0">
              <a:buNone/>
            </a:pPr>
            <a:r>
              <a:rPr lang="en-US" sz="4200" b="1" dirty="0">
                <a:solidFill>
                  <a:schemeClr val="bg1"/>
                </a:solidFill>
                <a:latin typeface="Cambria" pitchFamily="34" charset="0"/>
                <a:ea typeface="Cambria" pitchFamily="34" charset="-122"/>
                <a:cs typeface="Cambria" pitchFamily="34" charset="-120"/>
              </a:rPr>
              <a:t>Remaining Useful Life Prediction for Turbofan Engines</a:t>
            </a:r>
            <a:endParaRPr lang="en-US" sz="4200" dirty="0"/>
          </a:p>
        </p:txBody>
      </p:sp>
      <p:sp>
        <p:nvSpPr>
          <p:cNvPr id="4" name="Text 2"/>
          <p:cNvSpPr txBox="1"/>
          <p:nvPr/>
        </p:nvSpPr>
        <p:spPr>
          <a:xfrm>
            <a:off x="548640" y="2606040"/>
            <a:ext cx="10515600" cy="457200"/>
          </a:xfrm>
          <a:prstGeom prst="rect">
            <a:avLst/>
          </a:prstGeom>
          <a:noFill/>
          <a:ln/>
        </p:spPr>
        <p:txBody>
          <a:bodyPr wrap="square" lIns="0" tIns="0" rIns="0" bIns="0" rtlCol="0" anchor="ctr"/>
          <a:lstStyle/>
          <a:p>
            <a:pPr indent="0" marL="0">
              <a:buNone/>
            </a:pPr>
            <a:r>
              <a:rPr lang="en-US" sz="1800" dirty="0">
                <a:solidFill>
                  <a:schemeClr val="bg2"/>
                </a:solidFill>
              </a:rPr>
              <a:t>How many flights does an engine have left?  Sensor feature engineering with classical ML on NASA C-MAPSS FD001</a:t>
            </a:r>
            <a:endParaRPr lang="en-US" sz="1800" dirty="0"/>
          </a:p>
        </p:txBody>
      </p:sp>
      <p:sp>
        <p:nvSpPr>
          <p:cNvPr id="5" name="Shape 3"/>
          <p:cNvSpPr/>
          <p:nvPr/>
        </p:nvSpPr>
        <p:spPr>
          <a:xfrm>
            <a:off x="548640" y="3520440"/>
            <a:ext cx="3474720" cy="1737360"/>
          </a:xfrm>
          <a:prstGeom prst="roundRect">
            <a:avLst>
              <a:gd name="adj" fmla="val 6316"/>
            </a:avLst>
          </a:prstGeom>
          <a:solidFill>
            <a:schemeClr val="tx2"/>
          </a:solidFill>
          <a:ln w="12700">
            <a:solidFill>
              <a:schemeClr val="tx2"/>
            </a:solidFill>
            <a:prstDash val="solid"/>
          </a:ln>
        </p:spPr>
      </p:sp>
      <p:sp>
        <p:nvSpPr>
          <p:cNvPr id="6" name="Text 4"/>
          <p:cNvSpPr txBox="1"/>
          <p:nvPr/>
        </p:nvSpPr>
        <p:spPr>
          <a:xfrm>
            <a:off x="822960" y="3657600"/>
            <a:ext cx="292608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100</a:t>
            </a:r>
            <a:endParaRPr lang="en-US" sz="4800" dirty="0"/>
          </a:p>
        </p:txBody>
      </p:sp>
      <p:sp>
        <p:nvSpPr>
          <p:cNvPr id="7" name="Text 5"/>
          <p:cNvSpPr txBox="1"/>
          <p:nvPr/>
        </p:nvSpPr>
        <p:spPr>
          <a:xfrm>
            <a:off x="822960" y="4572000"/>
            <a:ext cx="2926080" cy="457200"/>
          </a:xfrm>
          <a:prstGeom prst="rect">
            <a:avLst/>
          </a:prstGeom>
          <a:noFill/>
          <a:ln/>
        </p:spPr>
        <p:txBody>
          <a:bodyPr wrap="square" lIns="0" tIns="0" rIns="0" bIns="0" rtlCol="0" anchor="ctr"/>
          <a:lstStyle/>
          <a:p>
            <a:pPr indent="0" marL="0">
              <a:buNone/>
            </a:pPr>
            <a:r>
              <a:rPr lang="en-US" sz="1500" dirty="0">
                <a:solidFill>
                  <a:schemeClr val="bg2"/>
                </a:solidFill>
              </a:rPr>
              <a:t>engines recorded until failure</a:t>
            </a:r>
            <a:endParaRPr lang="en-US" sz="1500" dirty="0"/>
          </a:p>
        </p:txBody>
      </p:sp>
      <p:sp>
        <p:nvSpPr>
          <p:cNvPr id="8" name="Shape 6"/>
          <p:cNvSpPr/>
          <p:nvPr/>
        </p:nvSpPr>
        <p:spPr>
          <a:xfrm>
            <a:off x="4297680" y="3520440"/>
            <a:ext cx="3474720" cy="1737360"/>
          </a:xfrm>
          <a:prstGeom prst="roundRect">
            <a:avLst>
              <a:gd name="adj" fmla="val 6316"/>
            </a:avLst>
          </a:prstGeom>
          <a:solidFill>
            <a:schemeClr val="tx2"/>
          </a:solidFill>
          <a:ln w="12700">
            <a:solidFill>
              <a:schemeClr val="tx2"/>
            </a:solidFill>
            <a:prstDash val="solid"/>
          </a:ln>
        </p:spPr>
      </p:sp>
      <p:sp>
        <p:nvSpPr>
          <p:cNvPr id="9" name="Text 7"/>
          <p:cNvSpPr txBox="1"/>
          <p:nvPr/>
        </p:nvSpPr>
        <p:spPr>
          <a:xfrm>
            <a:off x="4572000" y="3657600"/>
            <a:ext cx="292608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71</a:t>
            </a:r>
            <a:endParaRPr lang="en-US" sz="4800" dirty="0"/>
          </a:p>
        </p:txBody>
      </p:sp>
      <p:sp>
        <p:nvSpPr>
          <p:cNvPr id="10" name="Text 8"/>
          <p:cNvSpPr txBox="1"/>
          <p:nvPr/>
        </p:nvSpPr>
        <p:spPr>
          <a:xfrm>
            <a:off x="4572000" y="4572000"/>
            <a:ext cx="2926080" cy="457200"/>
          </a:xfrm>
          <a:prstGeom prst="rect">
            <a:avLst/>
          </a:prstGeom>
          <a:noFill/>
          <a:ln/>
        </p:spPr>
        <p:txBody>
          <a:bodyPr wrap="square" lIns="0" tIns="0" rIns="0" bIns="0" rtlCol="0" anchor="ctr"/>
          <a:lstStyle/>
          <a:p>
            <a:pPr indent="0" marL="0">
              <a:buNone/>
            </a:pPr>
            <a:r>
              <a:rPr lang="en-US" sz="1500" dirty="0">
                <a:solidFill>
                  <a:schemeClr val="bg2"/>
                </a:solidFill>
              </a:rPr>
              <a:t>engineered input features</a:t>
            </a:r>
            <a:endParaRPr lang="en-US" sz="1500" dirty="0"/>
          </a:p>
        </p:txBody>
      </p:sp>
      <p:sp>
        <p:nvSpPr>
          <p:cNvPr id="11" name="Shape 9"/>
          <p:cNvSpPr/>
          <p:nvPr/>
        </p:nvSpPr>
        <p:spPr>
          <a:xfrm>
            <a:off x="8046720" y="3520440"/>
            <a:ext cx="3474720" cy="1737360"/>
          </a:xfrm>
          <a:prstGeom prst="roundRect">
            <a:avLst>
              <a:gd name="adj" fmla="val 6316"/>
            </a:avLst>
          </a:prstGeom>
          <a:solidFill>
            <a:schemeClr val="tx2"/>
          </a:solidFill>
          <a:ln w="12700">
            <a:solidFill>
              <a:schemeClr val="tx2"/>
            </a:solidFill>
            <a:prstDash val="solid"/>
          </a:ln>
        </p:spPr>
      </p:sp>
      <p:sp>
        <p:nvSpPr>
          <p:cNvPr id="12" name="Text 10"/>
          <p:cNvSpPr txBox="1"/>
          <p:nvPr/>
        </p:nvSpPr>
        <p:spPr>
          <a:xfrm>
            <a:off x="8321040" y="3657600"/>
            <a:ext cx="2926080" cy="9144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10.14</a:t>
            </a:r>
            <a:endParaRPr lang="en-US" sz="4800" dirty="0"/>
          </a:p>
        </p:txBody>
      </p:sp>
      <p:sp>
        <p:nvSpPr>
          <p:cNvPr id="13" name="Text 11"/>
          <p:cNvSpPr txBox="1"/>
          <p:nvPr/>
        </p:nvSpPr>
        <p:spPr>
          <a:xfrm>
            <a:off x="8321040" y="4572000"/>
            <a:ext cx="2926080" cy="457200"/>
          </a:xfrm>
          <a:prstGeom prst="rect">
            <a:avLst/>
          </a:prstGeom>
          <a:noFill/>
          <a:ln/>
        </p:spPr>
        <p:txBody>
          <a:bodyPr wrap="square" lIns="0" tIns="0" rIns="0" bIns="0" rtlCol="0" anchor="ctr"/>
          <a:lstStyle/>
          <a:p>
            <a:pPr indent="0" marL="0">
              <a:buNone/>
            </a:pPr>
            <a:r>
              <a:rPr lang="en-US" sz="1500" dirty="0">
                <a:solidFill>
                  <a:schemeClr val="bg2"/>
                </a:solidFill>
              </a:rPr>
              <a:t>test RMSE in cycles (XGBoost)</a:t>
            </a:r>
            <a:endParaRPr lang="en-US" sz="1500" dirty="0"/>
          </a:p>
        </p:txBody>
      </p:sp>
      <p:sp>
        <p:nvSpPr>
          <p:cNvPr id="14" name="Text 12"/>
          <p:cNvSpPr txBox="1"/>
          <p:nvPr/>
        </p:nvSpPr>
        <p:spPr>
          <a:xfrm>
            <a:off x="548640" y="5623560"/>
            <a:ext cx="10515600" cy="365760"/>
          </a:xfrm>
          <a:prstGeom prst="rect">
            <a:avLst/>
          </a:prstGeom>
          <a:noFill/>
          <a:ln/>
        </p:spPr>
        <p:txBody>
          <a:bodyPr wrap="square" lIns="0" tIns="0" rIns="0" bIns="0" rtlCol="0" anchor="ctr"/>
          <a:lstStyle/>
          <a:p>
            <a:pPr indent="0" marL="0">
              <a:buNone/>
            </a:pPr>
            <a:r>
              <a:rPr lang="en-US" sz="1500" dirty="0">
                <a:solidFill>
                  <a:schemeClr val="bg1"/>
                </a:solidFill>
              </a:rPr>
              <a:t>Team: Rohit Kumar  ·  Mayank Yadav  ·  Arun  ·  Sarvesh Kumar  ·  Keshav</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task: predict cycles left before failure</a:t>
            </a:r>
            <a:endParaRPr lang="en-US" sz="3200" dirty="0"/>
          </a:p>
        </p:txBody>
      </p:sp>
      <p:sp>
        <p:nvSpPr>
          <p:cNvPr id="3" name="Text 0"/>
          <p:cNvSpPr/>
          <p:nvPr>
            <p:ph idx="101" type="body" hasCustomPrompt="1"/>
          </p:nvPr>
        </p:nvSpPr>
        <p:spPr>
          <a:xfrm>
            <a:off x="548640" y="987552"/>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A regression problem on 100 run-to-failure engines and 100 truncated test engines</a:t>
            </a:r>
            <a:endParaRPr lang="en-US" sz="1500" dirty="0"/>
          </a:p>
        </p:txBody>
      </p:sp>
      <p:sp>
        <p:nvSpPr>
          <p:cNvPr id="4" name="Shape 2"/>
          <p:cNvSpPr/>
          <p:nvPr/>
        </p:nvSpPr>
        <p:spPr>
          <a:xfrm>
            <a:off x="548640" y="1600200"/>
            <a:ext cx="3657600" cy="4526280"/>
          </a:xfrm>
          <a:prstGeom prst="roundRect">
            <a:avLst>
              <a:gd name="adj" fmla="val 3000"/>
            </a:avLst>
          </a:prstGeom>
          <a:solidFill>
            <a:schemeClr val="bg2"/>
          </a:solidFill>
          <a:ln w="12700">
            <a:solidFill>
              <a:schemeClr val="bg2"/>
            </a:solidFill>
            <a:prstDash val="solid"/>
          </a:ln>
        </p:spPr>
      </p:sp>
      <p:sp>
        <p:nvSpPr>
          <p:cNvPr id="5" name="Shape 3"/>
          <p:cNvSpPr/>
          <p:nvPr/>
        </p:nvSpPr>
        <p:spPr>
          <a:xfrm>
            <a:off x="822960" y="17830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822960" y="1783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325880" y="1837944"/>
            <a:ext cx="2743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WHAT IS RUL?</a:t>
            </a:r>
            <a:endParaRPr lang="en-US" sz="1200" dirty="0"/>
          </a:p>
        </p:txBody>
      </p:sp>
      <p:sp>
        <p:nvSpPr>
          <p:cNvPr id="8" name="Shape 6"/>
          <p:cNvSpPr/>
          <p:nvPr/>
        </p:nvSpPr>
        <p:spPr>
          <a:xfrm>
            <a:off x="822960" y="2377440"/>
            <a:ext cx="3108960" cy="777240"/>
          </a:xfrm>
          <a:prstGeom prst="roundRect">
            <a:avLst>
              <a:gd name="adj" fmla="val 14118"/>
            </a:avLst>
          </a:prstGeom>
          <a:solidFill>
            <a:schemeClr val="tx1"/>
          </a:solidFill>
          <a:ln w="12700">
            <a:solidFill>
              <a:schemeClr val="tx1"/>
            </a:solidFill>
            <a:prstDash val="solid"/>
          </a:ln>
        </p:spPr>
      </p:sp>
      <p:sp>
        <p:nvSpPr>
          <p:cNvPr id="9" name="Text 7"/>
          <p:cNvSpPr txBox="1"/>
          <p:nvPr/>
        </p:nvSpPr>
        <p:spPr>
          <a:xfrm>
            <a:off x="960120" y="2377440"/>
            <a:ext cx="2834640" cy="777240"/>
          </a:xfrm>
          <a:prstGeom prst="rect">
            <a:avLst/>
          </a:prstGeom>
          <a:noFill/>
          <a:ln/>
        </p:spPr>
        <p:txBody>
          <a:bodyPr wrap="square" lIns="0" tIns="0" rIns="0" bIns="0" rtlCol="0" anchor="ctr"/>
          <a:lstStyle/>
          <a:p>
            <a:pPr indent="0" marL="0">
              <a:buNone/>
            </a:pPr>
            <a:r>
              <a:rPr lang="en-US" sz="1700" b="1" dirty="0">
                <a:solidFill>
                  <a:schemeClr val="bg1"/>
                </a:solidFill>
              </a:rPr>
              <a:t>RUL = last cycle − current cycle</a:t>
            </a:r>
            <a:endParaRPr lang="en-US" sz="1700" dirty="0"/>
          </a:p>
        </p:txBody>
      </p:sp>
      <p:sp>
        <p:nvSpPr>
          <p:cNvPr id="10" name="Text 8"/>
          <p:cNvSpPr txBox="1"/>
          <p:nvPr/>
        </p:nvSpPr>
        <p:spPr>
          <a:xfrm>
            <a:off x="822960" y="3291840"/>
            <a:ext cx="3108960" cy="457200"/>
          </a:xfrm>
          <a:prstGeom prst="rect">
            <a:avLst/>
          </a:prstGeom>
          <a:noFill/>
          <a:ln/>
        </p:spPr>
        <p:txBody>
          <a:bodyPr wrap="square" lIns="0" tIns="0" rIns="0" bIns="0" rtlCol="0" anchor="ctr"/>
          <a:lstStyle/>
          <a:p>
            <a:pPr indent="0" marL="0">
              <a:buNone/>
            </a:pPr>
            <a:r>
              <a:rPr lang="en-US" sz="1300" dirty="0">
                <a:solidFill>
                  <a:schemeClr val="tx2"/>
                </a:solidFill>
              </a:rPr>
              <a:t>Example: engine fails at cycle 240, today is cycle 180</a:t>
            </a:r>
            <a:endParaRPr lang="en-US" sz="1300" dirty="0"/>
          </a:p>
        </p:txBody>
      </p:sp>
      <p:sp>
        <p:nvSpPr>
          <p:cNvPr id="11" name="Shape 9"/>
          <p:cNvSpPr/>
          <p:nvPr/>
        </p:nvSpPr>
        <p:spPr>
          <a:xfrm>
            <a:off x="822960" y="3794760"/>
            <a:ext cx="2331720" cy="457200"/>
          </a:xfrm>
          <a:prstGeom prst="rect">
            <a:avLst/>
          </a:prstGeom>
          <a:solidFill>
            <a:schemeClr val="accent4"/>
          </a:solidFill>
          <a:ln w="12700">
            <a:solidFill>
              <a:schemeClr val="accent4"/>
            </a:solidFill>
            <a:prstDash val="solid"/>
          </a:ln>
        </p:spPr>
      </p:sp>
      <p:sp>
        <p:nvSpPr>
          <p:cNvPr id="12" name="Shape 10"/>
          <p:cNvSpPr/>
          <p:nvPr/>
        </p:nvSpPr>
        <p:spPr>
          <a:xfrm>
            <a:off x="3154680" y="3794760"/>
            <a:ext cx="777240" cy="457200"/>
          </a:xfrm>
          <a:prstGeom prst="rect">
            <a:avLst/>
          </a:prstGeom>
          <a:solidFill>
            <a:schemeClr val="accent1"/>
          </a:solidFill>
          <a:ln w="12700">
            <a:solidFill>
              <a:schemeClr val="accent1"/>
            </a:solidFill>
            <a:prstDash val="solid"/>
          </a:ln>
        </p:spPr>
      </p:sp>
      <p:sp>
        <p:nvSpPr>
          <p:cNvPr id="13" name="Text 11"/>
          <p:cNvSpPr txBox="1"/>
          <p:nvPr/>
        </p:nvSpPr>
        <p:spPr>
          <a:xfrm>
            <a:off x="822960" y="3794760"/>
            <a:ext cx="2331720" cy="457200"/>
          </a:xfrm>
          <a:prstGeom prst="rect">
            <a:avLst/>
          </a:prstGeom>
          <a:noFill/>
          <a:ln/>
        </p:spPr>
        <p:txBody>
          <a:bodyPr wrap="square" lIns="0" tIns="0" rIns="0" bIns="0" rtlCol="0" anchor="ctr"/>
          <a:lstStyle/>
          <a:p>
            <a:pPr algn="ctr" indent="0" marL="0">
              <a:buNone/>
            </a:pPr>
            <a:r>
              <a:rPr lang="en-US" sz="1300" dirty="0">
                <a:solidFill>
                  <a:schemeClr val="bg1"/>
                </a:solidFill>
              </a:rPr>
              <a:t>180 flown</a:t>
            </a:r>
            <a:endParaRPr lang="en-US" sz="1300" dirty="0"/>
          </a:p>
        </p:txBody>
      </p:sp>
      <p:sp>
        <p:nvSpPr>
          <p:cNvPr id="14" name="Text 12"/>
          <p:cNvSpPr txBox="1"/>
          <p:nvPr/>
        </p:nvSpPr>
        <p:spPr>
          <a:xfrm>
            <a:off x="3154680" y="3794760"/>
            <a:ext cx="777240" cy="457200"/>
          </a:xfrm>
          <a:prstGeom prst="rect">
            <a:avLst/>
          </a:prstGeom>
          <a:noFill/>
          <a:ln/>
        </p:spPr>
        <p:txBody>
          <a:bodyPr wrap="square" lIns="0" tIns="0" rIns="0" bIns="0" rtlCol="0" anchor="ctr"/>
          <a:lstStyle/>
          <a:p>
            <a:pPr algn="ctr" indent="0" marL="0">
              <a:buNone/>
            </a:pPr>
            <a:r>
              <a:rPr lang="en-US" sz="1400" b="1" dirty="0">
                <a:solidFill>
                  <a:schemeClr val="bg1"/>
                </a:solidFill>
              </a:rPr>
              <a:t>60</a:t>
            </a:r>
            <a:endParaRPr lang="en-US" sz="1400" dirty="0"/>
          </a:p>
        </p:txBody>
      </p:sp>
      <p:sp>
        <p:nvSpPr>
          <p:cNvPr id="15" name="Text 13"/>
          <p:cNvSpPr txBox="1"/>
          <p:nvPr/>
        </p:nvSpPr>
        <p:spPr>
          <a:xfrm>
            <a:off x="822960" y="4343400"/>
            <a:ext cx="3108960" cy="365760"/>
          </a:xfrm>
          <a:prstGeom prst="rect">
            <a:avLst/>
          </a:prstGeom>
          <a:noFill/>
          <a:ln/>
        </p:spPr>
        <p:txBody>
          <a:bodyPr wrap="square" lIns="0" tIns="0" rIns="0" bIns="0" rtlCol="0" anchor="ctr"/>
          <a:lstStyle/>
          <a:p>
            <a:pPr indent="0" marL="0">
              <a:buNone/>
            </a:pPr>
            <a:r>
              <a:rPr lang="en-US" sz="1500" b="1" dirty="0">
                <a:solidFill>
                  <a:schemeClr val="tx1"/>
                </a:solidFill>
              </a:rPr>
              <a:t>RUL = 60 cycles</a:t>
            </a:r>
            <a:endParaRPr lang="en-US" sz="1500" dirty="0"/>
          </a:p>
        </p:txBody>
      </p:sp>
      <p:sp>
        <p:nvSpPr>
          <p:cNvPr id="16" name="Text 14"/>
          <p:cNvSpPr txBox="1"/>
          <p:nvPr/>
        </p:nvSpPr>
        <p:spPr>
          <a:xfrm>
            <a:off x="822960" y="4846320"/>
            <a:ext cx="3108960" cy="914400"/>
          </a:xfrm>
          <a:prstGeom prst="rect">
            <a:avLst/>
          </a:prstGeom>
          <a:noFill/>
          <a:ln/>
        </p:spPr>
        <p:txBody>
          <a:bodyPr wrap="square" lIns="0" tIns="0" rIns="0" bIns="0" rtlCol="0" anchor="t"/>
          <a:lstStyle/>
          <a:p>
            <a:pPr indent="0" marL="0">
              <a:buNone/>
            </a:pPr>
            <a:r>
              <a:rPr lang="en-US" sz="1300" dirty="0">
                <a:solidFill>
                  <a:schemeClr val="tx2"/>
                </a:solidFill>
              </a:rPr>
              <a:t>Healthy engines look alike, so the target is capped at 125 cycles for every model.</a:t>
            </a:r>
            <a:endParaRPr lang="en-US" sz="1300" dirty="0"/>
          </a:p>
        </p:txBody>
      </p:sp>
      <p:sp>
        <p:nvSpPr>
          <p:cNvPr id="17" name="Shape 15"/>
          <p:cNvSpPr/>
          <p:nvPr/>
        </p:nvSpPr>
        <p:spPr>
          <a:xfrm>
            <a:off x="4526280" y="1783080"/>
            <a:ext cx="384048" cy="384048"/>
          </a:xfrm>
          <a:prstGeom prst="ellipse">
            <a:avLst/>
          </a:prstGeom>
          <a:solidFill>
            <a:schemeClr val="accent1"/>
          </a:solidFill>
          <a:ln w="12700">
            <a:solidFill>
              <a:schemeClr val="accent1"/>
            </a:solidFill>
            <a:prstDash val="solid"/>
          </a:ln>
        </p:spPr>
      </p:sp>
      <p:sp>
        <p:nvSpPr>
          <p:cNvPr id="18" name="Text 16"/>
          <p:cNvSpPr txBox="1"/>
          <p:nvPr/>
        </p:nvSpPr>
        <p:spPr>
          <a:xfrm>
            <a:off x="4526280" y="1783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9" name="Text 17"/>
          <p:cNvSpPr txBox="1"/>
          <p:nvPr/>
        </p:nvSpPr>
        <p:spPr>
          <a:xfrm>
            <a:off x="5029200" y="1837944"/>
            <a:ext cx="2743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DATA</a:t>
            </a:r>
            <a:endParaRPr lang="en-US" sz="1200" dirty="0"/>
          </a:p>
        </p:txBody>
      </p:sp>
      <p:sp>
        <p:nvSpPr>
          <p:cNvPr id="20" name="Shape 18"/>
          <p:cNvSpPr/>
          <p:nvPr/>
        </p:nvSpPr>
        <p:spPr>
          <a:xfrm>
            <a:off x="4526280" y="2377440"/>
            <a:ext cx="1645920" cy="1280160"/>
          </a:xfrm>
          <a:prstGeom prst="roundRect">
            <a:avLst>
              <a:gd name="adj" fmla="val 8571"/>
            </a:avLst>
          </a:prstGeom>
          <a:solidFill>
            <a:schemeClr val="bg2"/>
          </a:solidFill>
          <a:ln w="12700">
            <a:solidFill>
              <a:schemeClr val="bg2"/>
            </a:solidFill>
            <a:prstDash val="solid"/>
          </a:ln>
        </p:spPr>
      </p:sp>
      <p:sp>
        <p:nvSpPr>
          <p:cNvPr id="21" name="Text 19"/>
          <p:cNvSpPr txBox="1"/>
          <p:nvPr/>
        </p:nvSpPr>
        <p:spPr>
          <a:xfrm>
            <a:off x="4663440" y="2514600"/>
            <a:ext cx="1417320" cy="5943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20,631</a:t>
            </a:r>
            <a:endParaRPr lang="en-US" sz="2600" dirty="0"/>
          </a:p>
        </p:txBody>
      </p:sp>
      <p:sp>
        <p:nvSpPr>
          <p:cNvPr id="22" name="Text 20"/>
          <p:cNvSpPr txBox="1"/>
          <p:nvPr/>
        </p:nvSpPr>
        <p:spPr>
          <a:xfrm>
            <a:off x="4663440" y="3108960"/>
            <a:ext cx="1417320" cy="365760"/>
          </a:xfrm>
          <a:prstGeom prst="rect">
            <a:avLst/>
          </a:prstGeom>
          <a:noFill/>
          <a:ln/>
        </p:spPr>
        <p:txBody>
          <a:bodyPr wrap="square" lIns="0" tIns="0" rIns="0" bIns="0" rtlCol="0" anchor="ctr"/>
          <a:lstStyle/>
          <a:p>
            <a:pPr indent="0" marL="0">
              <a:buNone/>
            </a:pPr>
            <a:r>
              <a:rPr lang="en-US" sz="1300" dirty="0">
                <a:solidFill>
                  <a:schemeClr val="tx2"/>
                </a:solidFill>
              </a:rPr>
              <a:t>training rows</a:t>
            </a:r>
            <a:endParaRPr lang="en-US" sz="1300" dirty="0"/>
          </a:p>
        </p:txBody>
      </p:sp>
      <p:sp>
        <p:nvSpPr>
          <p:cNvPr id="23" name="Shape 21"/>
          <p:cNvSpPr/>
          <p:nvPr/>
        </p:nvSpPr>
        <p:spPr>
          <a:xfrm>
            <a:off x="6309360" y="2377440"/>
            <a:ext cx="1645920" cy="1280160"/>
          </a:xfrm>
          <a:prstGeom prst="roundRect">
            <a:avLst>
              <a:gd name="adj" fmla="val 8571"/>
            </a:avLst>
          </a:prstGeom>
          <a:solidFill>
            <a:schemeClr val="bg2"/>
          </a:solidFill>
          <a:ln w="12700">
            <a:solidFill>
              <a:schemeClr val="bg2"/>
            </a:solidFill>
            <a:prstDash val="solid"/>
          </a:ln>
        </p:spPr>
      </p:sp>
      <p:sp>
        <p:nvSpPr>
          <p:cNvPr id="24" name="Text 22"/>
          <p:cNvSpPr txBox="1"/>
          <p:nvPr/>
        </p:nvSpPr>
        <p:spPr>
          <a:xfrm>
            <a:off x="6446520" y="2514600"/>
            <a:ext cx="1417320" cy="5943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13,096</a:t>
            </a:r>
            <a:endParaRPr lang="en-US" sz="2600" dirty="0"/>
          </a:p>
        </p:txBody>
      </p:sp>
      <p:sp>
        <p:nvSpPr>
          <p:cNvPr id="25" name="Text 23"/>
          <p:cNvSpPr txBox="1"/>
          <p:nvPr/>
        </p:nvSpPr>
        <p:spPr>
          <a:xfrm>
            <a:off x="6446520" y="3108960"/>
            <a:ext cx="1417320" cy="365760"/>
          </a:xfrm>
          <a:prstGeom prst="rect">
            <a:avLst/>
          </a:prstGeom>
          <a:noFill/>
          <a:ln/>
        </p:spPr>
        <p:txBody>
          <a:bodyPr wrap="square" lIns="0" tIns="0" rIns="0" bIns="0" rtlCol="0" anchor="ctr"/>
          <a:lstStyle/>
          <a:p>
            <a:pPr indent="0" marL="0">
              <a:buNone/>
            </a:pPr>
            <a:r>
              <a:rPr lang="en-US" sz="1300" dirty="0">
                <a:solidFill>
                  <a:schemeClr val="tx2"/>
                </a:solidFill>
              </a:rPr>
              <a:t>test rows</a:t>
            </a:r>
            <a:endParaRPr lang="en-US" sz="1300" dirty="0"/>
          </a:p>
        </p:txBody>
      </p:sp>
      <p:sp>
        <p:nvSpPr>
          <p:cNvPr id="26" name="Shape 24"/>
          <p:cNvSpPr/>
          <p:nvPr/>
        </p:nvSpPr>
        <p:spPr>
          <a:xfrm>
            <a:off x="4526280" y="3794760"/>
            <a:ext cx="1645920" cy="1280160"/>
          </a:xfrm>
          <a:prstGeom prst="roundRect">
            <a:avLst>
              <a:gd name="adj" fmla="val 8571"/>
            </a:avLst>
          </a:prstGeom>
          <a:solidFill>
            <a:schemeClr val="bg2"/>
          </a:solidFill>
          <a:ln w="12700">
            <a:solidFill>
              <a:schemeClr val="bg2"/>
            </a:solidFill>
            <a:prstDash val="solid"/>
          </a:ln>
        </p:spPr>
      </p:sp>
      <p:sp>
        <p:nvSpPr>
          <p:cNvPr id="27" name="Text 25"/>
          <p:cNvSpPr txBox="1"/>
          <p:nvPr/>
        </p:nvSpPr>
        <p:spPr>
          <a:xfrm>
            <a:off x="4663440" y="3931920"/>
            <a:ext cx="1417320" cy="5943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21</a:t>
            </a:r>
            <a:endParaRPr lang="en-US" sz="2600" dirty="0"/>
          </a:p>
        </p:txBody>
      </p:sp>
      <p:sp>
        <p:nvSpPr>
          <p:cNvPr id="28" name="Text 26"/>
          <p:cNvSpPr txBox="1"/>
          <p:nvPr/>
        </p:nvSpPr>
        <p:spPr>
          <a:xfrm>
            <a:off x="4663440" y="4526280"/>
            <a:ext cx="1417320" cy="365760"/>
          </a:xfrm>
          <a:prstGeom prst="rect">
            <a:avLst/>
          </a:prstGeom>
          <a:noFill/>
          <a:ln/>
        </p:spPr>
        <p:txBody>
          <a:bodyPr wrap="square" lIns="0" tIns="0" rIns="0" bIns="0" rtlCol="0" anchor="ctr"/>
          <a:lstStyle/>
          <a:p>
            <a:pPr indent="0" marL="0">
              <a:buNone/>
            </a:pPr>
            <a:r>
              <a:rPr lang="en-US" sz="1300" dirty="0">
                <a:solidFill>
                  <a:schemeClr val="tx2"/>
                </a:solidFill>
              </a:rPr>
              <a:t>sensors per row</a:t>
            </a:r>
            <a:endParaRPr lang="en-US" sz="1300" dirty="0"/>
          </a:p>
        </p:txBody>
      </p:sp>
      <p:sp>
        <p:nvSpPr>
          <p:cNvPr id="29" name="Shape 27"/>
          <p:cNvSpPr/>
          <p:nvPr/>
        </p:nvSpPr>
        <p:spPr>
          <a:xfrm>
            <a:off x="6309360" y="3794760"/>
            <a:ext cx="1645920" cy="1280160"/>
          </a:xfrm>
          <a:prstGeom prst="roundRect">
            <a:avLst>
              <a:gd name="adj" fmla="val 8571"/>
            </a:avLst>
          </a:prstGeom>
          <a:solidFill>
            <a:schemeClr val="bg2"/>
          </a:solidFill>
          <a:ln w="12700">
            <a:solidFill>
              <a:schemeClr val="bg2"/>
            </a:solidFill>
            <a:prstDash val="solid"/>
          </a:ln>
        </p:spPr>
      </p:sp>
      <p:sp>
        <p:nvSpPr>
          <p:cNvPr id="30" name="Text 28"/>
          <p:cNvSpPr txBox="1"/>
          <p:nvPr/>
        </p:nvSpPr>
        <p:spPr>
          <a:xfrm>
            <a:off x="6446520" y="3931920"/>
            <a:ext cx="1417320" cy="5943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0</a:t>
            </a:r>
            <a:endParaRPr lang="en-US" sz="2600" dirty="0"/>
          </a:p>
        </p:txBody>
      </p:sp>
      <p:sp>
        <p:nvSpPr>
          <p:cNvPr id="31" name="Text 29"/>
          <p:cNvSpPr txBox="1"/>
          <p:nvPr/>
        </p:nvSpPr>
        <p:spPr>
          <a:xfrm>
            <a:off x="6446520" y="4526280"/>
            <a:ext cx="1417320" cy="365760"/>
          </a:xfrm>
          <a:prstGeom prst="rect">
            <a:avLst/>
          </a:prstGeom>
          <a:noFill/>
          <a:ln/>
        </p:spPr>
        <p:txBody>
          <a:bodyPr wrap="square" lIns="0" tIns="0" rIns="0" bIns="0" rtlCol="0" anchor="ctr"/>
          <a:lstStyle/>
          <a:p>
            <a:pPr indent="0" marL="0">
              <a:buNone/>
            </a:pPr>
            <a:r>
              <a:rPr lang="en-US" sz="1300" dirty="0">
                <a:solidFill>
                  <a:schemeClr val="tx2"/>
                </a:solidFill>
              </a:rPr>
              <a:t>missing values</a:t>
            </a:r>
            <a:endParaRPr lang="en-US" sz="1300" dirty="0"/>
          </a:p>
        </p:txBody>
      </p:sp>
      <p:sp>
        <p:nvSpPr>
          <p:cNvPr id="32" name="Text 30"/>
          <p:cNvSpPr txBox="1"/>
          <p:nvPr/>
        </p:nvSpPr>
        <p:spPr>
          <a:xfrm>
            <a:off x="4526280" y="5257800"/>
            <a:ext cx="3429000" cy="731520"/>
          </a:xfrm>
          <a:prstGeom prst="rect">
            <a:avLst/>
          </a:prstGeom>
          <a:noFill/>
          <a:ln/>
        </p:spPr>
        <p:txBody>
          <a:bodyPr wrap="square" lIns="0" tIns="0" rIns="0" bIns="0" rtlCol="0" anchor="t"/>
          <a:lstStyle/>
          <a:p>
            <a:pPr indent="0" marL="0">
              <a:buNone/>
            </a:pPr>
            <a:r>
              <a:rPr lang="en-US" sz="1300" dirty="0">
                <a:solidFill>
                  <a:schemeClr val="tx2"/>
                </a:solidFill>
              </a:rPr>
              <a:t>Each row = one engine at one cycle: id, cycle, 3 settings, 21 sensors.</a:t>
            </a:r>
            <a:endParaRPr lang="en-US" sz="1300" dirty="0"/>
          </a:p>
        </p:txBody>
      </p:sp>
      <p:graphicFrame>
        <p:nvGraphicFramePr>
          <p:cNvPr id="33" name="Chart 0" descr=""/>
          <p:cNvGraphicFramePr/>
          <p:nvPr/>
        </p:nvGraphicFramePr>
        <p:xfrm>
          <a:off x="8183880" y="1600200"/>
          <a:ext cx="3474720" cy="4160520"/>
        </p:xfrm>
        <a:graphic xmlns:a="http://schemas.openxmlformats.org/drawingml/2006/main">
          <a:graphicData uri="http://schemas.openxmlformats.org/drawingml/2006/chart">
            <c:chart xmlns:c="http://schemas.openxmlformats.org/drawingml/2006/chart" r:id="rId1"/>
          </a:graphicData>
        </a:graphic>
      </p:graphicFrame>
      <p:sp>
        <p:nvSpPr>
          <p:cNvPr id="34" name="Text 31"/>
          <p:cNvSpPr txBox="1"/>
          <p:nvPr/>
        </p:nvSpPr>
        <p:spPr>
          <a:xfrm>
            <a:off x="8183880" y="5806440"/>
            <a:ext cx="3474720" cy="274320"/>
          </a:xfrm>
          <a:prstGeom prst="rect">
            <a:avLst/>
          </a:prstGeom>
          <a:noFill/>
          <a:ln/>
        </p:spPr>
        <p:txBody>
          <a:bodyPr wrap="square" lIns="0" tIns="0" rIns="0" bIns="0" rtlCol="0" anchor="ctr"/>
          <a:lstStyle/>
          <a:p>
            <a:pPr indent="0" marL="0">
              <a:buNone/>
            </a:pPr>
            <a:r>
              <a:rPr lang="en-US" sz="1100" b="1" dirty="0">
                <a:solidFill>
                  <a:schemeClr val="accent1"/>
                </a:solidFill>
              </a:rPr>
              <a:t>Fig. </a:t>
            </a:r>
            <a:pPr indent="0" marL="0">
              <a:buNone/>
            </a:pPr>
            <a:r>
              <a:rPr lang="en-US" sz="1100" i="1" dirty="0">
                <a:solidFill>
                  <a:schemeClr val="tx2"/>
                </a:solidFill>
              </a:rPr>
              <a:t>100 training engines fail after 128-362 cycles.</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Which sensors show engine wear?</a:t>
            </a:r>
            <a:endParaRPr lang="en-US" sz="3200" dirty="0"/>
          </a:p>
        </p:txBody>
      </p:sp>
      <p:sp>
        <p:nvSpPr>
          <p:cNvPr id="3" name="Text 0"/>
          <p:cNvSpPr/>
          <p:nvPr>
            <p:ph idx="101" type="body" hasCustomPrompt="1"/>
          </p:nvPr>
        </p:nvSpPr>
        <p:spPr>
          <a:xfrm>
            <a:off x="548640" y="987552"/>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Correlation of each useful sensor with RUL over all 20,631 training rows</a:t>
            </a:r>
            <a:endParaRPr lang="en-US" sz="1500" dirty="0"/>
          </a:p>
        </p:txBody>
      </p:sp>
      <p:graphicFrame>
        <p:nvGraphicFramePr>
          <p:cNvPr id="4" name="Chart 0" descr=""/>
          <p:cNvGraphicFramePr/>
          <p:nvPr/>
        </p:nvGraphicFramePr>
        <p:xfrm>
          <a:off x="548640" y="1554480"/>
          <a:ext cx="6766560" cy="4389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989320"/>
            <a:ext cx="6766560" cy="274320"/>
          </a:xfrm>
          <a:prstGeom prst="rect">
            <a:avLst/>
          </a:prstGeom>
          <a:noFill/>
          <a:ln/>
        </p:spPr>
        <p:txBody>
          <a:bodyPr wrap="square" lIns="0" tIns="0" rIns="0" bIns="0" rtlCol="0" anchor="ctr"/>
          <a:lstStyle/>
          <a:p>
            <a:pPr indent="0" marL="0">
              <a:buNone/>
            </a:pPr>
            <a:r>
              <a:rPr lang="en-US" sz="1100" b="1" dirty="0">
                <a:solidFill>
                  <a:schemeClr val="accent1"/>
                </a:solidFill>
              </a:rPr>
              <a:t>Fig. </a:t>
            </a:r>
            <a:pPr indent="0" marL="0">
              <a:buNone/>
            </a:pPr>
            <a:r>
              <a:rPr lang="en-US" sz="1100" i="1" dirty="0">
                <a:solidFill>
                  <a:schemeClr val="tx2"/>
                </a:solidFill>
              </a:rPr>
              <a:t>Negative = value rises as failure nears; positive = value falls.</a:t>
            </a:r>
            <a:endParaRPr lang="en-US" sz="1100" dirty="0"/>
          </a:p>
        </p:txBody>
      </p:sp>
      <p:sp>
        <p:nvSpPr>
          <p:cNvPr id="6" name="Shape 3"/>
          <p:cNvSpPr/>
          <p:nvPr/>
        </p:nvSpPr>
        <p:spPr>
          <a:xfrm>
            <a:off x="7635240" y="1600200"/>
            <a:ext cx="4023360" cy="3246120"/>
          </a:xfrm>
          <a:prstGeom prst="roundRect">
            <a:avLst>
              <a:gd name="adj" fmla="val 3380"/>
            </a:avLst>
          </a:prstGeom>
          <a:solidFill>
            <a:schemeClr val="bg2"/>
          </a:solidFill>
          <a:ln w="12700">
            <a:solidFill>
              <a:schemeClr val="bg2"/>
            </a:solidFill>
            <a:prstDash val="solid"/>
          </a:ln>
        </p:spPr>
      </p:sp>
      <p:sp>
        <p:nvSpPr>
          <p:cNvPr id="7" name="Text 4"/>
          <p:cNvSpPr txBox="1"/>
          <p:nvPr/>
        </p:nvSpPr>
        <p:spPr>
          <a:xfrm>
            <a:off x="7909560" y="1783080"/>
            <a:ext cx="347472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WHAT WE FOUND</a:t>
            </a:r>
            <a:endParaRPr lang="en-US" sz="1200" dirty="0"/>
          </a:p>
        </p:txBody>
      </p:sp>
      <p:sp>
        <p:nvSpPr>
          <p:cNvPr id="8" name="Text 5"/>
          <p:cNvSpPr txBox="1"/>
          <p:nvPr/>
        </p:nvSpPr>
        <p:spPr>
          <a:xfrm>
            <a:off x="7909560" y="2148840"/>
            <a:ext cx="352044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7 sensors never change (s1, s5, s6, s10, s16, s18, s19): removed</a:t>
            </a:r>
            <a:endParaRPr lang="en-US" sz="1400" dirty="0"/>
          </a:p>
          <a:p>
            <a:pPr marL="342900" indent="-342900">
              <a:spcAft>
                <a:spcPts val="600"/>
              </a:spcAft>
              <a:buSzPct val="100000"/>
              <a:buChar char="•"/>
            </a:pPr>
            <a:r>
              <a:rPr lang="en-US" sz="1400" dirty="0">
                <a:solidFill>
                  <a:schemeClr val="tx1"/>
                </a:solidFill>
              </a:rPr>
              <a:t>One operating condition: no normalisation needed</a:t>
            </a:r>
            <a:endParaRPr lang="en-US" sz="1400" dirty="0"/>
          </a:p>
          <a:p>
            <a:pPr marL="342900" indent="-342900">
              <a:spcAft>
                <a:spcPts val="600"/>
              </a:spcAft>
              <a:buSzPct val="100000"/>
              <a:buChar char="•"/>
            </a:pPr>
            <a:r>
              <a:rPr lang="en-US" sz="1400" dirty="0">
                <a:solidFill>
                  <a:schemeClr val="tx1"/>
                </a:solidFill>
              </a:rPr>
              <a:t>Strongest signals: s11, s4, s12, s7 (|r| ≈ 0.7)</a:t>
            </a:r>
            <a:endParaRPr lang="en-US" sz="1400" dirty="0"/>
          </a:p>
          <a:p>
            <a:pPr marL="342900" indent="-342900">
              <a:spcAft>
                <a:spcPts val="600"/>
              </a:spcAft>
              <a:buSzPct val="100000"/>
              <a:buChar char="•"/>
            </a:pPr>
            <a:r>
              <a:rPr lang="en-US" sz="1400" dirty="0">
                <a:solidFill>
                  <a:schemeClr val="tx1"/>
                </a:solidFill>
              </a:rPr>
              <a:t>s9 and s14 are weak: each engine has its own offset</a:t>
            </a:r>
            <a:endParaRPr lang="en-US" sz="1400" dirty="0"/>
          </a:p>
        </p:txBody>
      </p:sp>
      <p:sp>
        <p:nvSpPr>
          <p:cNvPr id="9" name="Shape 6"/>
          <p:cNvSpPr/>
          <p:nvPr/>
        </p:nvSpPr>
        <p:spPr>
          <a:xfrm>
            <a:off x="7635240" y="4983480"/>
            <a:ext cx="4023360" cy="1143000"/>
          </a:xfrm>
          <a:prstGeom prst="roundRect">
            <a:avLst>
              <a:gd name="adj" fmla="val 9600"/>
            </a:avLst>
          </a:prstGeom>
          <a:solidFill>
            <a:schemeClr val="tx1"/>
          </a:solidFill>
          <a:ln w="12700">
            <a:solidFill>
              <a:schemeClr val="tx1"/>
            </a:solidFill>
            <a:prstDash val="solid"/>
          </a:ln>
        </p:spPr>
      </p:sp>
      <p:sp>
        <p:nvSpPr>
          <p:cNvPr id="10" name="Text 7"/>
          <p:cNvSpPr txBox="1"/>
          <p:nvPr/>
        </p:nvSpPr>
        <p:spPr>
          <a:xfrm>
            <a:off x="7863840" y="4983480"/>
            <a:ext cx="3611880" cy="1143000"/>
          </a:xfrm>
          <a:prstGeom prst="rect">
            <a:avLst/>
          </a:prstGeom>
          <a:noFill/>
          <a:ln/>
        </p:spPr>
        <p:txBody>
          <a:bodyPr wrap="square" lIns="0" tIns="0" rIns="0" bIns="0" rtlCol="0" anchor="ctr"/>
          <a:lstStyle/>
          <a:p>
            <a:pPr indent="0" marL="0">
              <a:buNone/>
            </a:pPr>
            <a:r>
              <a:rPr lang="en-US" sz="1400" dirty="0">
                <a:solidFill>
                  <a:schemeClr val="bg1"/>
                </a:solidFill>
              </a:rPr>
              <a:t>Sensors are noisy and flat while healthy. Trends over several cycles matter more than a single reading.</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Turning noisy readings into wear signals</a:t>
            </a:r>
            <a:endParaRPr lang="en-US" sz="3200" dirty="0"/>
          </a:p>
        </p:txBody>
      </p:sp>
      <p:sp>
        <p:nvSpPr>
          <p:cNvPr id="3" name="Text 0"/>
          <p:cNvSpPr/>
          <p:nvPr>
            <p:ph idx="101" type="body" hasCustomPrompt="1"/>
          </p:nvPr>
        </p:nvSpPr>
        <p:spPr>
          <a:xfrm>
            <a:off x="548640" y="987552"/>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Four features per sensor from the last 10 cycles of the same engine (past and current cycles only)</a:t>
            </a:r>
            <a:endParaRPr lang="en-US" sz="1500" dirty="0"/>
          </a:p>
        </p:txBody>
      </p:sp>
      <p:graphicFrame>
        <p:nvGraphicFramePr>
          <p:cNvPr id="4" name="Chart 0" descr=""/>
          <p:cNvGraphicFramePr/>
          <p:nvPr/>
        </p:nvGraphicFramePr>
        <p:xfrm>
          <a:off x="548640" y="1554480"/>
          <a:ext cx="6035040" cy="40690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669280"/>
            <a:ext cx="6035040" cy="274320"/>
          </a:xfrm>
          <a:prstGeom prst="rect">
            <a:avLst/>
          </a:prstGeom>
          <a:noFill/>
          <a:ln/>
        </p:spPr>
        <p:txBody>
          <a:bodyPr wrap="square" lIns="0" tIns="0" rIns="0" bIns="0" rtlCol="0" anchor="ctr"/>
          <a:lstStyle/>
          <a:p>
            <a:pPr indent="0" marL="0">
              <a:buNone/>
            </a:pPr>
            <a:r>
              <a:rPr lang="en-US" sz="1100" b="1" dirty="0">
                <a:solidFill>
                  <a:schemeClr val="accent1"/>
                </a:solidFill>
              </a:rPr>
              <a:t>Fig. </a:t>
            </a:r>
            <a:pPr indent="0" marL="0">
              <a:buNone/>
            </a:pPr>
            <a:r>
              <a:rPr lang="en-US" sz="1100" i="1" dirty="0">
                <a:solidFill>
                  <a:schemeClr val="tx2"/>
                </a:solidFill>
              </a:rPr>
              <a:t>The rolling mean removes noise and reveals the upward drift.</a:t>
            </a:r>
            <a:endParaRPr lang="en-US" sz="1100" dirty="0"/>
          </a:p>
        </p:txBody>
      </p:sp>
      <p:sp>
        <p:nvSpPr>
          <p:cNvPr id="6" name="Shape 3"/>
          <p:cNvSpPr/>
          <p:nvPr/>
        </p:nvSpPr>
        <p:spPr>
          <a:xfrm>
            <a:off x="6858000" y="1600200"/>
            <a:ext cx="2331720" cy="1645920"/>
          </a:xfrm>
          <a:prstGeom prst="roundRect">
            <a:avLst>
              <a:gd name="adj" fmla="val 6667"/>
            </a:avLst>
          </a:prstGeom>
          <a:solidFill>
            <a:schemeClr val="bg2"/>
          </a:solidFill>
          <a:ln w="12700">
            <a:solidFill>
              <a:schemeClr val="bg2"/>
            </a:solidFill>
            <a:prstDash val="solid"/>
          </a:ln>
        </p:spPr>
      </p:sp>
      <p:sp>
        <p:nvSpPr>
          <p:cNvPr id="7" name="Shape 4"/>
          <p:cNvSpPr/>
          <p:nvPr/>
        </p:nvSpPr>
        <p:spPr>
          <a:xfrm>
            <a:off x="7040880" y="1783080"/>
            <a:ext cx="347472" cy="347472"/>
          </a:xfrm>
          <a:prstGeom prst="ellipse">
            <a:avLst/>
          </a:prstGeom>
          <a:solidFill>
            <a:schemeClr val="accent1"/>
          </a:solidFill>
          <a:ln w="12700">
            <a:solidFill>
              <a:schemeClr val="accent1"/>
            </a:solidFill>
            <a:prstDash val="solid"/>
          </a:ln>
        </p:spPr>
      </p:sp>
      <p:sp>
        <p:nvSpPr>
          <p:cNvPr id="8" name="Text 5"/>
          <p:cNvSpPr txBox="1"/>
          <p:nvPr/>
        </p:nvSpPr>
        <p:spPr>
          <a:xfrm>
            <a:off x="7040880" y="17830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7498080" y="1783080"/>
            <a:ext cx="1600200" cy="347472"/>
          </a:xfrm>
          <a:prstGeom prst="rect">
            <a:avLst/>
          </a:prstGeom>
          <a:noFill/>
          <a:ln/>
        </p:spPr>
        <p:txBody>
          <a:bodyPr wrap="square" lIns="0" tIns="0" rIns="0" bIns="0" rtlCol="0" anchor="ctr"/>
          <a:lstStyle/>
          <a:p>
            <a:pPr indent="0" marL="0">
              <a:buNone/>
            </a:pPr>
            <a:r>
              <a:rPr lang="en-US" sz="1400" b="1" dirty="0">
                <a:solidFill>
                  <a:schemeClr val="tx1"/>
                </a:solidFill>
              </a:rPr>
              <a:t>Rolling mean</a:t>
            </a:r>
            <a:endParaRPr lang="en-US" sz="1400" dirty="0"/>
          </a:p>
        </p:txBody>
      </p:sp>
      <p:sp>
        <p:nvSpPr>
          <p:cNvPr id="10" name="Text 7"/>
          <p:cNvSpPr txBox="1"/>
          <p:nvPr/>
        </p:nvSpPr>
        <p:spPr>
          <a:xfrm>
            <a:off x="7040880" y="2240280"/>
            <a:ext cx="2011680" cy="868680"/>
          </a:xfrm>
          <a:prstGeom prst="rect">
            <a:avLst/>
          </a:prstGeom>
          <a:noFill/>
          <a:ln/>
        </p:spPr>
        <p:txBody>
          <a:bodyPr wrap="square" lIns="0" tIns="0" rIns="0" bIns="0" rtlCol="0" anchor="t"/>
          <a:lstStyle/>
          <a:p>
            <a:pPr indent="0" marL="0">
              <a:buNone/>
            </a:pPr>
            <a:r>
              <a:rPr lang="en-US" sz="1300" dirty="0">
                <a:solidFill>
                  <a:schemeClr val="tx2"/>
                </a:solidFill>
              </a:rPr>
              <a:t>Average of last 10 readings: removes noise</a:t>
            </a:r>
            <a:endParaRPr lang="en-US" sz="1300" dirty="0"/>
          </a:p>
        </p:txBody>
      </p:sp>
      <p:sp>
        <p:nvSpPr>
          <p:cNvPr id="11" name="Shape 8"/>
          <p:cNvSpPr/>
          <p:nvPr/>
        </p:nvSpPr>
        <p:spPr>
          <a:xfrm>
            <a:off x="9299448" y="1600200"/>
            <a:ext cx="2331720" cy="1645920"/>
          </a:xfrm>
          <a:prstGeom prst="roundRect">
            <a:avLst>
              <a:gd name="adj" fmla="val 6667"/>
            </a:avLst>
          </a:prstGeom>
          <a:solidFill>
            <a:schemeClr val="bg2"/>
          </a:solidFill>
          <a:ln w="12700">
            <a:solidFill>
              <a:schemeClr val="bg2"/>
            </a:solidFill>
            <a:prstDash val="solid"/>
          </a:ln>
        </p:spPr>
      </p:sp>
      <p:sp>
        <p:nvSpPr>
          <p:cNvPr id="12" name="Shape 9"/>
          <p:cNvSpPr/>
          <p:nvPr/>
        </p:nvSpPr>
        <p:spPr>
          <a:xfrm>
            <a:off x="9482328" y="1783080"/>
            <a:ext cx="347472" cy="347472"/>
          </a:xfrm>
          <a:prstGeom prst="ellipse">
            <a:avLst/>
          </a:prstGeom>
          <a:solidFill>
            <a:schemeClr val="accent1"/>
          </a:solidFill>
          <a:ln w="12700">
            <a:solidFill>
              <a:schemeClr val="accent1"/>
            </a:solidFill>
            <a:prstDash val="solid"/>
          </a:ln>
        </p:spPr>
      </p:sp>
      <p:sp>
        <p:nvSpPr>
          <p:cNvPr id="13" name="Text 10"/>
          <p:cNvSpPr txBox="1"/>
          <p:nvPr/>
        </p:nvSpPr>
        <p:spPr>
          <a:xfrm>
            <a:off x="9482328" y="17830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9939528" y="1783080"/>
            <a:ext cx="1600200" cy="347472"/>
          </a:xfrm>
          <a:prstGeom prst="rect">
            <a:avLst/>
          </a:prstGeom>
          <a:noFill/>
          <a:ln/>
        </p:spPr>
        <p:txBody>
          <a:bodyPr wrap="square" lIns="0" tIns="0" rIns="0" bIns="0" rtlCol="0" anchor="ctr"/>
          <a:lstStyle/>
          <a:p>
            <a:pPr indent="0" marL="0">
              <a:buNone/>
            </a:pPr>
            <a:r>
              <a:rPr lang="en-US" sz="1400" b="1" dirty="0">
                <a:solidFill>
                  <a:schemeClr val="tx1"/>
                </a:solidFill>
              </a:rPr>
              <a:t>Rolling std</a:t>
            </a:r>
            <a:endParaRPr lang="en-US" sz="1400" dirty="0"/>
          </a:p>
        </p:txBody>
      </p:sp>
      <p:sp>
        <p:nvSpPr>
          <p:cNvPr id="15" name="Text 12"/>
          <p:cNvSpPr txBox="1"/>
          <p:nvPr/>
        </p:nvSpPr>
        <p:spPr>
          <a:xfrm>
            <a:off x="9482328" y="2240280"/>
            <a:ext cx="2011680" cy="868680"/>
          </a:xfrm>
          <a:prstGeom prst="rect">
            <a:avLst/>
          </a:prstGeom>
          <a:noFill/>
          <a:ln/>
        </p:spPr>
        <p:txBody>
          <a:bodyPr wrap="square" lIns="0" tIns="0" rIns="0" bIns="0" rtlCol="0" anchor="t"/>
          <a:lstStyle/>
          <a:p>
            <a:pPr indent="0" marL="0">
              <a:buNone/>
            </a:pPr>
            <a:r>
              <a:rPr lang="en-US" sz="1300" dirty="0">
                <a:solidFill>
                  <a:schemeClr val="tx2"/>
                </a:solidFill>
              </a:rPr>
              <a:t>How much the sensor jumps: instability</a:t>
            </a:r>
            <a:endParaRPr lang="en-US" sz="1300" dirty="0"/>
          </a:p>
        </p:txBody>
      </p:sp>
      <p:sp>
        <p:nvSpPr>
          <p:cNvPr id="16" name="Shape 13"/>
          <p:cNvSpPr/>
          <p:nvPr/>
        </p:nvSpPr>
        <p:spPr>
          <a:xfrm>
            <a:off x="6858000" y="3383280"/>
            <a:ext cx="2331720" cy="1645920"/>
          </a:xfrm>
          <a:prstGeom prst="roundRect">
            <a:avLst>
              <a:gd name="adj" fmla="val 6667"/>
            </a:avLst>
          </a:prstGeom>
          <a:solidFill>
            <a:schemeClr val="bg2"/>
          </a:solidFill>
          <a:ln w="12700">
            <a:solidFill>
              <a:schemeClr val="bg2"/>
            </a:solidFill>
            <a:prstDash val="solid"/>
          </a:ln>
        </p:spPr>
      </p:sp>
      <p:sp>
        <p:nvSpPr>
          <p:cNvPr id="17" name="Shape 14"/>
          <p:cNvSpPr/>
          <p:nvPr/>
        </p:nvSpPr>
        <p:spPr>
          <a:xfrm>
            <a:off x="7040880" y="3566160"/>
            <a:ext cx="347472" cy="347472"/>
          </a:xfrm>
          <a:prstGeom prst="ellipse">
            <a:avLst/>
          </a:prstGeom>
          <a:solidFill>
            <a:schemeClr val="accent1"/>
          </a:solidFill>
          <a:ln w="12700">
            <a:solidFill>
              <a:schemeClr val="accent1"/>
            </a:solidFill>
            <a:prstDash val="solid"/>
          </a:ln>
        </p:spPr>
      </p:sp>
      <p:sp>
        <p:nvSpPr>
          <p:cNvPr id="18" name="Text 15"/>
          <p:cNvSpPr txBox="1"/>
          <p:nvPr/>
        </p:nvSpPr>
        <p:spPr>
          <a:xfrm>
            <a:off x="7040880" y="35661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7498080" y="3566160"/>
            <a:ext cx="1600200" cy="347472"/>
          </a:xfrm>
          <a:prstGeom prst="rect">
            <a:avLst/>
          </a:prstGeom>
          <a:noFill/>
          <a:ln/>
        </p:spPr>
        <p:txBody>
          <a:bodyPr wrap="square" lIns="0" tIns="0" rIns="0" bIns="0" rtlCol="0" anchor="ctr"/>
          <a:lstStyle/>
          <a:p>
            <a:pPr indent="0" marL="0">
              <a:buNone/>
            </a:pPr>
            <a:r>
              <a:rPr lang="en-US" sz="1400" b="1" dirty="0">
                <a:solidFill>
                  <a:schemeClr val="tx1"/>
                </a:solidFill>
              </a:rPr>
              <a:t>Rolling slope</a:t>
            </a:r>
            <a:endParaRPr lang="en-US" sz="1400" dirty="0"/>
          </a:p>
        </p:txBody>
      </p:sp>
      <p:sp>
        <p:nvSpPr>
          <p:cNvPr id="20" name="Text 17"/>
          <p:cNvSpPr txBox="1"/>
          <p:nvPr/>
        </p:nvSpPr>
        <p:spPr>
          <a:xfrm>
            <a:off x="7040880" y="4023360"/>
            <a:ext cx="2011680" cy="868680"/>
          </a:xfrm>
          <a:prstGeom prst="rect">
            <a:avLst/>
          </a:prstGeom>
          <a:noFill/>
          <a:ln/>
        </p:spPr>
        <p:txBody>
          <a:bodyPr wrap="square" lIns="0" tIns="0" rIns="0" bIns="0" rtlCol="0" anchor="t"/>
          <a:lstStyle/>
          <a:p>
            <a:pPr indent="0" marL="0">
              <a:buNone/>
            </a:pPr>
            <a:r>
              <a:rPr lang="en-US" sz="1300" dirty="0">
                <a:solidFill>
                  <a:schemeClr val="tx2"/>
                </a:solidFill>
              </a:rPr>
              <a:t>Best-fit line slope: direction and speed of change</a:t>
            </a:r>
            <a:endParaRPr lang="en-US" sz="1300" dirty="0"/>
          </a:p>
        </p:txBody>
      </p:sp>
      <p:sp>
        <p:nvSpPr>
          <p:cNvPr id="21" name="Shape 18"/>
          <p:cNvSpPr/>
          <p:nvPr/>
        </p:nvSpPr>
        <p:spPr>
          <a:xfrm>
            <a:off x="9299448" y="3383280"/>
            <a:ext cx="2331720" cy="1645920"/>
          </a:xfrm>
          <a:prstGeom prst="roundRect">
            <a:avLst>
              <a:gd name="adj" fmla="val 6667"/>
            </a:avLst>
          </a:prstGeom>
          <a:solidFill>
            <a:schemeClr val="bg2"/>
          </a:solidFill>
          <a:ln w="12700">
            <a:solidFill>
              <a:schemeClr val="bg2"/>
            </a:solidFill>
            <a:prstDash val="solid"/>
          </a:ln>
        </p:spPr>
      </p:sp>
      <p:sp>
        <p:nvSpPr>
          <p:cNvPr id="22" name="Shape 19"/>
          <p:cNvSpPr/>
          <p:nvPr/>
        </p:nvSpPr>
        <p:spPr>
          <a:xfrm>
            <a:off x="9482328" y="3566160"/>
            <a:ext cx="347472" cy="347472"/>
          </a:xfrm>
          <a:prstGeom prst="ellipse">
            <a:avLst/>
          </a:prstGeom>
          <a:solidFill>
            <a:schemeClr val="accent1"/>
          </a:solidFill>
          <a:ln w="12700">
            <a:solidFill>
              <a:schemeClr val="accent1"/>
            </a:solidFill>
            <a:prstDash val="solid"/>
          </a:ln>
        </p:spPr>
      </p:sp>
      <p:sp>
        <p:nvSpPr>
          <p:cNvPr id="23" name="Text 20"/>
          <p:cNvSpPr txBox="1"/>
          <p:nvPr/>
        </p:nvSpPr>
        <p:spPr>
          <a:xfrm>
            <a:off x="9482328" y="35661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9939528" y="3566160"/>
            <a:ext cx="1600200" cy="347472"/>
          </a:xfrm>
          <a:prstGeom prst="rect">
            <a:avLst/>
          </a:prstGeom>
          <a:noFill/>
          <a:ln/>
        </p:spPr>
        <p:txBody>
          <a:bodyPr wrap="square" lIns="0" tIns="0" rIns="0" bIns="0" rtlCol="0" anchor="ctr"/>
          <a:lstStyle/>
          <a:p>
            <a:pPr indent="0" marL="0">
              <a:buNone/>
            </a:pPr>
            <a:r>
              <a:rPr lang="en-US" sz="1400" b="1" dirty="0">
                <a:solidFill>
                  <a:schemeClr val="tx1"/>
                </a:solidFill>
              </a:rPr>
              <a:t>Drift from healthy</a:t>
            </a:r>
            <a:endParaRPr lang="en-US" sz="1400" dirty="0"/>
          </a:p>
        </p:txBody>
      </p:sp>
      <p:sp>
        <p:nvSpPr>
          <p:cNvPr id="25" name="Text 22"/>
          <p:cNvSpPr txBox="1"/>
          <p:nvPr/>
        </p:nvSpPr>
        <p:spPr>
          <a:xfrm>
            <a:off x="9482328" y="4023360"/>
            <a:ext cx="2011680" cy="868680"/>
          </a:xfrm>
          <a:prstGeom prst="rect">
            <a:avLst/>
          </a:prstGeom>
          <a:noFill/>
          <a:ln/>
        </p:spPr>
        <p:txBody>
          <a:bodyPr wrap="square" lIns="0" tIns="0" rIns="0" bIns="0" rtlCol="0" anchor="t"/>
          <a:lstStyle/>
          <a:p>
            <a:pPr indent="0" marL="0">
              <a:buNone/>
            </a:pPr>
            <a:r>
              <a:rPr lang="en-US" sz="1300" dirty="0">
                <a:solidFill>
                  <a:schemeClr val="tx2"/>
                </a:solidFill>
              </a:rPr>
              <a:t>Mean minus the engine's own first-10-cycle level</a:t>
            </a:r>
            <a:endParaRPr lang="en-US" sz="1300" dirty="0"/>
          </a:p>
        </p:txBody>
      </p:sp>
      <p:sp>
        <p:nvSpPr>
          <p:cNvPr id="26" name="Shape 23"/>
          <p:cNvSpPr/>
          <p:nvPr/>
        </p:nvSpPr>
        <p:spPr>
          <a:xfrm>
            <a:off x="6858000" y="5212080"/>
            <a:ext cx="4773168" cy="868680"/>
          </a:xfrm>
          <a:prstGeom prst="roundRect">
            <a:avLst>
              <a:gd name="adj" fmla="val 12632"/>
            </a:avLst>
          </a:prstGeom>
          <a:solidFill>
            <a:schemeClr val="tx1"/>
          </a:solidFill>
          <a:ln w="12700">
            <a:solidFill>
              <a:schemeClr val="tx1"/>
            </a:solidFill>
            <a:prstDash val="solid"/>
          </a:ln>
        </p:spPr>
      </p:sp>
      <p:sp>
        <p:nvSpPr>
          <p:cNvPr id="27" name="Text 24"/>
          <p:cNvSpPr txBox="1"/>
          <p:nvPr/>
        </p:nvSpPr>
        <p:spPr>
          <a:xfrm>
            <a:off x="7040880" y="5212080"/>
            <a:ext cx="4434840" cy="868680"/>
          </a:xfrm>
          <a:prstGeom prst="rect">
            <a:avLst/>
          </a:prstGeom>
          <a:noFill/>
          <a:ln/>
        </p:spPr>
        <p:txBody>
          <a:bodyPr wrap="square" lIns="0" tIns="0" rIns="0" bIns="0" rtlCol="0" anchor="ctr"/>
          <a:lstStyle/>
          <a:p>
            <a:pPr indent="0" marL="0">
              <a:buNone/>
            </a:pPr>
            <a:r>
              <a:rPr lang="en-US" sz="1300" b="1" dirty="0">
                <a:solidFill>
                  <a:schemeClr val="accent1"/>
                </a:solidFill>
              </a:rPr>
              <a:t>71 features</a:t>
            </a:r>
            <a:pPr indent="0" marL="0">
              <a:buNone/>
            </a:pPr>
            <a:r>
              <a:rPr lang="en-US" sz="1300" dirty="0">
                <a:solidFill>
                  <a:schemeClr val="bg1"/>
                </a:solidFill>
              </a:rPr>
              <a:t> = cycle + 14 raw sensors + 14 × 4 engineered. A truncation test proves no future data is used.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Fair comparison: same features, same engine split</a:t>
            </a:r>
            <a:endParaRPr lang="en-US" sz="3200" dirty="0"/>
          </a:p>
        </p:txBody>
      </p:sp>
      <p:sp>
        <p:nvSpPr>
          <p:cNvPr id="3" name="Text 0"/>
          <p:cNvSpPr/>
          <p:nvPr>
            <p:ph idx="101" type="body" hasCustomPrompt="1"/>
          </p:nvPr>
        </p:nvSpPr>
        <p:spPr>
          <a:xfrm>
            <a:off x="548640" y="987552"/>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Every model is tuned and judged on engines it has never seen</a:t>
            </a:r>
            <a:endParaRPr lang="en-US" sz="1500" dirty="0"/>
          </a:p>
        </p:txBody>
      </p:sp>
      <p:sp>
        <p:nvSpPr>
          <p:cNvPr id="4" name="Shape 2"/>
          <p:cNvSpPr/>
          <p:nvPr/>
        </p:nvSpPr>
        <p:spPr>
          <a:xfrm>
            <a:off x="548640" y="1554480"/>
            <a:ext cx="1719072" cy="685800"/>
          </a:xfrm>
          <a:prstGeom prst="roundRect">
            <a:avLst>
              <a:gd name="adj" fmla="val 16000"/>
            </a:avLst>
          </a:prstGeom>
          <a:solidFill>
            <a:schemeClr val="bg2"/>
          </a:solidFill>
          <a:ln w="12700">
            <a:solidFill>
              <a:schemeClr val="bg2"/>
            </a:solidFill>
            <a:prstDash val="solid"/>
          </a:ln>
        </p:spPr>
      </p:sp>
      <p:sp>
        <p:nvSpPr>
          <p:cNvPr id="5" name="Shape 3"/>
          <p:cNvSpPr/>
          <p:nvPr/>
        </p:nvSpPr>
        <p:spPr>
          <a:xfrm>
            <a:off x="685800" y="1705356"/>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685800" y="17053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143000" y="1554480"/>
            <a:ext cx="1078992" cy="685800"/>
          </a:xfrm>
          <a:prstGeom prst="rect">
            <a:avLst/>
          </a:prstGeom>
          <a:noFill/>
          <a:ln/>
        </p:spPr>
        <p:txBody>
          <a:bodyPr wrap="square" lIns="0" tIns="0" rIns="0" bIns="0" rtlCol="0" anchor="ctr"/>
          <a:lstStyle/>
          <a:p>
            <a:pPr indent="0" marL="0">
              <a:buNone/>
            </a:pPr>
            <a:r>
              <a:rPr lang="en-US" sz="1300" b="1" dirty="0">
                <a:solidFill>
                  <a:schemeClr val="tx1"/>
                </a:solidFill>
              </a:rPr>
              <a:t>Load &amp; check</a:t>
            </a:r>
            <a:endParaRPr lang="en-US" sz="1300" dirty="0"/>
          </a:p>
        </p:txBody>
      </p:sp>
      <p:sp>
        <p:nvSpPr>
          <p:cNvPr id="8" name="Shape 6"/>
          <p:cNvSpPr/>
          <p:nvPr/>
        </p:nvSpPr>
        <p:spPr>
          <a:xfrm>
            <a:off x="2404872" y="1554480"/>
            <a:ext cx="1719072" cy="685800"/>
          </a:xfrm>
          <a:prstGeom prst="roundRect">
            <a:avLst>
              <a:gd name="adj" fmla="val 16000"/>
            </a:avLst>
          </a:prstGeom>
          <a:solidFill>
            <a:schemeClr val="bg2"/>
          </a:solidFill>
          <a:ln w="12700">
            <a:solidFill>
              <a:schemeClr val="bg2"/>
            </a:solidFill>
            <a:prstDash val="solid"/>
          </a:ln>
        </p:spPr>
      </p:sp>
      <p:sp>
        <p:nvSpPr>
          <p:cNvPr id="9" name="Shape 7"/>
          <p:cNvSpPr/>
          <p:nvPr/>
        </p:nvSpPr>
        <p:spPr>
          <a:xfrm>
            <a:off x="2542032" y="1705356"/>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2542032" y="17053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2999232" y="1554480"/>
            <a:ext cx="1078992" cy="685800"/>
          </a:xfrm>
          <a:prstGeom prst="rect">
            <a:avLst/>
          </a:prstGeom>
          <a:noFill/>
          <a:ln/>
        </p:spPr>
        <p:txBody>
          <a:bodyPr wrap="square" lIns="0" tIns="0" rIns="0" bIns="0" rtlCol="0" anchor="ctr"/>
          <a:lstStyle/>
          <a:p>
            <a:pPr indent="0" marL="0">
              <a:buNone/>
            </a:pPr>
            <a:r>
              <a:rPr lang="en-US" sz="1300" b="1" dirty="0">
                <a:solidFill>
                  <a:schemeClr val="tx1"/>
                </a:solidFill>
              </a:rPr>
              <a:t>Cap RUL at 125</a:t>
            </a:r>
            <a:endParaRPr lang="en-US" sz="1300" dirty="0"/>
          </a:p>
        </p:txBody>
      </p:sp>
      <p:sp>
        <p:nvSpPr>
          <p:cNvPr id="12" name="Shape 10"/>
          <p:cNvSpPr/>
          <p:nvPr/>
        </p:nvSpPr>
        <p:spPr>
          <a:xfrm>
            <a:off x="4261104" y="1554480"/>
            <a:ext cx="1719072" cy="685800"/>
          </a:xfrm>
          <a:prstGeom prst="roundRect">
            <a:avLst>
              <a:gd name="adj" fmla="val 16000"/>
            </a:avLst>
          </a:prstGeom>
          <a:solidFill>
            <a:schemeClr val="bg2"/>
          </a:solidFill>
          <a:ln w="12700">
            <a:solidFill>
              <a:schemeClr val="bg2"/>
            </a:solidFill>
            <a:prstDash val="solid"/>
          </a:ln>
        </p:spPr>
      </p:sp>
      <p:sp>
        <p:nvSpPr>
          <p:cNvPr id="13" name="Shape 11"/>
          <p:cNvSpPr/>
          <p:nvPr/>
        </p:nvSpPr>
        <p:spPr>
          <a:xfrm>
            <a:off x="4398264" y="1705356"/>
            <a:ext cx="384048" cy="384048"/>
          </a:xfrm>
          <a:prstGeom prst="ellipse">
            <a:avLst/>
          </a:prstGeom>
          <a:solidFill>
            <a:schemeClr val="accent1"/>
          </a:solidFill>
          <a:ln w="12700">
            <a:solidFill>
              <a:schemeClr val="accent1"/>
            </a:solidFill>
            <a:prstDash val="solid"/>
          </a:ln>
        </p:spPr>
      </p:sp>
      <p:sp>
        <p:nvSpPr>
          <p:cNvPr id="14" name="Text 12"/>
          <p:cNvSpPr txBox="1"/>
          <p:nvPr/>
        </p:nvSpPr>
        <p:spPr>
          <a:xfrm>
            <a:off x="4398264" y="17053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3"/>
          <p:cNvSpPr txBox="1"/>
          <p:nvPr/>
        </p:nvSpPr>
        <p:spPr>
          <a:xfrm>
            <a:off x="4855464" y="1554480"/>
            <a:ext cx="1078992" cy="685800"/>
          </a:xfrm>
          <a:prstGeom prst="rect">
            <a:avLst/>
          </a:prstGeom>
          <a:noFill/>
          <a:ln/>
        </p:spPr>
        <p:txBody>
          <a:bodyPr wrap="square" lIns="0" tIns="0" rIns="0" bIns="0" rtlCol="0" anchor="ctr"/>
          <a:lstStyle/>
          <a:p>
            <a:pPr indent="0" marL="0">
              <a:buNone/>
            </a:pPr>
            <a:r>
              <a:rPr lang="en-US" sz="1300" b="1" dirty="0">
                <a:solidFill>
                  <a:schemeClr val="tx1"/>
                </a:solidFill>
              </a:rPr>
              <a:t>Split by engine</a:t>
            </a:r>
            <a:endParaRPr lang="en-US" sz="1300" dirty="0"/>
          </a:p>
        </p:txBody>
      </p:sp>
      <p:sp>
        <p:nvSpPr>
          <p:cNvPr id="16" name="Shape 14"/>
          <p:cNvSpPr/>
          <p:nvPr/>
        </p:nvSpPr>
        <p:spPr>
          <a:xfrm>
            <a:off x="6117336" y="1554480"/>
            <a:ext cx="1719072" cy="685800"/>
          </a:xfrm>
          <a:prstGeom prst="roundRect">
            <a:avLst>
              <a:gd name="adj" fmla="val 16000"/>
            </a:avLst>
          </a:prstGeom>
          <a:solidFill>
            <a:schemeClr val="bg2"/>
          </a:solidFill>
          <a:ln w="12700">
            <a:solidFill>
              <a:schemeClr val="bg2"/>
            </a:solidFill>
            <a:prstDash val="solid"/>
          </a:ln>
        </p:spPr>
      </p:sp>
      <p:sp>
        <p:nvSpPr>
          <p:cNvPr id="17" name="Shape 15"/>
          <p:cNvSpPr/>
          <p:nvPr/>
        </p:nvSpPr>
        <p:spPr>
          <a:xfrm>
            <a:off x="6254496" y="1705356"/>
            <a:ext cx="384048" cy="384048"/>
          </a:xfrm>
          <a:prstGeom prst="ellipse">
            <a:avLst/>
          </a:prstGeom>
          <a:solidFill>
            <a:schemeClr val="accent1"/>
          </a:solidFill>
          <a:ln w="12700">
            <a:solidFill>
              <a:schemeClr val="accent1"/>
            </a:solidFill>
            <a:prstDash val="solid"/>
          </a:ln>
        </p:spPr>
      </p:sp>
      <p:sp>
        <p:nvSpPr>
          <p:cNvPr id="18" name="Text 16"/>
          <p:cNvSpPr txBox="1"/>
          <p:nvPr/>
        </p:nvSpPr>
        <p:spPr>
          <a:xfrm>
            <a:off x="6254496" y="17053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7"/>
          <p:cNvSpPr txBox="1"/>
          <p:nvPr/>
        </p:nvSpPr>
        <p:spPr>
          <a:xfrm>
            <a:off x="6711696" y="1554480"/>
            <a:ext cx="1078992" cy="685800"/>
          </a:xfrm>
          <a:prstGeom prst="rect">
            <a:avLst/>
          </a:prstGeom>
          <a:noFill/>
          <a:ln/>
        </p:spPr>
        <p:txBody>
          <a:bodyPr wrap="square" lIns="0" tIns="0" rIns="0" bIns="0" rtlCol="0" anchor="ctr"/>
          <a:lstStyle/>
          <a:p>
            <a:pPr indent="0" marL="0">
              <a:buNone/>
            </a:pPr>
            <a:r>
              <a:rPr lang="en-US" sz="1300" b="1" dirty="0">
                <a:solidFill>
                  <a:schemeClr val="tx1"/>
                </a:solidFill>
              </a:rPr>
              <a:t>Build features</a:t>
            </a:r>
            <a:endParaRPr lang="en-US" sz="1300" dirty="0"/>
          </a:p>
        </p:txBody>
      </p:sp>
      <p:sp>
        <p:nvSpPr>
          <p:cNvPr id="20" name="Shape 18"/>
          <p:cNvSpPr/>
          <p:nvPr/>
        </p:nvSpPr>
        <p:spPr>
          <a:xfrm>
            <a:off x="7973568" y="1554480"/>
            <a:ext cx="1719072" cy="685800"/>
          </a:xfrm>
          <a:prstGeom prst="roundRect">
            <a:avLst>
              <a:gd name="adj" fmla="val 16000"/>
            </a:avLst>
          </a:prstGeom>
          <a:solidFill>
            <a:schemeClr val="bg2"/>
          </a:solidFill>
          <a:ln w="12700">
            <a:solidFill>
              <a:schemeClr val="bg2"/>
            </a:solidFill>
            <a:prstDash val="solid"/>
          </a:ln>
        </p:spPr>
      </p:sp>
      <p:sp>
        <p:nvSpPr>
          <p:cNvPr id="21" name="Shape 19"/>
          <p:cNvSpPr/>
          <p:nvPr/>
        </p:nvSpPr>
        <p:spPr>
          <a:xfrm>
            <a:off x="8110728" y="1705356"/>
            <a:ext cx="384048" cy="384048"/>
          </a:xfrm>
          <a:prstGeom prst="ellipse">
            <a:avLst/>
          </a:prstGeom>
          <a:solidFill>
            <a:schemeClr val="accent1"/>
          </a:solidFill>
          <a:ln w="12700">
            <a:solidFill>
              <a:schemeClr val="accent1"/>
            </a:solidFill>
            <a:prstDash val="solid"/>
          </a:ln>
        </p:spPr>
      </p:sp>
      <p:sp>
        <p:nvSpPr>
          <p:cNvPr id="22" name="Text 20"/>
          <p:cNvSpPr txBox="1"/>
          <p:nvPr/>
        </p:nvSpPr>
        <p:spPr>
          <a:xfrm>
            <a:off x="8110728" y="17053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Text 21"/>
          <p:cNvSpPr txBox="1"/>
          <p:nvPr/>
        </p:nvSpPr>
        <p:spPr>
          <a:xfrm>
            <a:off x="8567928" y="1554480"/>
            <a:ext cx="1078992" cy="685800"/>
          </a:xfrm>
          <a:prstGeom prst="rect">
            <a:avLst/>
          </a:prstGeom>
          <a:noFill/>
          <a:ln/>
        </p:spPr>
        <p:txBody>
          <a:bodyPr wrap="square" lIns="0" tIns="0" rIns="0" bIns="0" rtlCol="0" anchor="ctr"/>
          <a:lstStyle/>
          <a:p>
            <a:pPr indent="0" marL="0">
              <a:buNone/>
            </a:pPr>
            <a:r>
              <a:rPr lang="en-US" sz="1300" b="1" dirty="0">
                <a:solidFill>
                  <a:schemeClr val="tx1"/>
                </a:solidFill>
              </a:rPr>
              <a:t>Tune models</a:t>
            </a:r>
            <a:endParaRPr lang="en-US" sz="1300" dirty="0"/>
          </a:p>
        </p:txBody>
      </p:sp>
      <p:sp>
        <p:nvSpPr>
          <p:cNvPr id="24" name="Shape 22"/>
          <p:cNvSpPr/>
          <p:nvPr/>
        </p:nvSpPr>
        <p:spPr>
          <a:xfrm>
            <a:off x="9829800" y="1554480"/>
            <a:ext cx="1719072" cy="685800"/>
          </a:xfrm>
          <a:prstGeom prst="roundRect">
            <a:avLst>
              <a:gd name="adj" fmla="val 16000"/>
            </a:avLst>
          </a:prstGeom>
          <a:solidFill>
            <a:schemeClr val="bg2"/>
          </a:solidFill>
          <a:ln w="12700">
            <a:solidFill>
              <a:schemeClr val="bg2"/>
            </a:solidFill>
            <a:prstDash val="solid"/>
          </a:ln>
        </p:spPr>
      </p:sp>
      <p:sp>
        <p:nvSpPr>
          <p:cNvPr id="25" name="Shape 23"/>
          <p:cNvSpPr/>
          <p:nvPr/>
        </p:nvSpPr>
        <p:spPr>
          <a:xfrm>
            <a:off x="9966960" y="1705356"/>
            <a:ext cx="384048" cy="384048"/>
          </a:xfrm>
          <a:prstGeom prst="ellipse">
            <a:avLst/>
          </a:prstGeom>
          <a:solidFill>
            <a:schemeClr val="accent1"/>
          </a:solidFill>
          <a:ln w="12700">
            <a:solidFill>
              <a:schemeClr val="accent1"/>
            </a:solidFill>
            <a:prstDash val="solid"/>
          </a:ln>
        </p:spPr>
      </p:sp>
      <p:sp>
        <p:nvSpPr>
          <p:cNvPr id="26" name="Text 24"/>
          <p:cNvSpPr txBox="1"/>
          <p:nvPr/>
        </p:nvSpPr>
        <p:spPr>
          <a:xfrm>
            <a:off x="9966960" y="17053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7" name="Text 25"/>
          <p:cNvSpPr txBox="1"/>
          <p:nvPr/>
        </p:nvSpPr>
        <p:spPr>
          <a:xfrm>
            <a:off x="10424160" y="1554480"/>
            <a:ext cx="1078992" cy="685800"/>
          </a:xfrm>
          <a:prstGeom prst="rect">
            <a:avLst/>
          </a:prstGeom>
          <a:noFill/>
          <a:ln/>
        </p:spPr>
        <p:txBody>
          <a:bodyPr wrap="square" lIns="0" tIns="0" rIns="0" bIns="0" rtlCol="0" anchor="ctr"/>
          <a:lstStyle/>
          <a:p>
            <a:pPr indent="0" marL="0">
              <a:buNone/>
            </a:pPr>
            <a:r>
              <a:rPr lang="en-US" sz="1300" b="1" dirty="0">
                <a:solidFill>
                  <a:schemeClr val="tx1"/>
                </a:solidFill>
              </a:rPr>
              <a:t>Test once</a:t>
            </a:r>
            <a:endParaRPr lang="en-US" sz="1300" dirty="0"/>
          </a:p>
        </p:txBody>
      </p:sp>
      <p:sp>
        <p:nvSpPr>
          <p:cNvPr id="28" name="Text 26"/>
          <p:cNvSpPr txBox="1"/>
          <p:nvPr/>
        </p:nvSpPr>
        <p:spPr>
          <a:xfrm>
            <a:off x="548640" y="2514600"/>
            <a:ext cx="5486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FOUR REGRESSION MODELS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6675120" cy="914400"/>
        </p:xfrm>
        <a:graphic>
          <a:graphicData uri="http://schemas.openxmlformats.org/drawingml/2006/table">
            <a:tbl>
              <a:tblPr/>
              <a:tblGrid>
                <a:gridCol w="1737360"/>
                <a:gridCol w="1737360"/>
                <a:gridCol w="3200400"/>
              </a:tblGrid>
              <a:tr h="566928">
                <a:tc>
                  <a:txBody>
                    <a:bodyPr/>
                    <a:lstStyle/>
                    <a:p>
                      <a:pPr indent="0" marL="0">
                        <a:buNone/>
                      </a:pPr>
                      <a:r>
                        <a:rPr lang="en-US" sz="1400" b="1" dirty="0">
                          <a:solidFill>
                            <a:srgbClr val="F1F4F7"/>
                          </a:solidFill>
                        </a:rPr>
                        <a:t>Model</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430"/>
                    </a:solidFill>
                  </a:tcPr>
                </a:tc>
                <a:tc>
                  <a:txBody>
                    <a:bodyPr/>
                    <a:lstStyle/>
                    <a:p>
                      <a:pPr indent="0" marL="0">
                        <a:buNone/>
                      </a:pPr>
                      <a:r>
                        <a:rPr lang="en-US" sz="1400" b="1" dirty="0">
                          <a:solidFill>
                            <a:srgbClr val="F1F4F7"/>
                          </a:solidFill>
                        </a:rPr>
                        <a:t>Type</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430"/>
                    </a:solidFill>
                  </a:tcPr>
                </a:tc>
                <a:tc>
                  <a:txBody>
                    <a:bodyPr/>
                    <a:lstStyle/>
                    <a:p>
                      <a:pPr indent="0" marL="0">
                        <a:buNone/>
                      </a:pPr>
                      <a:r>
                        <a:rPr lang="en-US" sz="1400" b="1" dirty="0">
                          <a:solidFill>
                            <a:srgbClr val="F1F4F7"/>
                          </a:solidFill>
                        </a:rPr>
                        <a:t>How it works</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430"/>
                    </a:solidFill>
                  </a:tcPr>
                </a:tc>
              </a:tr>
              <a:tr h="566928">
                <a:tc>
                  <a:txBody>
                    <a:bodyPr/>
                    <a:lstStyle/>
                    <a:p>
                      <a:pPr indent="0" marL="0">
                        <a:buNone/>
                      </a:pPr>
                      <a:r>
                        <a:rPr lang="en-US" sz="1400" dirty="0">
                          <a:solidFill>
                            <a:srgbClr val="1B2430"/>
                          </a:solidFill>
                        </a:rPr>
                        <a:t>Baseline</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Reference</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Always predicts the average RUL</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430"/>
                          </a:solidFill>
                        </a:rPr>
                        <a:t>Random Forest</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Tree ensemble</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Averages many decision trees</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430"/>
                          </a:solidFill>
                        </a:rPr>
                        <a:t>XGBoost</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Boosted trees</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Each new tree fixes earlier errors</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B2430"/>
                          </a:solidFill>
                        </a:rPr>
                        <a:t>Elastic Net</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Linear + penalty</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Weighted sum; weak features set to 0</a:t>
                      </a:r>
                      <a:endParaRPr lang="en-US" sz="1400" dirty="0"/>
                    </a:p>
                  </a:txBody>
                  <a:tcPr marL="91440" marR="9144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30" name="Text 27"/>
          <p:cNvSpPr txBox="1"/>
          <p:nvPr/>
        </p:nvSpPr>
        <p:spPr>
          <a:xfrm>
            <a:off x="7635240" y="2514600"/>
            <a:ext cx="3657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VALIDATION DESIGN</a:t>
            </a:r>
            <a:endParaRPr lang="en-US" sz="1200" dirty="0"/>
          </a:p>
        </p:txBody>
      </p:sp>
      <p:sp>
        <p:nvSpPr>
          <p:cNvPr id="31" name="Shape 28"/>
          <p:cNvSpPr/>
          <p:nvPr/>
        </p:nvSpPr>
        <p:spPr>
          <a:xfrm>
            <a:off x="7635240" y="2834640"/>
            <a:ext cx="1920240" cy="1325880"/>
          </a:xfrm>
          <a:prstGeom prst="roundRect">
            <a:avLst>
              <a:gd name="adj" fmla="val 8276"/>
            </a:avLst>
          </a:prstGeom>
          <a:solidFill>
            <a:schemeClr val="bg2"/>
          </a:solidFill>
          <a:ln w="12700">
            <a:solidFill>
              <a:schemeClr val="bg2"/>
            </a:solidFill>
            <a:prstDash val="solid"/>
          </a:ln>
        </p:spPr>
      </p:sp>
      <p:sp>
        <p:nvSpPr>
          <p:cNvPr id="32" name="Text 29"/>
          <p:cNvSpPr txBox="1"/>
          <p:nvPr/>
        </p:nvSpPr>
        <p:spPr>
          <a:xfrm>
            <a:off x="7818120" y="2944368"/>
            <a:ext cx="1554480" cy="64008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80</a:t>
            </a:r>
            <a:endParaRPr lang="en-US" sz="3000" dirty="0"/>
          </a:p>
        </p:txBody>
      </p:sp>
      <p:sp>
        <p:nvSpPr>
          <p:cNvPr id="33" name="Text 30"/>
          <p:cNvSpPr txBox="1"/>
          <p:nvPr/>
        </p:nvSpPr>
        <p:spPr>
          <a:xfrm>
            <a:off x="7818120" y="3611880"/>
            <a:ext cx="1645920" cy="411480"/>
          </a:xfrm>
          <a:prstGeom prst="rect">
            <a:avLst/>
          </a:prstGeom>
          <a:noFill/>
          <a:ln/>
        </p:spPr>
        <p:txBody>
          <a:bodyPr wrap="square" lIns="0" tIns="0" rIns="0" bIns="0" rtlCol="0" anchor="ctr"/>
          <a:lstStyle/>
          <a:p>
            <a:pPr indent="0" marL="0">
              <a:buNone/>
            </a:pPr>
            <a:r>
              <a:rPr lang="en-US" sz="1300" dirty="0">
                <a:solidFill>
                  <a:schemeClr val="tx2"/>
                </a:solidFill>
              </a:rPr>
              <a:t>engines train</a:t>
            </a:r>
            <a:endParaRPr lang="en-US" sz="1300" dirty="0"/>
          </a:p>
        </p:txBody>
      </p:sp>
      <p:sp>
        <p:nvSpPr>
          <p:cNvPr id="34" name="Shape 31"/>
          <p:cNvSpPr/>
          <p:nvPr/>
        </p:nvSpPr>
        <p:spPr>
          <a:xfrm>
            <a:off x="9674352" y="2834640"/>
            <a:ext cx="1920240" cy="1325880"/>
          </a:xfrm>
          <a:prstGeom prst="roundRect">
            <a:avLst>
              <a:gd name="adj" fmla="val 8276"/>
            </a:avLst>
          </a:prstGeom>
          <a:solidFill>
            <a:schemeClr val="bg2"/>
          </a:solidFill>
          <a:ln w="12700">
            <a:solidFill>
              <a:schemeClr val="bg2"/>
            </a:solidFill>
            <a:prstDash val="solid"/>
          </a:ln>
        </p:spPr>
      </p:sp>
      <p:sp>
        <p:nvSpPr>
          <p:cNvPr id="35" name="Text 32"/>
          <p:cNvSpPr txBox="1"/>
          <p:nvPr/>
        </p:nvSpPr>
        <p:spPr>
          <a:xfrm>
            <a:off x="9857232" y="2944368"/>
            <a:ext cx="1554480" cy="64008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20</a:t>
            </a:r>
            <a:endParaRPr lang="en-US" sz="3000" dirty="0"/>
          </a:p>
        </p:txBody>
      </p:sp>
      <p:sp>
        <p:nvSpPr>
          <p:cNvPr id="36" name="Text 33"/>
          <p:cNvSpPr txBox="1"/>
          <p:nvPr/>
        </p:nvSpPr>
        <p:spPr>
          <a:xfrm>
            <a:off x="9857232" y="3611880"/>
            <a:ext cx="1645920" cy="411480"/>
          </a:xfrm>
          <a:prstGeom prst="rect">
            <a:avLst/>
          </a:prstGeom>
          <a:noFill/>
          <a:ln/>
        </p:spPr>
        <p:txBody>
          <a:bodyPr wrap="square" lIns="0" tIns="0" rIns="0" bIns="0" rtlCol="0" anchor="ctr"/>
          <a:lstStyle/>
          <a:p>
            <a:pPr indent="0" marL="0">
              <a:buNone/>
            </a:pPr>
            <a:r>
              <a:rPr lang="en-US" sz="1300" dirty="0">
                <a:solidFill>
                  <a:schemeClr val="tx2"/>
                </a:solidFill>
              </a:rPr>
              <a:t>engines validate</a:t>
            </a:r>
            <a:endParaRPr lang="en-US" sz="1300" dirty="0"/>
          </a:p>
        </p:txBody>
      </p:sp>
      <p:sp>
        <p:nvSpPr>
          <p:cNvPr id="37" name="Shape 34"/>
          <p:cNvSpPr/>
          <p:nvPr/>
        </p:nvSpPr>
        <p:spPr>
          <a:xfrm>
            <a:off x="7635240" y="4297680"/>
            <a:ext cx="1920240" cy="1325880"/>
          </a:xfrm>
          <a:prstGeom prst="roundRect">
            <a:avLst>
              <a:gd name="adj" fmla="val 8276"/>
            </a:avLst>
          </a:prstGeom>
          <a:solidFill>
            <a:schemeClr val="bg2"/>
          </a:solidFill>
          <a:ln w="12700">
            <a:solidFill>
              <a:schemeClr val="bg2"/>
            </a:solidFill>
            <a:prstDash val="solid"/>
          </a:ln>
        </p:spPr>
      </p:sp>
      <p:sp>
        <p:nvSpPr>
          <p:cNvPr id="38" name="Text 35"/>
          <p:cNvSpPr txBox="1"/>
          <p:nvPr/>
        </p:nvSpPr>
        <p:spPr>
          <a:xfrm>
            <a:off x="7818120" y="4407408"/>
            <a:ext cx="1554480" cy="64008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3</a:t>
            </a:r>
            <a:endParaRPr lang="en-US" sz="3000" dirty="0"/>
          </a:p>
        </p:txBody>
      </p:sp>
      <p:sp>
        <p:nvSpPr>
          <p:cNvPr id="39" name="Text 36"/>
          <p:cNvSpPr txBox="1"/>
          <p:nvPr/>
        </p:nvSpPr>
        <p:spPr>
          <a:xfrm>
            <a:off x="7818120" y="5074920"/>
            <a:ext cx="1645920" cy="411480"/>
          </a:xfrm>
          <a:prstGeom prst="rect">
            <a:avLst/>
          </a:prstGeom>
          <a:noFill/>
          <a:ln/>
        </p:spPr>
        <p:txBody>
          <a:bodyPr wrap="square" lIns="0" tIns="0" rIns="0" bIns="0" rtlCol="0" anchor="ctr"/>
          <a:lstStyle/>
          <a:p>
            <a:pPr indent="0" marL="0">
              <a:buNone/>
            </a:pPr>
            <a:r>
              <a:rPr lang="en-US" sz="1300" dirty="0">
                <a:solidFill>
                  <a:schemeClr val="tx2"/>
                </a:solidFill>
              </a:rPr>
              <a:t>GroupKFold folds</a:t>
            </a:r>
            <a:endParaRPr lang="en-US" sz="1300" dirty="0"/>
          </a:p>
        </p:txBody>
      </p:sp>
      <p:sp>
        <p:nvSpPr>
          <p:cNvPr id="40" name="Shape 37"/>
          <p:cNvSpPr/>
          <p:nvPr/>
        </p:nvSpPr>
        <p:spPr>
          <a:xfrm>
            <a:off x="9674352" y="4297680"/>
            <a:ext cx="1920240" cy="1325880"/>
          </a:xfrm>
          <a:prstGeom prst="roundRect">
            <a:avLst>
              <a:gd name="adj" fmla="val 8276"/>
            </a:avLst>
          </a:prstGeom>
          <a:solidFill>
            <a:schemeClr val="bg2"/>
          </a:solidFill>
          <a:ln w="12700">
            <a:solidFill>
              <a:schemeClr val="bg2"/>
            </a:solidFill>
            <a:prstDash val="solid"/>
          </a:ln>
        </p:spPr>
      </p:sp>
      <p:sp>
        <p:nvSpPr>
          <p:cNvPr id="41" name="Text 38"/>
          <p:cNvSpPr txBox="1"/>
          <p:nvPr/>
        </p:nvSpPr>
        <p:spPr>
          <a:xfrm>
            <a:off x="9857232" y="4407408"/>
            <a:ext cx="1554480" cy="64008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100</a:t>
            </a:r>
            <a:endParaRPr lang="en-US" sz="3000" dirty="0"/>
          </a:p>
        </p:txBody>
      </p:sp>
      <p:sp>
        <p:nvSpPr>
          <p:cNvPr id="42" name="Text 39"/>
          <p:cNvSpPr txBox="1"/>
          <p:nvPr/>
        </p:nvSpPr>
        <p:spPr>
          <a:xfrm>
            <a:off x="9857232" y="5074920"/>
            <a:ext cx="1645920" cy="411480"/>
          </a:xfrm>
          <a:prstGeom prst="rect">
            <a:avLst/>
          </a:prstGeom>
          <a:noFill/>
          <a:ln/>
        </p:spPr>
        <p:txBody>
          <a:bodyPr wrap="square" lIns="0" tIns="0" rIns="0" bIns="0" rtlCol="0" anchor="ctr"/>
          <a:lstStyle/>
          <a:p>
            <a:pPr indent="0" marL="0">
              <a:buNone/>
            </a:pPr>
            <a:r>
              <a:rPr lang="en-US" sz="1300" dirty="0">
                <a:solidFill>
                  <a:schemeClr val="tx2"/>
                </a:solidFill>
              </a:rPr>
              <a:t>test engines</a:t>
            </a:r>
            <a:endParaRPr lang="en-US" sz="1300" dirty="0"/>
          </a:p>
        </p:txBody>
      </p:sp>
      <p:sp>
        <p:nvSpPr>
          <p:cNvPr id="43" name="Text 40"/>
          <p:cNvSpPr txBox="1"/>
          <p:nvPr/>
        </p:nvSpPr>
        <p:spPr>
          <a:xfrm>
            <a:off x="548640" y="5806440"/>
            <a:ext cx="10972800" cy="365760"/>
          </a:xfrm>
          <a:prstGeom prst="rect">
            <a:avLst/>
          </a:prstGeom>
          <a:noFill/>
          <a:ln/>
        </p:spPr>
        <p:txBody>
          <a:bodyPr wrap="square" lIns="0" tIns="0" rIns="0" bIns="0" rtlCol="0" anchor="ctr"/>
          <a:lstStyle/>
          <a:p>
            <a:pPr indent="0" marL="0">
              <a:buNone/>
            </a:pPr>
            <a:r>
              <a:rPr lang="en-US" sz="1400" dirty="0">
                <a:solidFill>
                  <a:schemeClr val="tx2"/>
                </a:solidFill>
              </a:rPr>
              <a:t>Metrics: RMSE (big misses count more), MAE (average miss), R²</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Results: XGBoost is about 7 cycles off on average</a:t>
            </a:r>
            <a:endParaRPr lang="en-US" sz="3200" dirty="0"/>
          </a:p>
        </p:txBody>
      </p:sp>
      <p:sp>
        <p:nvSpPr>
          <p:cNvPr id="3" name="Text 0"/>
          <p:cNvSpPr/>
          <p:nvPr>
            <p:ph idx="101" type="body" hasCustomPrompt="1"/>
          </p:nvPr>
        </p:nvSpPr>
        <p:spPr>
          <a:xfrm>
            <a:off x="548640" y="987552"/>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RMSE in cycles, lower is better; validation = 20 held-out engines, test = 100 official NASA engines</a:t>
            </a:r>
            <a:endParaRPr lang="en-US" sz="1500" dirty="0"/>
          </a:p>
        </p:txBody>
      </p:sp>
      <p:graphicFrame>
        <p:nvGraphicFramePr>
          <p:cNvPr id="4" name="Chart 0" descr=""/>
          <p:cNvGraphicFramePr/>
          <p:nvPr/>
        </p:nvGraphicFramePr>
        <p:xfrm>
          <a:off x="548640" y="155448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577840"/>
            <a:ext cx="5852160" cy="274320"/>
          </a:xfrm>
          <a:prstGeom prst="rect">
            <a:avLst/>
          </a:prstGeom>
          <a:noFill/>
          <a:ln/>
        </p:spPr>
        <p:txBody>
          <a:bodyPr wrap="square" lIns="0" tIns="0" rIns="0" bIns="0" rtlCol="0" anchor="ctr"/>
          <a:lstStyle/>
          <a:p>
            <a:pPr indent="0" marL="0">
              <a:buNone/>
            </a:pPr>
            <a:r>
              <a:rPr lang="en-US" sz="1100" b="1" dirty="0">
                <a:solidFill>
                  <a:schemeClr val="accent1"/>
                </a:solidFill>
              </a:rPr>
              <a:t>Fig. </a:t>
            </a:r>
            <a:pPr indent="0" marL="0">
              <a:buNone/>
            </a:pPr>
            <a:r>
              <a:rPr lang="en-US" sz="1100" i="1" dirty="0">
                <a:solidFill>
                  <a:schemeClr val="tx2"/>
                </a:solidFill>
              </a:rPr>
              <a:t>Validation and test errors are close, so the engine split was a reliable guide.</a:t>
            </a:r>
            <a:endParaRPr lang="en-US" sz="1100" dirty="0"/>
          </a:p>
        </p:txBody>
      </p:sp>
      <p:sp>
        <p:nvSpPr>
          <p:cNvPr id="6" name="Text 3"/>
          <p:cNvSpPr txBox="1"/>
          <p:nvPr/>
        </p:nvSpPr>
        <p:spPr>
          <a:xfrm>
            <a:off x="6720840" y="1600200"/>
            <a:ext cx="3657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SCORECARD</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720840" y="1920240"/>
          <a:ext cx="4937760" cy="914400"/>
        </p:xfrm>
        <a:graphic>
          <a:graphicData uri="http://schemas.openxmlformats.org/drawingml/2006/table">
            <a:tbl>
              <a:tblPr/>
              <a:tblGrid>
                <a:gridCol w="1463040"/>
                <a:gridCol w="868680"/>
                <a:gridCol w="868680"/>
                <a:gridCol w="868680"/>
                <a:gridCol w="868680"/>
              </a:tblGrid>
              <a:tr h="438912">
                <a:tc>
                  <a:txBody>
                    <a:bodyPr/>
                    <a:lstStyle/>
                    <a:p>
                      <a:pPr algn="l" indent="0" marL="0">
                        <a:buNone/>
                      </a:pPr>
                      <a:r>
                        <a:rPr lang="en-US" sz="1300" b="1" dirty="0">
                          <a:solidFill>
                            <a:srgbClr val="F1F4F7"/>
                          </a:solidFill>
                        </a:rPr>
                        <a:t>Model</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430"/>
                    </a:solidFill>
                  </a:tcPr>
                </a:tc>
                <a:tc>
                  <a:txBody>
                    <a:bodyPr/>
                    <a:lstStyle/>
                    <a:p>
                      <a:pPr algn="l" indent="0" marL="0">
                        <a:buNone/>
                      </a:pPr>
                      <a:r>
                        <a:rPr lang="en-US" sz="1300" b="1" dirty="0">
                          <a:solidFill>
                            <a:srgbClr val="F1F4F7"/>
                          </a:solidFill>
                        </a:rPr>
                        <a:t>Val RMSE</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430"/>
                    </a:solidFill>
                  </a:tcPr>
                </a:tc>
                <a:tc>
                  <a:txBody>
                    <a:bodyPr/>
                    <a:lstStyle/>
                    <a:p>
                      <a:pPr algn="l" indent="0" marL="0">
                        <a:buNone/>
                      </a:pPr>
                      <a:r>
                        <a:rPr lang="en-US" sz="1300" b="1" dirty="0">
                          <a:solidFill>
                            <a:srgbClr val="F1F4F7"/>
                          </a:solidFill>
                        </a:rPr>
                        <a:t>Val MAE</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430"/>
                    </a:solidFill>
                  </a:tcPr>
                </a:tc>
                <a:tc>
                  <a:txBody>
                    <a:bodyPr/>
                    <a:lstStyle/>
                    <a:p>
                      <a:pPr algn="l" indent="0" marL="0">
                        <a:buNone/>
                      </a:pPr>
                      <a:r>
                        <a:rPr lang="en-US" sz="1300" b="1" dirty="0">
                          <a:solidFill>
                            <a:srgbClr val="F1F4F7"/>
                          </a:solidFill>
                        </a:rPr>
                        <a:t>Test RMSE</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430"/>
                    </a:solidFill>
                  </a:tcPr>
                </a:tc>
                <a:tc>
                  <a:txBody>
                    <a:bodyPr/>
                    <a:lstStyle/>
                    <a:p>
                      <a:pPr algn="l" indent="0" marL="0">
                        <a:buNone/>
                      </a:pPr>
                      <a:r>
                        <a:rPr lang="en-US" sz="1300" b="1" dirty="0">
                          <a:solidFill>
                            <a:srgbClr val="F1F4F7"/>
                          </a:solidFill>
                        </a:rPr>
                        <a:t>Test MAE</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430"/>
                    </a:solidFill>
                  </a:tcPr>
                </a:tc>
              </a:tr>
              <a:tr h="438912">
                <a:tc>
                  <a:txBody>
                    <a:bodyPr/>
                    <a:lstStyle/>
                    <a:p>
                      <a:pPr algn="l" indent="0" marL="0">
                        <a:buNone/>
                      </a:pPr>
                      <a:r>
                        <a:rPr lang="en-US" sz="1300" dirty="0">
                          <a:solidFill>
                            <a:srgbClr val="1B2430"/>
                          </a:solidFill>
                        </a:rPr>
                        <a:t>Baseline</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41.72</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36.93</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41.94</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34.83</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B2430"/>
                          </a:solidFill>
                        </a:rPr>
                        <a:t>Random Forest</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10.34</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6.77</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11.44</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8.27</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1B2430"/>
                          </a:solidFill>
                        </a:rPr>
                        <a:t>XGBoost</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BE3D2"/>
                    </a:solidFill>
                  </a:tcPr>
                </a:tc>
                <a:tc>
                  <a:txBody>
                    <a:bodyPr/>
                    <a:lstStyle/>
                    <a:p>
                      <a:pPr algn="l" indent="0" marL="0">
                        <a:buNone/>
                      </a:pPr>
                      <a:r>
                        <a:rPr lang="en-US" sz="1300" b="1" dirty="0">
                          <a:solidFill>
                            <a:srgbClr val="1B2430"/>
                          </a:solidFill>
                        </a:rPr>
                        <a:t>9.60</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BE3D2"/>
                    </a:solidFill>
                  </a:tcPr>
                </a:tc>
                <a:tc>
                  <a:txBody>
                    <a:bodyPr/>
                    <a:lstStyle/>
                    <a:p>
                      <a:pPr algn="l" indent="0" marL="0">
                        <a:buNone/>
                      </a:pPr>
                      <a:r>
                        <a:rPr lang="en-US" sz="1300" b="1" dirty="0">
                          <a:solidFill>
                            <a:srgbClr val="1B2430"/>
                          </a:solidFill>
                        </a:rPr>
                        <a:t>6.05</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BE3D2"/>
                    </a:solidFill>
                  </a:tcPr>
                </a:tc>
                <a:tc>
                  <a:txBody>
                    <a:bodyPr/>
                    <a:lstStyle/>
                    <a:p>
                      <a:pPr algn="l" indent="0" marL="0">
                        <a:buNone/>
                      </a:pPr>
                      <a:r>
                        <a:rPr lang="en-US" sz="1300" b="1" dirty="0">
                          <a:solidFill>
                            <a:srgbClr val="1B2430"/>
                          </a:solidFill>
                        </a:rPr>
                        <a:t>10.14</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BE3D2"/>
                    </a:solidFill>
                  </a:tcPr>
                </a:tc>
                <a:tc>
                  <a:txBody>
                    <a:bodyPr/>
                    <a:lstStyle/>
                    <a:p>
                      <a:pPr algn="l" indent="0" marL="0">
                        <a:buNone/>
                      </a:pPr>
                      <a:r>
                        <a:rPr lang="en-US" sz="1300" b="1" dirty="0">
                          <a:solidFill>
                            <a:srgbClr val="1B2430"/>
                          </a:solidFill>
                        </a:rPr>
                        <a:t>7.40</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BE3D2"/>
                    </a:solidFill>
                  </a:tcPr>
                </a:tc>
              </a:tr>
              <a:tr h="438912">
                <a:tc>
                  <a:txBody>
                    <a:bodyPr/>
                    <a:lstStyle/>
                    <a:p>
                      <a:pPr algn="l" indent="0" marL="0">
                        <a:buNone/>
                      </a:pPr>
                      <a:r>
                        <a:rPr lang="en-US" sz="1300" dirty="0">
                          <a:solidFill>
                            <a:srgbClr val="1B2430"/>
                          </a:solidFill>
                        </a:rPr>
                        <a:t>Elastic Net</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15.04</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12.01</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16.13</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430"/>
                          </a:solidFill>
                        </a:rPr>
                        <a:t>13.14</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8" name="Shape 4"/>
          <p:cNvSpPr/>
          <p:nvPr/>
        </p:nvSpPr>
        <p:spPr>
          <a:xfrm>
            <a:off x="6720840" y="4297680"/>
            <a:ext cx="4937760" cy="1783080"/>
          </a:xfrm>
          <a:prstGeom prst="roundRect">
            <a:avLst>
              <a:gd name="adj" fmla="val 6154"/>
            </a:avLst>
          </a:prstGeom>
          <a:solidFill>
            <a:schemeClr val="bg2"/>
          </a:solidFill>
          <a:ln w="12700">
            <a:solidFill>
              <a:schemeClr val="bg2"/>
            </a:solidFill>
            <a:prstDash val="solid"/>
          </a:ln>
        </p:spPr>
      </p:sp>
      <p:sp>
        <p:nvSpPr>
          <p:cNvPr id="9" name="Text 5"/>
          <p:cNvSpPr txBox="1"/>
          <p:nvPr/>
        </p:nvSpPr>
        <p:spPr>
          <a:xfrm>
            <a:off x="6949440" y="4434840"/>
            <a:ext cx="3657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INTERPRETATION</a:t>
            </a:r>
            <a:endParaRPr lang="en-US" sz="1200" dirty="0"/>
          </a:p>
        </p:txBody>
      </p:sp>
      <p:sp>
        <p:nvSpPr>
          <p:cNvPr id="10" name="Text 6"/>
          <p:cNvSpPr txBox="1"/>
          <p:nvPr/>
        </p:nvSpPr>
        <p:spPr>
          <a:xfrm>
            <a:off x="6949440" y="4754880"/>
            <a:ext cx="457200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XGBoost wins; Random Forest is close (≈1 cycle)</a:t>
            </a:r>
            <a:endParaRPr lang="en-US" sz="1400" dirty="0"/>
          </a:p>
          <a:p>
            <a:pPr marL="342900" indent="-342900">
              <a:spcAft>
                <a:spcPts val="600"/>
              </a:spcAft>
              <a:buSzPct val="100000"/>
              <a:buChar char="•"/>
            </a:pPr>
            <a:r>
              <a:rPr lang="en-US" sz="1400" dirty="0">
                <a:solidFill>
                  <a:schemeClr val="tx1"/>
                </a:solidFill>
              </a:rPr>
              <a:t>Both tree models are ~4× better than the baseline</a:t>
            </a:r>
            <a:endParaRPr lang="en-US" sz="1400" dirty="0"/>
          </a:p>
          <a:p>
            <a:pPr marL="342900" indent="-342900">
              <a:spcAft>
                <a:spcPts val="600"/>
              </a:spcAft>
              <a:buSzPct val="100000"/>
              <a:buChar char="•"/>
            </a:pPr>
            <a:r>
              <a:rPr lang="en-US" sz="1400" dirty="0">
                <a:solidFill>
                  <a:schemeClr val="tx1"/>
                </a:solidFill>
              </a:rPr>
              <a:t>Elastic Net misses the curved wear pattern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Features cut the error by over a third</a:t>
            </a:r>
            <a:endParaRPr lang="en-US" sz="3200" dirty="0"/>
          </a:p>
        </p:txBody>
      </p:sp>
      <p:sp>
        <p:nvSpPr>
          <p:cNvPr id="3" name="Text 0"/>
          <p:cNvSpPr/>
          <p:nvPr>
            <p:ph idx="101" type="body" hasCustomPrompt="1"/>
          </p:nvPr>
        </p:nvSpPr>
        <p:spPr>
          <a:xfrm>
            <a:off x="548640" y="987552"/>
            <a:ext cx="11094415" cy="365760"/>
          </a:xfrm>
          <a:prstGeom prst="rect">
            <a:avLst/>
          </a:prstGeom>
          <a:noFill/>
          <a:ln/>
        </p:spPr>
        <p:txBody>
          <a:bodyPr wrap="square" lIns="0" tIns="0" rIns="0" bIns="0" rtlCol="0" anchor="t"/>
          <a:lstStyle/>
          <a:p>
            <a:pPr indent="0" marL="0">
              <a:buNone/>
            </a:pPr>
            <a:r>
              <a:rPr lang="en-US" sz="1500" dirty="0">
                <a:solidFill>
                  <a:schemeClr val="accent4"/>
                </a:solidFill>
              </a:rPr>
              <a:t>Validation RMSE with raw sensors only vs with engineered features, and error by life stage</a:t>
            </a:r>
            <a:endParaRPr lang="en-US" sz="1500" dirty="0"/>
          </a:p>
        </p:txBody>
      </p:sp>
      <p:graphicFrame>
        <p:nvGraphicFramePr>
          <p:cNvPr id="4" name="Chart 0" descr=""/>
          <p:cNvGraphicFramePr/>
          <p:nvPr/>
        </p:nvGraphicFramePr>
        <p:xfrm>
          <a:off x="548640" y="1554480"/>
          <a:ext cx="5120640" cy="2880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480560"/>
            <a:ext cx="5120640" cy="274320"/>
          </a:xfrm>
          <a:prstGeom prst="rect">
            <a:avLst/>
          </a:prstGeom>
          <a:noFill/>
          <a:ln/>
        </p:spPr>
        <p:txBody>
          <a:bodyPr wrap="square" lIns="0" tIns="0" rIns="0" bIns="0" rtlCol="0" anchor="ctr"/>
          <a:lstStyle/>
          <a:p>
            <a:pPr indent="0" marL="0">
              <a:buNone/>
            </a:pPr>
            <a:r>
              <a:rPr lang="en-US" sz="1100" b="1" dirty="0">
                <a:solidFill>
                  <a:schemeClr val="accent1"/>
                </a:solidFill>
              </a:rPr>
              <a:t>Fig. </a:t>
            </a:r>
            <a:pPr indent="0" marL="0">
              <a:buNone/>
            </a:pPr>
            <a:r>
              <a:rPr lang="en-US" sz="1100" i="1" dirty="0">
                <a:solidFill>
                  <a:schemeClr val="tx2"/>
                </a:solidFill>
              </a:rPr>
              <a:t>35-38% lower error for the tree models.</a:t>
            </a:r>
            <a:endParaRPr lang="en-US" sz="1100" dirty="0"/>
          </a:p>
        </p:txBody>
      </p:sp>
      <p:sp>
        <p:nvSpPr>
          <p:cNvPr id="6" name="Text 3"/>
          <p:cNvSpPr txBox="1"/>
          <p:nvPr/>
        </p:nvSpPr>
        <p:spPr>
          <a:xfrm>
            <a:off x="548640" y="4846320"/>
            <a:ext cx="54864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EARLY VS LATE LIFE (VALIDATION)</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5166360"/>
          <a:ext cx="5120640" cy="914400"/>
        </p:xfrm>
        <a:graphic>
          <a:graphicData uri="http://schemas.openxmlformats.org/drawingml/2006/table">
            <a:tbl>
              <a:tblPr/>
              <a:tblGrid>
                <a:gridCol w="1737360"/>
                <a:gridCol w="1691640"/>
                <a:gridCol w="1691640"/>
              </a:tblGrid>
              <a:tr h="301752">
                <a:tc>
                  <a:txBody>
                    <a:bodyPr/>
                    <a:lstStyle/>
                    <a:p>
                      <a:pPr indent="0" marL="0">
                        <a:buNone/>
                      </a:pPr>
                      <a:r>
                        <a:rPr lang="en-US" sz="1300" b="1" dirty="0">
                          <a:solidFill>
                            <a:srgbClr val="F1F4F7"/>
                          </a:solidFill>
                        </a:rPr>
                        <a:t>Model</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430"/>
                    </a:solidFill>
                  </a:tcPr>
                </a:tc>
                <a:tc>
                  <a:txBody>
                    <a:bodyPr/>
                    <a:lstStyle/>
                    <a:p>
                      <a:pPr indent="0" marL="0">
                        <a:buNone/>
                      </a:pPr>
                      <a:r>
                        <a:rPr lang="en-US" sz="1300" b="1" dirty="0">
                          <a:solidFill>
                            <a:srgbClr val="F1F4F7"/>
                          </a:solidFill>
                        </a:rPr>
                        <a:t>RMSE: &gt;100 left</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430"/>
                    </a:solidFill>
                  </a:tcPr>
                </a:tc>
                <a:tc>
                  <a:txBody>
                    <a:bodyPr/>
                    <a:lstStyle/>
                    <a:p>
                      <a:pPr indent="0" marL="0">
                        <a:buNone/>
                      </a:pPr>
                      <a:r>
                        <a:rPr lang="en-US" sz="1300" b="1" dirty="0">
                          <a:solidFill>
                            <a:srgbClr val="F1F4F7"/>
                          </a:solidFill>
                        </a:rPr>
                        <a:t>RMSE: ≤100 left</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430"/>
                    </a:solidFill>
                  </a:tcPr>
                </a:tc>
              </a:tr>
              <a:tr h="301752">
                <a:tc>
                  <a:txBody>
                    <a:bodyPr/>
                    <a:lstStyle/>
                    <a:p>
                      <a:pPr indent="0" marL="0">
                        <a:buNone/>
                      </a:pPr>
                      <a:r>
                        <a:rPr lang="en-US" sz="1300" dirty="0">
                          <a:solidFill>
                            <a:srgbClr val="1B2430"/>
                          </a:solidFill>
                        </a:rPr>
                        <a:t>XGBoost</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7.33</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11.45</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01752">
                <a:tc>
                  <a:txBody>
                    <a:bodyPr/>
                    <a:lstStyle/>
                    <a:p>
                      <a:pPr indent="0" marL="0">
                        <a:buNone/>
                      </a:pPr>
                      <a:r>
                        <a:rPr lang="en-US" sz="1300" dirty="0">
                          <a:solidFill>
                            <a:srgbClr val="1B2430"/>
                          </a:solidFill>
                        </a:rPr>
                        <a:t>Random Forest</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8.01</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12.26</a:t>
                      </a:r>
                      <a:endParaRPr lang="en-US" sz="1300" dirty="0"/>
                    </a:p>
                  </a:txBody>
                  <a:tcPr marL="73152" marR="73152"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8" name="Shape 4"/>
          <p:cNvSpPr/>
          <p:nvPr/>
        </p:nvSpPr>
        <p:spPr>
          <a:xfrm>
            <a:off x="6035040" y="1600200"/>
            <a:ext cx="5623560" cy="2377440"/>
          </a:xfrm>
          <a:prstGeom prst="roundRect">
            <a:avLst>
              <a:gd name="adj" fmla="val 4615"/>
            </a:avLst>
          </a:prstGeom>
          <a:solidFill>
            <a:schemeClr val="bg2"/>
          </a:solidFill>
          <a:ln w="12700">
            <a:solidFill>
              <a:schemeClr val="bg2"/>
            </a:solidFill>
            <a:prstDash val="solid"/>
          </a:ln>
        </p:spPr>
      </p:sp>
      <p:sp>
        <p:nvSpPr>
          <p:cNvPr id="9" name="Text 5"/>
          <p:cNvSpPr txBox="1"/>
          <p:nvPr/>
        </p:nvSpPr>
        <p:spPr>
          <a:xfrm>
            <a:off x="6309360" y="1783080"/>
            <a:ext cx="4572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CONCLUSIONS</a:t>
            </a:r>
            <a:endParaRPr lang="en-US" sz="1200" dirty="0"/>
          </a:p>
        </p:txBody>
      </p:sp>
      <p:sp>
        <p:nvSpPr>
          <p:cNvPr id="10" name="Text 6"/>
          <p:cNvSpPr txBox="1"/>
          <p:nvPr/>
        </p:nvSpPr>
        <p:spPr>
          <a:xfrm>
            <a:off x="6309360" y="2148840"/>
            <a:ext cx="51206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Yes: engineered features clearly help classical ML</a:t>
            </a:r>
            <a:endParaRPr lang="en-US" sz="1400" dirty="0"/>
          </a:p>
          <a:p>
            <a:pPr marL="342900" indent="-342900">
              <a:spcAft>
                <a:spcPts val="600"/>
              </a:spcAft>
              <a:buSzPct val="100000"/>
              <a:buChar char="•"/>
            </a:pPr>
            <a:r>
              <a:rPr lang="en-US" sz="1400" dirty="0">
                <a:solidFill>
                  <a:schemeClr val="tx1"/>
                </a:solidFill>
              </a:rPr>
              <a:t>Drift from the healthy level is the strongest feature</a:t>
            </a:r>
            <a:endParaRPr lang="en-US" sz="1400" dirty="0"/>
          </a:p>
          <a:p>
            <a:pPr marL="342900" indent="-342900">
              <a:spcAft>
                <a:spcPts val="600"/>
              </a:spcAft>
              <a:buSzPct val="100000"/>
              <a:buChar char="•"/>
            </a:pPr>
            <a:r>
              <a:rPr lang="en-US" sz="1400" dirty="0">
                <a:solidFill>
                  <a:schemeClr val="tx1"/>
                </a:solidFill>
              </a:rPr>
              <a:t>Errors grow near failure; early life looks easy only because of the 125 cap</a:t>
            </a:r>
            <a:endParaRPr lang="en-US" sz="1400" dirty="0"/>
          </a:p>
          <a:p>
            <a:pPr marL="342900" indent="-342900">
              <a:spcAft>
                <a:spcPts val="600"/>
              </a:spcAft>
              <a:buSzPct val="100000"/>
              <a:buChar char="•"/>
            </a:pPr>
            <a:r>
              <a:rPr lang="en-US" sz="1400" dirty="0">
                <a:solidFill>
                  <a:schemeClr val="tx1"/>
                </a:solidFill>
              </a:rPr>
              <a:t>Limits: FD001 only, simulated data, one split</a:t>
            </a:r>
            <a:endParaRPr lang="en-US" sz="1400" dirty="0"/>
          </a:p>
        </p:txBody>
      </p:sp>
      <p:sp>
        <p:nvSpPr>
          <p:cNvPr id="11" name="Shape 7"/>
          <p:cNvSpPr/>
          <p:nvPr/>
        </p:nvSpPr>
        <p:spPr>
          <a:xfrm>
            <a:off x="6035040" y="4114800"/>
            <a:ext cx="5623560" cy="2011680"/>
          </a:xfrm>
          <a:prstGeom prst="roundRect">
            <a:avLst>
              <a:gd name="adj" fmla="val 5455"/>
            </a:avLst>
          </a:prstGeom>
          <a:solidFill>
            <a:schemeClr val="tx1"/>
          </a:solidFill>
          <a:ln w="12700">
            <a:solidFill>
              <a:schemeClr val="tx1"/>
            </a:solidFill>
            <a:prstDash val="solid"/>
          </a:ln>
        </p:spPr>
      </p:sp>
      <p:sp>
        <p:nvSpPr>
          <p:cNvPr id="12" name="Text 8"/>
          <p:cNvSpPr txBox="1"/>
          <p:nvPr/>
        </p:nvSpPr>
        <p:spPr>
          <a:xfrm>
            <a:off x="6309360" y="4297680"/>
            <a:ext cx="4572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NEXT STEPS</a:t>
            </a:r>
            <a:endParaRPr lang="en-US" sz="1200" dirty="0"/>
          </a:p>
        </p:txBody>
      </p:sp>
      <p:sp>
        <p:nvSpPr>
          <p:cNvPr id="13" name="Text 9"/>
          <p:cNvSpPr txBox="1"/>
          <p:nvPr/>
        </p:nvSpPr>
        <p:spPr>
          <a:xfrm>
            <a:off x="6309360" y="4663440"/>
            <a:ext cx="512064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Extend to multi-condition sets FD002-FD004</a:t>
            </a:r>
            <a:endParaRPr lang="en-US" sz="1400" dirty="0"/>
          </a:p>
          <a:p>
            <a:pPr marL="342900" indent="-342900">
              <a:spcAft>
                <a:spcPts val="600"/>
              </a:spcAft>
              <a:buSzPct val="100000"/>
              <a:buChar char="•"/>
            </a:pPr>
            <a:r>
              <a:rPr lang="en-US" sz="1400" dirty="0">
                <a:solidFill>
                  <a:schemeClr val="bg1"/>
                </a:solidFill>
              </a:rPr>
              <a:t>Repeated cross-validation and uncertainty ranges</a:t>
            </a:r>
            <a:endParaRPr lang="en-US" sz="1400" dirty="0"/>
          </a:p>
          <a:p>
            <a:pPr marL="342900" indent="-342900">
              <a:spcAft>
                <a:spcPts val="600"/>
              </a:spcAft>
              <a:buSzPct val="100000"/>
              <a:buChar char="•"/>
            </a:pPr>
            <a:r>
              <a:rPr lang="en-US" sz="1400" dirty="0">
                <a:solidFill>
                  <a:schemeClr val="bg1"/>
                </a:solidFill>
              </a:rPr>
              <a:t>Phase 2: compare with LSTM / CNN on the same split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502920"/>
            <a:ext cx="8229600" cy="73152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Our team</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926080"/>
                <a:gridCol w="2743200"/>
                <a:gridCol w="5394960"/>
              </a:tblGrid>
              <a:tr h="566928">
                <a:tc>
                  <a:txBody>
                    <a:bodyPr/>
                    <a:lstStyle/>
                    <a:p>
                      <a:pPr indent="0" marL="0">
                        <a:buNone/>
                      </a:pPr>
                      <a:r>
                        <a:rPr lang="en-US" sz="1500" b="1" dirty="0">
                          <a:solidFill>
                            <a:srgbClr val="FFFFFF"/>
                          </a:solidFill>
                        </a:rPr>
                        <a:t>Student name</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07A2F"/>
                    </a:solidFill>
                  </a:tcPr>
                </a:tc>
                <a:tc>
                  <a:txBody>
                    <a:bodyPr/>
                    <a:lstStyle/>
                    <a:p>
                      <a:pPr indent="0" marL="0">
                        <a:buNone/>
                      </a:pPr>
                      <a:r>
                        <a:rPr lang="en-US" sz="1500" b="1" dirty="0">
                          <a:solidFill>
                            <a:srgbClr val="FFFFFF"/>
                          </a:solidFill>
                        </a:rPr>
                        <a:t>Enrollment number</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07A2F"/>
                    </a:solidFill>
                  </a:tcPr>
                </a:tc>
                <a:tc>
                  <a:txBody>
                    <a:bodyPr/>
                    <a:lstStyle/>
                    <a:p>
                      <a:pPr indent="0" marL="0">
                        <a:buNone/>
                      </a:pPr>
                      <a:r>
                        <a:rPr lang="en-US" sz="1500" b="1" dirty="0">
                          <a:solidFill>
                            <a:srgbClr val="FFFFFF"/>
                          </a:solidFill>
                        </a:rPr>
                        <a:t>Email</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07A2F"/>
                    </a:solidFill>
                  </a:tcPr>
                </a:tc>
              </a:tr>
              <a:tr h="566928">
                <a:tc>
                  <a:txBody>
                    <a:bodyPr/>
                    <a:lstStyle/>
                    <a:p>
                      <a:pPr indent="0" marL="0">
                        <a:buNone/>
                      </a:pPr>
                      <a:r>
                        <a:rPr lang="en-US" sz="1500" dirty="0">
                          <a:solidFill>
                            <a:srgbClr val="1B2430"/>
                          </a:solidFill>
                        </a:rPr>
                        <a:t>Rohit Kumar</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rPr>
                        <a:t>2401010392</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rPr>
                        <a:t>rohit.kumar2024@nst.rishihood.edu.in</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430"/>
                          </a:solidFill>
                        </a:rPr>
                        <a:t>Mayank Yadav</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rPr>
                        <a:t>2401010271</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rPr>
                        <a:t>mayank.yadav2024@nst.rishihood.edu.in</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430"/>
                          </a:solidFill>
                        </a:rPr>
                        <a:t>Arun</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rPr>
                        <a:t>2401010098</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rPr>
                        <a:t>arun.2024@nst.rishihood.edu.in</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430"/>
                          </a:solidFill>
                        </a:rPr>
                        <a:t>Sarvesh Kumar</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rPr>
                        <a:t>2401010422</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rPr>
                        <a:t>sarvesh.kumar2024@nst.rishihood.edu.in</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1B2430"/>
                          </a:solidFill>
                        </a:rPr>
                        <a:t>Keshav</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rPr>
                        <a:t>2401010221</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rPr>
                        <a:t>keshav.2024@nst.rishihood.edu.in</a:t>
                      </a:r>
                      <a:endParaRPr lang="en-US" sz="1500" dirty="0"/>
                    </a:p>
                  </a:txBody>
                  <a:tcPr marL="109728" marR="109728"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303520"/>
            <a:ext cx="11064240" cy="64008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Thank you  ·  Questions?</a:t>
            </a:r>
            <a:endParaRPr lang="en-US" sz="2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Turbine Amber">
  <a:themeElements>
    <a:clrScheme name="Turbine Amber">
      <a:dk1>
        <a:srgbClr val="1B2430"/>
      </a:dk1>
      <a:lt1>
        <a:srgbClr val="FFFFFF"/>
      </a:lt1>
      <a:dk2>
        <a:srgbClr val="2E3B4E"/>
      </a:dk2>
      <a:lt2>
        <a:srgbClr val="F1F4F7"/>
      </a:lt2>
      <a:accent1>
        <a:srgbClr val="E07A2F"/>
      </a:accent1>
      <a:accent2>
        <a:srgbClr val="3A6EA5"/>
      </a:accent2>
      <a:accent3>
        <a:srgbClr val="5E8B67"/>
      </a:accent3>
      <a:accent4>
        <a:srgbClr val="9AA0A6"/>
      </a:accent4>
      <a:accent5>
        <a:srgbClr val="C0392B"/>
      </a:accent5>
      <a:accent6>
        <a:srgbClr val="F2C14E"/>
      </a:accent6>
      <a:hlink>
        <a:srgbClr val="3A6EA5"/>
      </a:hlink>
      <a:folHlink>
        <a:srgbClr val="5B6573"/>
      </a:folHlink>
    </a:clrScheme>
    <a:fontScheme name="Turbine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Turbofan Engine RUL Prediction - Phase 1</dc:title>
  <dc:subject>PptxGenJS Presentation</dc:subject>
  <dc:creator>PptxGenJS</dc:creator>
  <cp:lastModifiedBy>PptxGenJS</cp:lastModifiedBy>
  <cp:revision>1</cp:revision>
  <dcterms:created xsi:type="dcterms:W3CDTF">2026-10-26T17:38:09Z</dcterms:created>
  <dcterms:modified xsi:type="dcterms:W3CDTF">2026-10-26T17:38:09Z</dcterms:modified>
</cp:coreProperties>
</file>