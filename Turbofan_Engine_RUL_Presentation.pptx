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6.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Engines</c:v>
                </c:pt>
              </c:strCache>
            </c:strRef>
          </c:tx>
          <c:spPr>
            <a:solidFill>
              <a:srgbClr val="0E8F9B"/>
            </a:solidFill>
            <a:effectLst/>
          </c:spPr>
          <c:invertIfNegative val="0"/>
          <c:dLbls>
            <c:numFmt formatCode="#,##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120-160</c:v>
                  </c:pt>
                  <c:pt idx="1">
                    <c:v>160-200</c:v>
                  </c:pt>
                  <c:pt idx="2">
                    <c:v>200-240</c:v>
                  </c:pt>
                  <c:pt idx="3">
                    <c:v>240-280</c:v>
                  </c:pt>
                  <c:pt idx="4">
                    <c:v>280-320</c:v>
                  </c:pt>
                  <c:pt idx="5">
                    <c:v>320-360</c:v>
                  </c:pt>
                  <c:pt idx="6">
                    <c:v>360-400</c:v>
                  </c:pt>
                </c:lvl>
              </c:multiLvlStrCache>
            </c:multiLvlStrRef>
          </c:cat>
          <c:val>
            <c:numRef>
              <c:f>Sheet1!$B$2:$B$8</c:f>
              <c:numCache>
                <c:formatCode>General</c:formatCode>
                <c:ptCount val="7"/>
                <c:pt idx="0">
                  <c:v>16</c:v>
                </c:pt>
                <c:pt idx="1">
                  <c:v>38</c:v>
                </c:pt>
                <c:pt idx="2">
                  <c:v>29</c:v>
                </c:pt>
                <c:pt idx="3">
                  <c:v>9</c:v>
                </c:pt>
                <c:pt idx="4">
                  <c:v>5</c:v>
                </c:pt>
                <c:pt idx="5">
                  <c:v>2</c:v>
                </c:pt>
                <c:pt idx="6">
                  <c:v>1</c:v>
                </c:pt>
              </c:numCache>
            </c:numRef>
          </c:val>
        </c:ser>
        <c:dLbls>
          <c:numFmt formatCode="#,##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8"/>
        <c:overlap val="0"/>
        <c:axId val="2094734554"/>
        <c:axId val="2094734552"/>
        <c:axId val="2094734556"/>
      </c:barChart>
      <c:catAx>
        <c:axId val="2094734554"/>
        <c:scaling>
          <c:orientation val="minMax"/>
        </c:scaling>
        <c:delete val="0"/>
        <c:axPos val="b"/>
        <c:title>
          <c:tx>
            <c:rich>
              <a:bodyPr/>
              <a:lstStyle/>
              <a:p>
                <a:pPr>
                  <a:defRPr sz="1300" b="0" i="0" u="none" strike="noStrike">
                    <a:solidFill>
                      <a:srgbClr val="1B2A38"/>
                    </a:solidFill>
                    <a:latin typeface="+mn-lt"/>
                  </a:defRPr>
                </a:pPr>
                <a:r>
                  <a:rPr sz="1300" b="0" i="0" u="none" strike="noStrike">
                    <a:solidFill>
                      <a:srgbClr val="1B2A38"/>
                    </a:solidFill>
                    <a:latin typeface="+mn-lt"/>
                  </a:rPr>
                  <a:t>Lifetime (cycles)</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1B2A38"/>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1B2A3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Sensor 1 (flat)</c:v>
                </c:pt>
              </c:strCache>
            </c:strRef>
          </c:tx>
          <c:spPr>
            <a:solidFill>
              <a:srgbClr val="A9B8C2"/>
            </a:solidFill>
            <a:ln w="19050" cap="flat">
              <a:solidFill>
                <a:srgbClr val="A9B8C2"/>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A9B8C2"/>
              </a:solidFill>
              <a:ln w="9525" cap="flat">
                <a:solidFill>
                  <a:srgbClr val="A9B8C2"/>
                </a:solidFill>
                <a:prstDash val="solid"/>
                <a:round/>
              </a:ln>
              <a:effectLst/>
            </c:spPr>
          </c:marker>
          <c:cat>
            <c:multiLvlStrRef>
              <c:f>Sheet1!$A$2:$A$193</c:f>
              <c:multiLvlStrCache>
                <c:ptCount val="19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lvl>
              </c:multiLvlStrCache>
            </c:multiLvlStrRef>
          </c:cat>
          <c:val>
            <c:numRef>
              <c:f>Sheet1!$B$2:$B$193</c:f>
              <c:numCache>
                <c:formatCode>General</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val>
          <c:smooth val="0"/>
        </c:ser>
        <c:ser>
          <c:idx val="1"/>
          <c:order val="1"/>
          <c:tx>
            <c:strRef>
              <c:f>Sheet1!$C$1</c:f>
              <c:strCache>
                <c:ptCount val="1"/>
                <c:pt idx="0">
                  <c:v>Sensor 4</c:v>
                </c:pt>
              </c:strCache>
            </c:strRef>
          </c:tx>
          <c:spPr>
            <a:solidFill>
              <a:srgbClr val="0E8F9B"/>
            </a:solidFill>
            <a:ln w="19050" cap="flat">
              <a:solidFill>
                <a:srgbClr val="0E8F9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0E8F9B"/>
              </a:solidFill>
              <a:ln w="9525" cap="flat">
                <a:solidFill>
                  <a:srgbClr val="0E8F9B"/>
                </a:solidFill>
                <a:prstDash val="solid"/>
                <a:round/>
              </a:ln>
              <a:effectLst/>
            </c:spPr>
          </c:marker>
          <c:cat>
            <c:multiLvlStrRef>
              <c:f>Sheet1!$A$2:$A$193</c:f>
              <c:multiLvlStrCache>
                <c:ptCount val="19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lvl>
              </c:multiLvlStrCache>
            </c:multiLvlStrRef>
          </c:cat>
          <c:val>
            <c:numRef>
              <c:f>Sheet1!$C$2:$C$193</c:f>
              <c:numCache>
                <c:formatCode>General</c:formatCode>
                <c:ptCount val="192"/>
                <c:pt idx="0">
                  <c:v>0</c:v>
                </c:pt>
                <c:pt idx="1">
                  <c:v>0.181</c:v>
                </c:pt>
                <c:pt idx="2">
                  <c:v>0.257</c:v>
                </c:pt>
                <c:pt idx="3">
                  <c:v>0.091</c:v>
                </c:pt>
                <c:pt idx="4">
                  <c:v>0.401</c:v>
                </c:pt>
                <c:pt idx="5">
                  <c:v>-0.159</c:v>
                </c:pt>
                <c:pt idx="6">
                  <c:v>-0.202</c:v>
                </c:pt>
                <c:pt idx="7">
                  <c:v>0.026</c:v>
                </c:pt>
                <c:pt idx="8">
                  <c:v>-0.414</c:v>
                </c:pt>
                <c:pt idx="9">
                  <c:v>-0.01</c:v>
                </c:pt>
                <c:pt idx="10">
                  <c:v>0.003</c:v>
                </c:pt>
                <c:pt idx="11">
                  <c:v>-0.032</c:v>
                </c:pt>
                <c:pt idx="12">
                  <c:v>0.016</c:v>
                </c:pt>
                <c:pt idx="13">
                  <c:v>-0.103</c:v>
                </c:pt>
                <c:pt idx="14">
                  <c:v>0.109</c:v>
                </c:pt>
                <c:pt idx="15">
                  <c:v>0.278</c:v>
                </c:pt>
                <c:pt idx="16">
                  <c:v>-0.046</c:v>
                </c:pt>
                <c:pt idx="17">
                  <c:v>-0.32</c:v>
                </c:pt>
                <c:pt idx="18">
                  <c:v>-0.018</c:v>
                </c:pt>
                <c:pt idx="19">
                  <c:v>0.331</c:v>
                </c:pt>
                <c:pt idx="20">
                  <c:v>-0.176</c:v>
                </c:pt>
                <c:pt idx="21">
                  <c:v>-0.002</c:v>
                </c:pt>
                <c:pt idx="22">
                  <c:v>-0.418</c:v>
                </c:pt>
                <c:pt idx="23">
                  <c:v>-0.128</c:v>
                </c:pt>
                <c:pt idx="24">
                  <c:v>-0.086</c:v>
                </c:pt>
                <c:pt idx="25">
                  <c:v>-0.323</c:v>
                </c:pt>
                <c:pt idx="26">
                  <c:v>0.089</c:v>
                </c:pt>
                <c:pt idx="27">
                  <c:v>-0.105</c:v>
                </c:pt>
                <c:pt idx="28">
                  <c:v>0.028</c:v>
                </c:pt>
                <c:pt idx="29">
                  <c:v>-0.323</c:v>
                </c:pt>
                <c:pt idx="30">
                  <c:v>-0.264</c:v>
                </c:pt>
                <c:pt idx="31">
                  <c:v>-0.017</c:v>
                </c:pt>
                <c:pt idx="32">
                  <c:v>0.131</c:v>
                </c:pt>
                <c:pt idx="33">
                  <c:v>-0.009</c:v>
                </c:pt>
                <c:pt idx="34">
                  <c:v>0.171</c:v>
                </c:pt>
                <c:pt idx="35">
                  <c:v>0.353</c:v>
                </c:pt>
                <c:pt idx="36">
                  <c:v>-0.121</c:v>
                </c:pt>
                <c:pt idx="37">
                  <c:v>-0.079</c:v>
                </c:pt>
                <c:pt idx="38">
                  <c:v>0.006</c:v>
                </c:pt>
                <c:pt idx="39">
                  <c:v>0.084</c:v>
                </c:pt>
                <c:pt idx="40">
                  <c:v>0.186</c:v>
                </c:pt>
                <c:pt idx="41">
                  <c:v>0.056</c:v>
                </c:pt>
                <c:pt idx="42">
                  <c:v>0.389</c:v>
                </c:pt>
                <c:pt idx="43">
                  <c:v>0.043</c:v>
                </c:pt>
                <c:pt idx="44">
                  <c:v>-0.103</c:v>
                </c:pt>
                <c:pt idx="45">
                  <c:v>0.048</c:v>
                </c:pt>
                <c:pt idx="46">
                  <c:v>0.164</c:v>
                </c:pt>
                <c:pt idx="47">
                  <c:v>-0.103</c:v>
                </c:pt>
                <c:pt idx="48">
                  <c:v>-0.203</c:v>
                </c:pt>
                <c:pt idx="49">
                  <c:v>0.216</c:v>
                </c:pt>
                <c:pt idx="50">
                  <c:v>-0.013</c:v>
                </c:pt>
                <c:pt idx="51">
                  <c:v>-0.359</c:v>
                </c:pt>
                <c:pt idx="52">
                  <c:v>0.119</c:v>
                </c:pt>
                <c:pt idx="53">
                  <c:v>0.043</c:v>
                </c:pt>
                <c:pt idx="54">
                  <c:v>0.07</c:v>
                </c:pt>
                <c:pt idx="55">
                  <c:v>0.011</c:v>
                </c:pt>
                <c:pt idx="56">
                  <c:v>0.156</c:v>
                </c:pt>
                <c:pt idx="57">
                  <c:v>-0.186</c:v>
                </c:pt>
                <c:pt idx="58">
                  <c:v>0.208</c:v>
                </c:pt>
                <c:pt idx="59">
                  <c:v>0.176</c:v>
                </c:pt>
                <c:pt idx="60">
                  <c:v>0.351</c:v>
                </c:pt>
                <c:pt idx="61">
                  <c:v>-0.076</c:v>
                </c:pt>
                <c:pt idx="62">
                  <c:v>-0.373</c:v>
                </c:pt>
                <c:pt idx="63">
                  <c:v>-0.035</c:v>
                </c:pt>
                <c:pt idx="64">
                  <c:v>0.188</c:v>
                </c:pt>
                <c:pt idx="65">
                  <c:v>-0.077</c:v>
                </c:pt>
                <c:pt idx="66">
                  <c:v>0.173</c:v>
                </c:pt>
                <c:pt idx="67">
                  <c:v>0.273</c:v>
                </c:pt>
                <c:pt idx="68">
                  <c:v>0.046</c:v>
                </c:pt>
                <c:pt idx="69">
                  <c:v>0.156</c:v>
                </c:pt>
                <c:pt idx="70">
                  <c:v>0.178</c:v>
                </c:pt>
                <c:pt idx="71">
                  <c:v>0.443</c:v>
                </c:pt>
                <c:pt idx="72">
                  <c:v>-0.191</c:v>
                </c:pt>
                <c:pt idx="73">
                  <c:v>0.063</c:v>
                </c:pt>
                <c:pt idx="74">
                  <c:v>-0.413</c:v>
                </c:pt>
                <c:pt idx="75">
                  <c:v>-0.119</c:v>
                </c:pt>
                <c:pt idx="76">
                  <c:v>0.026</c:v>
                </c:pt>
                <c:pt idx="77">
                  <c:v>0.25</c:v>
                </c:pt>
                <c:pt idx="78">
                  <c:v>0.238</c:v>
                </c:pt>
                <c:pt idx="79">
                  <c:v>-0.501</c:v>
                </c:pt>
                <c:pt idx="80">
                  <c:v>0.103</c:v>
                </c:pt>
                <c:pt idx="81">
                  <c:v>-0.102</c:v>
                </c:pt>
                <c:pt idx="82">
                  <c:v>0.413</c:v>
                </c:pt>
                <c:pt idx="83">
                  <c:v>0.428</c:v>
                </c:pt>
                <c:pt idx="84">
                  <c:v>0.383</c:v>
                </c:pt>
                <c:pt idx="85">
                  <c:v>0.211</c:v>
                </c:pt>
                <c:pt idx="86">
                  <c:v>0.892</c:v>
                </c:pt>
                <c:pt idx="87">
                  <c:v>0.392</c:v>
                </c:pt>
                <c:pt idx="88">
                  <c:v>0.116</c:v>
                </c:pt>
                <c:pt idx="89">
                  <c:v>0.88</c:v>
                </c:pt>
                <c:pt idx="90">
                  <c:v>0.297</c:v>
                </c:pt>
                <c:pt idx="91">
                  <c:v>0.012</c:v>
                </c:pt>
                <c:pt idx="92">
                  <c:v>0.563</c:v>
                </c:pt>
                <c:pt idx="93">
                  <c:v>0.31</c:v>
                </c:pt>
                <c:pt idx="94">
                  <c:v>0.678</c:v>
                </c:pt>
                <c:pt idx="95">
                  <c:v>-0.388</c:v>
                </c:pt>
                <c:pt idx="96">
                  <c:v>0.515</c:v>
                </c:pt>
                <c:pt idx="97">
                  <c:v>0.283</c:v>
                </c:pt>
                <c:pt idx="98">
                  <c:v>0.395</c:v>
                </c:pt>
                <c:pt idx="99">
                  <c:v>0.768</c:v>
                </c:pt>
                <c:pt idx="100">
                  <c:v>0.201</c:v>
                </c:pt>
                <c:pt idx="101">
                  <c:v>0.201</c:v>
                </c:pt>
                <c:pt idx="102">
                  <c:v>0.186</c:v>
                </c:pt>
                <c:pt idx="103">
                  <c:v>0.403</c:v>
                </c:pt>
                <c:pt idx="104">
                  <c:v>0.187</c:v>
                </c:pt>
                <c:pt idx="105">
                  <c:v>0.275</c:v>
                </c:pt>
                <c:pt idx="106">
                  <c:v>0.509</c:v>
                </c:pt>
                <c:pt idx="107">
                  <c:v>-0.081</c:v>
                </c:pt>
                <c:pt idx="108">
                  <c:v>0.607</c:v>
                </c:pt>
                <c:pt idx="109">
                  <c:v>0.048</c:v>
                </c:pt>
                <c:pt idx="110">
                  <c:v>0.536</c:v>
                </c:pt>
                <c:pt idx="111">
                  <c:v>0.089</c:v>
                </c:pt>
                <c:pt idx="112">
                  <c:v>0.428</c:v>
                </c:pt>
                <c:pt idx="113">
                  <c:v>0.169</c:v>
                </c:pt>
                <c:pt idx="114">
                  <c:v>0.428</c:v>
                </c:pt>
                <c:pt idx="115">
                  <c:v>0.099</c:v>
                </c:pt>
                <c:pt idx="116">
                  <c:v>0.625</c:v>
                </c:pt>
                <c:pt idx="117">
                  <c:v>0.624</c:v>
                </c:pt>
                <c:pt idx="118">
                  <c:v>0.276</c:v>
                </c:pt>
                <c:pt idx="119">
                  <c:v>0.505</c:v>
                </c:pt>
                <c:pt idx="120">
                  <c:v>0.807</c:v>
                </c:pt>
                <c:pt idx="121">
                  <c:v>0.955</c:v>
                </c:pt>
                <c:pt idx="122">
                  <c:v>0.174</c:v>
                </c:pt>
                <c:pt idx="123">
                  <c:v>0.12</c:v>
                </c:pt>
                <c:pt idx="124">
                  <c:v>0.416</c:v>
                </c:pt>
                <c:pt idx="125">
                  <c:v>1.278</c:v>
                </c:pt>
                <c:pt idx="126">
                  <c:v>-0.079</c:v>
                </c:pt>
                <c:pt idx="127">
                  <c:v>0.461</c:v>
                </c:pt>
                <c:pt idx="128">
                  <c:v>0.558</c:v>
                </c:pt>
                <c:pt idx="129">
                  <c:v>0.832</c:v>
                </c:pt>
                <c:pt idx="130">
                  <c:v>0.903</c:v>
                </c:pt>
                <c:pt idx="131">
                  <c:v>0.368</c:v>
                </c:pt>
                <c:pt idx="132">
                  <c:v>0.679</c:v>
                </c:pt>
                <c:pt idx="133">
                  <c:v>0.148</c:v>
                </c:pt>
                <c:pt idx="134">
                  <c:v>0.445</c:v>
                </c:pt>
                <c:pt idx="135">
                  <c:v>0.271</c:v>
                </c:pt>
                <c:pt idx="136">
                  <c:v>0.325</c:v>
                </c:pt>
                <c:pt idx="137">
                  <c:v>0.91</c:v>
                </c:pt>
                <c:pt idx="138">
                  <c:v>0.857</c:v>
                </c:pt>
                <c:pt idx="139">
                  <c:v>0.554</c:v>
                </c:pt>
                <c:pt idx="140">
                  <c:v>1.046</c:v>
                </c:pt>
                <c:pt idx="141">
                  <c:v>0.915</c:v>
                </c:pt>
                <c:pt idx="142">
                  <c:v>0.258</c:v>
                </c:pt>
                <c:pt idx="143">
                  <c:v>0.368</c:v>
                </c:pt>
                <c:pt idx="144">
                  <c:v>0.645</c:v>
                </c:pt>
                <c:pt idx="145">
                  <c:v>0.587</c:v>
                </c:pt>
                <c:pt idx="146">
                  <c:v>0.668</c:v>
                </c:pt>
                <c:pt idx="147">
                  <c:v>0.806</c:v>
                </c:pt>
                <c:pt idx="148">
                  <c:v>0.721</c:v>
                </c:pt>
                <c:pt idx="149">
                  <c:v>0.615</c:v>
                </c:pt>
                <c:pt idx="150">
                  <c:v>0.81</c:v>
                </c:pt>
                <c:pt idx="151">
                  <c:v>1.444</c:v>
                </c:pt>
                <c:pt idx="152">
                  <c:v>0.997</c:v>
                </c:pt>
                <c:pt idx="153">
                  <c:v>1.105</c:v>
                </c:pt>
                <c:pt idx="154">
                  <c:v>1.02</c:v>
                </c:pt>
                <c:pt idx="155">
                  <c:v>1.473</c:v>
                </c:pt>
                <c:pt idx="156">
                  <c:v>0.847</c:v>
                </c:pt>
                <c:pt idx="157">
                  <c:v>0.678</c:v>
                </c:pt>
                <c:pt idx="158">
                  <c:v>1.412</c:v>
                </c:pt>
                <c:pt idx="159">
                  <c:v>1.248</c:v>
                </c:pt>
                <c:pt idx="160">
                  <c:v>1.193</c:v>
                </c:pt>
                <c:pt idx="161">
                  <c:v>1.634</c:v>
                </c:pt>
                <c:pt idx="162">
                  <c:v>1.463</c:v>
                </c:pt>
                <c:pt idx="163">
                  <c:v>1.154</c:v>
                </c:pt>
                <c:pt idx="164">
                  <c:v>0.535</c:v>
                </c:pt>
                <c:pt idx="165">
                  <c:v>1.554</c:v>
                </c:pt>
                <c:pt idx="166">
                  <c:v>1.008</c:v>
                </c:pt>
                <c:pt idx="167">
                  <c:v>1.078</c:v>
                </c:pt>
                <c:pt idx="168">
                  <c:v>1.246</c:v>
                </c:pt>
                <c:pt idx="169">
                  <c:v>1.2</c:v>
                </c:pt>
                <c:pt idx="170">
                  <c:v>1.027</c:v>
                </c:pt>
                <c:pt idx="171">
                  <c:v>0.937</c:v>
                </c:pt>
                <c:pt idx="172">
                  <c:v>1.761</c:v>
                </c:pt>
                <c:pt idx="173">
                  <c:v>1.569</c:v>
                </c:pt>
                <c:pt idx="174">
                  <c:v>1.565</c:v>
                </c:pt>
                <c:pt idx="175">
                  <c:v>1.58</c:v>
                </c:pt>
                <c:pt idx="176">
                  <c:v>1.67</c:v>
                </c:pt>
                <c:pt idx="177">
                  <c:v>1.717</c:v>
                </c:pt>
                <c:pt idx="178">
                  <c:v>2.06</c:v>
                </c:pt>
                <c:pt idx="179">
                  <c:v>1.181</c:v>
                </c:pt>
                <c:pt idx="180">
                  <c:v>1.431</c:v>
                </c:pt>
                <c:pt idx="181">
                  <c:v>1.858</c:v>
                </c:pt>
                <c:pt idx="182">
                  <c:v>1.316</c:v>
                </c:pt>
                <c:pt idx="183">
                  <c:v>2.279</c:v>
                </c:pt>
                <c:pt idx="184">
                  <c:v>1.699</c:v>
                </c:pt>
                <c:pt idx="185">
                  <c:v>1.835</c:v>
                </c:pt>
                <c:pt idx="186">
                  <c:v>1.904</c:v>
                </c:pt>
                <c:pt idx="187">
                  <c:v>1.584</c:v>
                </c:pt>
                <c:pt idx="188">
                  <c:v>1.957</c:v>
                </c:pt>
                <c:pt idx="189">
                  <c:v>1.81</c:v>
                </c:pt>
                <c:pt idx="190">
                  <c:v>1.797</c:v>
                </c:pt>
                <c:pt idx="191">
                  <c:v>1.899</c:v>
                </c:pt>
              </c:numCache>
            </c:numRef>
          </c:val>
          <c:smooth val="0"/>
        </c:ser>
        <c:ser>
          <c:idx val="2"/>
          <c:order val="2"/>
          <c:tx>
            <c:strRef>
              <c:f>Sheet1!$D$1</c:f>
              <c:strCache>
                <c:ptCount val="1"/>
                <c:pt idx="0">
                  <c:v>Sensor 11</c:v>
                </c:pt>
              </c:strCache>
            </c:strRef>
          </c:tx>
          <c:spPr>
            <a:solidFill>
              <a:srgbClr val="F2A541"/>
            </a:solidFill>
            <a:ln w="19050" cap="flat">
              <a:solidFill>
                <a:srgbClr val="F2A541"/>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F2A541"/>
              </a:solidFill>
              <a:ln w="9525" cap="flat">
                <a:solidFill>
                  <a:srgbClr val="F2A541"/>
                </a:solidFill>
                <a:prstDash val="solid"/>
                <a:round/>
              </a:ln>
              <a:effectLst/>
            </c:spPr>
          </c:marker>
          <c:cat>
            <c:multiLvlStrRef>
              <c:f>Sheet1!$A$2:$A$193</c:f>
              <c:multiLvlStrCache>
                <c:ptCount val="19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lvl>
              </c:multiLvlStrCache>
            </c:multiLvlStrRef>
          </c:cat>
          <c:val>
            <c:numRef>
              <c:f>Sheet1!$D$2:$D$193</c:f>
              <c:numCache>
                <c:formatCode>General</c:formatCode>
                <c:ptCount val="192"/>
                <c:pt idx="0">
                  <c:v>0</c:v>
                </c:pt>
                <c:pt idx="1">
                  <c:v>0.042</c:v>
                </c:pt>
                <c:pt idx="2">
                  <c:v>-0.421</c:v>
                </c:pt>
                <c:pt idx="3">
                  <c:v>-0.716</c:v>
                </c:pt>
                <c:pt idx="4">
                  <c:v>-0.4</c:v>
                </c:pt>
                <c:pt idx="5">
                  <c:v>-0.653</c:v>
                </c:pt>
                <c:pt idx="6">
                  <c:v>-0.232</c:v>
                </c:pt>
                <c:pt idx="7">
                  <c:v>-0.485</c:v>
                </c:pt>
                <c:pt idx="8">
                  <c:v>-0.379</c:v>
                </c:pt>
                <c:pt idx="9">
                  <c:v>-0.927</c:v>
                </c:pt>
                <c:pt idx="10">
                  <c:v>-0.674</c:v>
                </c:pt>
                <c:pt idx="11">
                  <c:v>-0.611</c:v>
                </c:pt>
                <c:pt idx="12">
                  <c:v>-0.19</c:v>
                </c:pt>
                <c:pt idx="13">
                  <c:v>-0.063</c:v>
                </c:pt>
                <c:pt idx="14">
                  <c:v>-0.358</c:v>
                </c:pt>
                <c:pt idx="15">
                  <c:v>-0.485</c:v>
                </c:pt>
                <c:pt idx="16">
                  <c:v>-0.737</c:v>
                </c:pt>
                <c:pt idx="17">
                  <c:v>-0.548</c:v>
                </c:pt>
                <c:pt idx="18">
                  <c:v>-0.147</c:v>
                </c:pt>
                <c:pt idx="19">
                  <c:v>-0.527</c:v>
                </c:pt>
                <c:pt idx="20">
                  <c:v>-0.674</c:v>
                </c:pt>
                <c:pt idx="21">
                  <c:v>-0.485</c:v>
                </c:pt>
                <c:pt idx="22">
                  <c:v>-0.463</c:v>
                </c:pt>
                <c:pt idx="23">
                  <c:v>-0.063</c:v>
                </c:pt>
                <c:pt idx="24">
                  <c:v>-0.232</c:v>
                </c:pt>
                <c:pt idx="25">
                  <c:v>-0.442</c:v>
                </c:pt>
                <c:pt idx="26">
                  <c:v>-0.211</c:v>
                </c:pt>
                <c:pt idx="27">
                  <c:v>-0.126</c:v>
                </c:pt>
                <c:pt idx="28">
                  <c:v>-0.485</c:v>
                </c:pt>
                <c:pt idx="29">
                  <c:v>-0.147</c:v>
                </c:pt>
                <c:pt idx="30">
                  <c:v>-0.126</c:v>
                </c:pt>
                <c:pt idx="31">
                  <c:v>-0.463</c:v>
                </c:pt>
                <c:pt idx="32">
                  <c:v>-0.4</c:v>
                </c:pt>
                <c:pt idx="33">
                  <c:v>0</c:v>
                </c:pt>
                <c:pt idx="34">
                  <c:v>-0.337</c:v>
                </c:pt>
                <c:pt idx="35">
                  <c:v>-0.463</c:v>
                </c:pt>
                <c:pt idx="36">
                  <c:v>-0.379</c:v>
                </c:pt>
                <c:pt idx="37">
                  <c:v>-0.421</c:v>
                </c:pt>
                <c:pt idx="38">
                  <c:v>-0.737</c:v>
                </c:pt>
                <c:pt idx="39">
                  <c:v>-0.295</c:v>
                </c:pt>
                <c:pt idx="40">
                  <c:v>-0.801</c:v>
                </c:pt>
                <c:pt idx="41">
                  <c:v>0.042</c:v>
                </c:pt>
                <c:pt idx="42">
                  <c:v>-0.316</c:v>
                </c:pt>
                <c:pt idx="43">
                  <c:v>-0.042</c:v>
                </c:pt>
                <c:pt idx="44">
                  <c:v>-0.042</c:v>
                </c:pt>
                <c:pt idx="45">
                  <c:v>-0.569</c:v>
                </c:pt>
                <c:pt idx="46">
                  <c:v>-0.527</c:v>
                </c:pt>
                <c:pt idx="47">
                  <c:v>-0.147</c:v>
                </c:pt>
                <c:pt idx="48">
                  <c:v>-0.527</c:v>
                </c:pt>
                <c:pt idx="49">
                  <c:v>0</c:v>
                </c:pt>
                <c:pt idx="50">
                  <c:v>-0.737</c:v>
                </c:pt>
                <c:pt idx="51">
                  <c:v>-0.843</c:v>
                </c:pt>
                <c:pt idx="52">
                  <c:v>-0.379</c:v>
                </c:pt>
                <c:pt idx="53">
                  <c:v>-0.19</c:v>
                </c:pt>
                <c:pt idx="54">
                  <c:v>-0.147</c:v>
                </c:pt>
                <c:pt idx="55">
                  <c:v>-0.442</c:v>
                </c:pt>
                <c:pt idx="56">
                  <c:v>-0.379</c:v>
                </c:pt>
                <c:pt idx="57">
                  <c:v>-0.442</c:v>
                </c:pt>
                <c:pt idx="58">
                  <c:v>-0.442</c:v>
                </c:pt>
                <c:pt idx="59">
                  <c:v>-0.126</c:v>
                </c:pt>
                <c:pt idx="60">
                  <c:v>-0.337</c:v>
                </c:pt>
                <c:pt idx="61">
                  <c:v>-0.4</c:v>
                </c:pt>
                <c:pt idx="62">
                  <c:v>0.084</c:v>
                </c:pt>
                <c:pt idx="63">
                  <c:v>-0.042</c:v>
                </c:pt>
                <c:pt idx="64">
                  <c:v>0.19</c:v>
                </c:pt>
                <c:pt idx="65">
                  <c:v>-0.695</c:v>
                </c:pt>
                <c:pt idx="66">
                  <c:v>-0.169</c:v>
                </c:pt>
                <c:pt idx="67">
                  <c:v>-0.232</c:v>
                </c:pt>
                <c:pt idx="68">
                  <c:v>-0.126</c:v>
                </c:pt>
                <c:pt idx="69">
                  <c:v>-0.126</c:v>
                </c:pt>
                <c:pt idx="70">
                  <c:v>-0.358</c:v>
                </c:pt>
                <c:pt idx="71">
                  <c:v>-0.421</c:v>
                </c:pt>
                <c:pt idx="72">
                  <c:v>-0.379</c:v>
                </c:pt>
                <c:pt idx="73">
                  <c:v>0.232</c:v>
                </c:pt>
                <c:pt idx="74">
                  <c:v>-0.527</c:v>
                </c:pt>
                <c:pt idx="75">
                  <c:v>-0.063</c:v>
                </c:pt>
                <c:pt idx="76">
                  <c:v>-0.126</c:v>
                </c:pt>
                <c:pt idx="77">
                  <c:v>-0.147</c:v>
                </c:pt>
                <c:pt idx="78">
                  <c:v>-0.253</c:v>
                </c:pt>
                <c:pt idx="79">
                  <c:v>0.358</c:v>
                </c:pt>
                <c:pt idx="80">
                  <c:v>-0.084</c:v>
                </c:pt>
                <c:pt idx="81">
                  <c:v>-0.463</c:v>
                </c:pt>
                <c:pt idx="82">
                  <c:v>-0.527</c:v>
                </c:pt>
                <c:pt idx="83">
                  <c:v>-0.19</c:v>
                </c:pt>
                <c:pt idx="84">
                  <c:v>-0.232</c:v>
                </c:pt>
                <c:pt idx="85">
                  <c:v>-0.19</c:v>
                </c:pt>
                <c:pt idx="86">
                  <c:v>-0.274</c:v>
                </c:pt>
                <c:pt idx="87">
                  <c:v>-0.021</c:v>
                </c:pt>
                <c:pt idx="88">
                  <c:v>-0.021</c:v>
                </c:pt>
                <c:pt idx="89">
                  <c:v>-0.316</c:v>
                </c:pt>
                <c:pt idx="90">
                  <c:v>-0.316</c:v>
                </c:pt>
                <c:pt idx="91">
                  <c:v>-0.042</c:v>
                </c:pt>
                <c:pt idx="92">
                  <c:v>-0.021</c:v>
                </c:pt>
                <c:pt idx="93">
                  <c:v>0.021</c:v>
                </c:pt>
                <c:pt idx="94">
                  <c:v>-0.19</c:v>
                </c:pt>
                <c:pt idx="95">
                  <c:v>-0.169</c:v>
                </c:pt>
                <c:pt idx="96">
                  <c:v>-0.021</c:v>
                </c:pt>
                <c:pt idx="97">
                  <c:v>-0.211</c:v>
                </c:pt>
                <c:pt idx="98">
                  <c:v>-0.147</c:v>
                </c:pt>
                <c:pt idx="99">
                  <c:v>0.358</c:v>
                </c:pt>
                <c:pt idx="100">
                  <c:v>0.316</c:v>
                </c:pt>
                <c:pt idx="101">
                  <c:v>0.042</c:v>
                </c:pt>
                <c:pt idx="102">
                  <c:v>0.211</c:v>
                </c:pt>
                <c:pt idx="103">
                  <c:v>-0.274</c:v>
                </c:pt>
                <c:pt idx="104">
                  <c:v>-0.337</c:v>
                </c:pt>
                <c:pt idx="105">
                  <c:v>-0.063</c:v>
                </c:pt>
                <c:pt idx="106">
                  <c:v>-0.253</c:v>
                </c:pt>
                <c:pt idx="107">
                  <c:v>0.295</c:v>
                </c:pt>
                <c:pt idx="108">
                  <c:v>0.232</c:v>
                </c:pt>
                <c:pt idx="109">
                  <c:v>0.169</c:v>
                </c:pt>
                <c:pt idx="110">
                  <c:v>0.316</c:v>
                </c:pt>
                <c:pt idx="111">
                  <c:v>-0.527</c:v>
                </c:pt>
                <c:pt idx="112">
                  <c:v>-0.021</c:v>
                </c:pt>
                <c:pt idx="113">
                  <c:v>0.232</c:v>
                </c:pt>
                <c:pt idx="114">
                  <c:v>-0.084</c:v>
                </c:pt>
                <c:pt idx="115">
                  <c:v>-0.084</c:v>
                </c:pt>
                <c:pt idx="116">
                  <c:v>0.105</c:v>
                </c:pt>
                <c:pt idx="117">
                  <c:v>0.169</c:v>
                </c:pt>
                <c:pt idx="118">
                  <c:v>0.169</c:v>
                </c:pt>
                <c:pt idx="119">
                  <c:v>0.274</c:v>
                </c:pt>
                <c:pt idx="120">
                  <c:v>-0.063</c:v>
                </c:pt>
                <c:pt idx="121">
                  <c:v>0.274</c:v>
                </c:pt>
                <c:pt idx="122">
                  <c:v>-0.126</c:v>
                </c:pt>
                <c:pt idx="123">
                  <c:v>0.169</c:v>
                </c:pt>
                <c:pt idx="124">
                  <c:v>0.337</c:v>
                </c:pt>
                <c:pt idx="125">
                  <c:v>0.042</c:v>
                </c:pt>
                <c:pt idx="126">
                  <c:v>0.337</c:v>
                </c:pt>
                <c:pt idx="127">
                  <c:v>0.316</c:v>
                </c:pt>
                <c:pt idx="128">
                  <c:v>0.295</c:v>
                </c:pt>
                <c:pt idx="129">
                  <c:v>-0.021</c:v>
                </c:pt>
                <c:pt idx="130">
                  <c:v>0.485</c:v>
                </c:pt>
                <c:pt idx="131">
                  <c:v>0.19</c:v>
                </c:pt>
                <c:pt idx="132">
                  <c:v>0.211</c:v>
                </c:pt>
                <c:pt idx="133">
                  <c:v>0.59</c:v>
                </c:pt>
                <c:pt idx="134">
                  <c:v>-0.274</c:v>
                </c:pt>
                <c:pt idx="135">
                  <c:v>-0.084</c:v>
                </c:pt>
                <c:pt idx="136">
                  <c:v>0.885</c:v>
                </c:pt>
                <c:pt idx="137">
                  <c:v>-0.147</c:v>
                </c:pt>
                <c:pt idx="138">
                  <c:v>0.421</c:v>
                </c:pt>
                <c:pt idx="139">
                  <c:v>0.084</c:v>
                </c:pt>
                <c:pt idx="140">
                  <c:v>0.042</c:v>
                </c:pt>
                <c:pt idx="141">
                  <c:v>0.253</c:v>
                </c:pt>
                <c:pt idx="142">
                  <c:v>0.105</c:v>
                </c:pt>
                <c:pt idx="143">
                  <c:v>0.211</c:v>
                </c:pt>
                <c:pt idx="144">
                  <c:v>0.147</c:v>
                </c:pt>
                <c:pt idx="145">
                  <c:v>0.337</c:v>
                </c:pt>
                <c:pt idx="146">
                  <c:v>0.695</c:v>
                </c:pt>
                <c:pt idx="147">
                  <c:v>0.042</c:v>
                </c:pt>
                <c:pt idx="148">
                  <c:v>0.758</c:v>
                </c:pt>
                <c:pt idx="149">
                  <c:v>0.274</c:v>
                </c:pt>
                <c:pt idx="150">
                  <c:v>0.232</c:v>
                </c:pt>
                <c:pt idx="151">
                  <c:v>0.527</c:v>
                </c:pt>
                <c:pt idx="152">
                  <c:v>0.569</c:v>
                </c:pt>
                <c:pt idx="153">
                  <c:v>0.548</c:v>
                </c:pt>
                <c:pt idx="154">
                  <c:v>0.295</c:v>
                </c:pt>
                <c:pt idx="155">
                  <c:v>0.232</c:v>
                </c:pt>
                <c:pt idx="156">
                  <c:v>0.527</c:v>
                </c:pt>
                <c:pt idx="157">
                  <c:v>0.442</c:v>
                </c:pt>
                <c:pt idx="158">
                  <c:v>0.611</c:v>
                </c:pt>
                <c:pt idx="159">
                  <c:v>0.779</c:v>
                </c:pt>
                <c:pt idx="160">
                  <c:v>0.632</c:v>
                </c:pt>
                <c:pt idx="161">
                  <c:v>0.674</c:v>
                </c:pt>
                <c:pt idx="162">
                  <c:v>0.885</c:v>
                </c:pt>
                <c:pt idx="163">
                  <c:v>0.485</c:v>
                </c:pt>
                <c:pt idx="164">
                  <c:v>0.885</c:v>
                </c:pt>
                <c:pt idx="165">
                  <c:v>0.822</c:v>
                </c:pt>
                <c:pt idx="166">
                  <c:v>0.801</c:v>
                </c:pt>
                <c:pt idx="167">
                  <c:v>0.779</c:v>
                </c:pt>
                <c:pt idx="168">
                  <c:v>0.864</c:v>
                </c:pt>
                <c:pt idx="169">
                  <c:v>0.822</c:v>
                </c:pt>
                <c:pt idx="170">
                  <c:v>1.18</c:v>
                </c:pt>
                <c:pt idx="171">
                  <c:v>1.264</c:v>
                </c:pt>
                <c:pt idx="172">
                  <c:v>0.906</c:v>
                </c:pt>
                <c:pt idx="173">
                  <c:v>1.116</c:v>
                </c:pt>
                <c:pt idx="174">
                  <c:v>0.822</c:v>
                </c:pt>
                <c:pt idx="175">
                  <c:v>0.779</c:v>
                </c:pt>
                <c:pt idx="176">
                  <c:v>1.18</c:v>
                </c:pt>
                <c:pt idx="177">
                  <c:v>1.116</c:v>
                </c:pt>
                <c:pt idx="178">
                  <c:v>1.159</c:v>
                </c:pt>
                <c:pt idx="179">
                  <c:v>0.801</c:v>
                </c:pt>
                <c:pt idx="180">
                  <c:v>1.327</c:v>
                </c:pt>
                <c:pt idx="181">
                  <c:v>1.074</c:v>
                </c:pt>
                <c:pt idx="182">
                  <c:v>1.18</c:v>
                </c:pt>
                <c:pt idx="183">
                  <c:v>1.264</c:v>
                </c:pt>
                <c:pt idx="184">
                  <c:v>1.432</c:v>
                </c:pt>
                <c:pt idx="185">
                  <c:v>1.369</c:v>
                </c:pt>
                <c:pt idx="186">
                  <c:v>1.601</c:v>
                </c:pt>
                <c:pt idx="187">
                  <c:v>1.116</c:v>
                </c:pt>
                <c:pt idx="188">
                  <c:v>1.285</c:v>
                </c:pt>
                <c:pt idx="189">
                  <c:v>1.812</c:v>
                </c:pt>
                <c:pt idx="190">
                  <c:v>1.432</c:v>
                </c:pt>
                <c:pt idx="191">
                  <c:v>1.643</c:v>
                </c:pt>
              </c:numCache>
            </c:numRef>
          </c:val>
          <c:smooth val="0"/>
        </c:ser>
        <c:ser>
          <c:idx val="3"/>
          <c:order val="3"/>
          <c:tx>
            <c:strRef>
              <c:f>Sheet1!$E$1</c:f>
              <c:strCache>
                <c:ptCount val="1"/>
                <c:pt idx="0">
                  <c:v>Sensor 12</c:v>
                </c:pt>
              </c:strCache>
            </c:strRef>
          </c:tx>
          <c:spPr>
            <a:solidFill>
              <a:srgbClr val="2E5C8A"/>
            </a:solidFill>
            <a:ln w="19050" cap="flat">
              <a:solidFill>
                <a:srgbClr val="2E5C8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2E5C8A"/>
              </a:solidFill>
              <a:ln w="9525" cap="flat">
                <a:solidFill>
                  <a:srgbClr val="2E5C8A"/>
                </a:solidFill>
                <a:prstDash val="solid"/>
                <a:round/>
              </a:ln>
              <a:effectLst/>
            </c:spPr>
          </c:marker>
          <c:cat>
            <c:multiLvlStrRef>
              <c:f>Sheet1!$A$2:$A$193</c:f>
              <c:multiLvlStrCache>
                <c:ptCount val="19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lvl>
              </c:multiLvlStrCache>
            </c:multiLvlStrRef>
          </c:cat>
          <c:val>
            <c:numRef>
              <c:f>Sheet1!$E$2:$E$193</c:f>
              <c:numCache>
                <c:formatCode>General</c:formatCode>
                <c:ptCount val="192"/>
                <c:pt idx="0">
                  <c:v>0</c:v>
                </c:pt>
                <c:pt idx="1">
                  <c:v>0.119</c:v>
                </c:pt>
                <c:pt idx="2">
                  <c:v>0.146</c:v>
                </c:pt>
                <c:pt idx="3">
                  <c:v>0.23</c:v>
                </c:pt>
                <c:pt idx="4">
                  <c:v>0.102</c:v>
                </c:pt>
                <c:pt idx="5">
                  <c:v>0.004</c:v>
                </c:pt>
                <c:pt idx="6">
                  <c:v>0.127</c:v>
                </c:pt>
                <c:pt idx="7">
                  <c:v>0.155</c:v>
                </c:pt>
                <c:pt idx="8">
                  <c:v>0.025</c:v>
                </c:pt>
                <c:pt idx="9">
                  <c:v>0.025</c:v>
                </c:pt>
                <c:pt idx="10">
                  <c:v>-0.05</c:v>
                </c:pt>
                <c:pt idx="11">
                  <c:v>0.027</c:v>
                </c:pt>
                <c:pt idx="12">
                  <c:v>0.036</c:v>
                </c:pt>
                <c:pt idx="13">
                  <c:v>0.002</c:v>
                </c:pt>
                <c:pt idx="14">
                  <c:v>0.161</c:v>
                </c:pt>
                <c:pt idx="15">
                  <c:v>-0.033</c:v>
                </c:pt>
                <c:pt idx="16">
                  <c:v>0.044</c:v>
                </c:pt>
                <c:pt idx="17">
                  <c:v>0.019</c:v>
                </c:pt>
                <c:pt idx="18">
                  <c:v>0.044</c:v>
                </c:pt>
                <c:pt idx="19">
                  <c:v>0.079</c:v>
                </c:pt>
                <c:pt idx="20">
                  <c:v>0.146</c:v>
                </c:pt>
                <c:pt idx="21">
                  <c:v>0.065</c:v>
                </c:pt>
                <c:pt idx="22">
                  <c:v>-0.027</c:v>
                </c:pt>
                <c:pt idx="23">
                  <c:v>0.09</c:v>
                </c:pt>
                <c:pt idx="24">
                  <c:v>0.173</c:v>
                </c:pt>
                <c:pt idx="25">
                  <c:v>0.119</c:v>
                </c:pt>
                <c:pt idx="26">
                  <c:v>0.065</c:v>
                </c:pt>
                <c:pt idx="27">
                  <c:v>0.174</c:v>
                </c:pt>
                <c:pt idx="28">
                  <c:v>0.144</c:v>
                </c:pt>
                <c:pt idx="29">
                  <c:v>0.102</c:v>
                </c:pt>
                <c:pt idx="30">
                  <c:v>0.056</c:v>
                </c:pt>
                <c:pt idx="31">
                  <c:v>0.05</c:v>
                </c:pt>
                <c:pt idx="32">
                  <c:v>0.048</c:v>
                </c:pt>
                <c:pt idx="33">
                  <c:v>0.008</c:v>
                </c:pt>
                <c:pt idx="34">
                  <c:v>0.017</c:v>
                </c:pt>
                <c:pt idx="35">
                  <c:v>0.127</c:v>
                </c:pt>
                <c:pt idx="36">
                  <c:v>0.121</c:v>
                </c:pt>
                <c:pt idx="37">
                  <c:v>0.146</c:v>
                </c:pt>
                <c:pt idx="38">
                  <c:v>0.109</c:v>
                </c:pt>
                <c:pt idx="39">
                  <c:v>0.035</c:v>
                </c:pt>
                <c:pt idx="40">
                  <c:v>0.079</c:v>
                </c:pt>
                <c:pt idx="41">
                  <c:v>0.109</c:v>
                </c:pt>
                <c:pt idx="42">
                  <c:v>0.207</c:v>
                </c:pt>
                <c:pt idx="43">
                  <c:v>0.123</c:v>
                </c:pt>
                <c:pt idx="44">
                  <c:v>0.013</c:v>
                </c:pt>
                <c:pt idx="45">
                  <c:v>0.069</c:v>
                </c:pt>
                <c:pt idx="46">
                  <c:v>0.035</c:v>
                </c:pt>
                <c:pt idx="47">
                  <c:v>0.048</c:v>
                </c:pt>
                <c:pt idx="48">
                  <c:v>-0.056</c:v>
                </c:pt>
                <c:pt idx="49">
                  <c:v>0.128</c:v>
                </c:pt>
                <c:pt idx="50">
                  <c:v>0.048</c:v>
                </c:pt>
                <c:pt idx="51">
                  <c:v>0.084</c:v>
                </c:pt>
                <c:pt idx="52">
                  <c:v>0.058</c:v>
                </c:pt>
                <c:pt idx="53">
                  <c:v>0.15</c:v>
                </c:pt>
                <c:pt idx="54">
                  <c:v>0.086</c:v>
                </c:pt>
                <c:pt idx="55">
                  <c:v>0.157</c:v>
                </c:pt>
                <c:pt idx="56">
                  <c:v>-0.008</c:v>
                </c:pt>
                <c:pt idx="57">
                  <c:v>0.105</c:v>
                </c:pt>
                <c:pt idx="58">
                  <c:v>-0.065</c:v>
                </c:pt>
                <c:pt idx="59">
                  <c:v>0.159</c:v>
                </c:pt>
                <c:pt idx="60">
                  <c:v>0.13</c:v>
                </c:pt>
                <c:pt idx="61">
                  <c:v>0.102</c:v>
                </c:pt>
                <c:pt idx="62">
                  <c:v>-0.019</c:v>
                </c:pt>
                <c:pt idx="63">
                  <c:v>0.031</c:v>
                </c:pt>
                <c:pt idx="64">
                  <c:v>-0.023</c:v>
                </c:pt>
                <c:pt idx="65">
                  <c:v>0.019</c:v>
                </c:pt>
                <c:pt idx="66">
                  <c:v>0.188</c:v>
                </c:pt>
                <c:pt idx="67">
                  <c:v>0.012</c:v>
                </c:pt>
                <c:pt idx="68">
                  <c:v>0.107</c:v>
                </c:pt>
                <c:pt idx="69">
                  <c:v>0.052</c:v>
                </c:pt>
                <c:pt idx="70">
                  <c:v>0.012</c:v>
                </c:pt>
                <c:pt idx="71">
                  <c:v>0.059</c:v>
                </c:pt>
                <c:pt idx="72">
                  <c:v>0.073</c:v>
                </c:pt>
                <c:pt idx="73">
                  <c:v>0.113</c:v>
                </c:pt>
                <c:pt idx="74">
                  <c:v>0.021</c:v>
                </c:pt>
                <c:pt idx="75">
                  <c:v>-0.015</c:v>
                </c:pt>
                <c:pt idx="76">
                  <c:v>-0.012</c:v>
                </c:pt>
                <c:pt idx="77">
                  <c:v>0.119</c:v>
                </c:pt>
                <c:pt idx="78">
                  <c:v>0.036</c:v>
                </c:pt>
                <c:pt idx="79">
                  <c:v>-0.027</c:v>
                </c:pt>
                <c:pt idx="80">
                  <c:v>0</c:v>
                </c:pt>
                <c:pt idx="81">
                  <c:v>0.056</c:v>
                </c:pt>
                <c:pt idx="82">
                  <c:v>0.052</c:v>
                </c:pt>
                <c:pt idx="83">
                  <c:v>-0.023</c:v>
                </c:pt>
                <c:pt idx="84">
                  <c:v>0.123</c:v>
                </c:pt>
                <c:pt idx="85">
                  <c:v>0.031</c:v>
                </c:pt>
                <c:pt idx="86">
                  <c:v>-0.044</c:v>
                </c:pt>
                <c:pt idx="87">
                  <c:v>0.104</c:v>
                </c:pt>
                <c:pt idx="88">
                  <c:v>-0.021</c:v>
                </c:pt>
                <c:pt idx="89">
                  <c:v>-0.033</c:v>
                </c:pt>
                <c:pt idx="90">
                  <c:v>-0.021</c:v>
                </c:pt>
                <c:pt idx="91">
                  <c:v>0.048</c:v>
                </c:pt>
                <c:pt idx="92">
                  <c:v>-0.044</c:v>
                </c:pt>
                <c:pt idx="93">
                  <c:v>-0.01</c:v>
                </c:pt>
                <c:pt idx="94">
                  <c:v>0.05</c:v>
                </c:pt>
                <c:pt idx="95">
                  <c:v>0</c:v>
                </c:pt>
                <c:pt idx="96">
                  <c:v>0.002</c:v>
                </c:pt>
                <c:pt idx="97">
                  <c:v>0.125</c:v>
                </c:pt>
                <c:pt idx="98">
                  <c:v>-0.046</c:v>
                </c:pt>
                <c:pt idx="99">
                  <c:v>-0.021</c:v>
                </c:pt>
                <c:pt idx="100">
                  <c:v>0.044</c:v>
                </c:pt>
                <c:pt idx="101">
                  <c:v>-0.054</c:v>
                </c:pt>
                <c:pt idx="102">
                  <c:v>-0.048</c:v>
                </c:pt>
                <c:pt idx="103">
                  <c:v>0.138</c:v>
                </c:pt>
                <c:pt idx="104">
                  <c:v>0.029</c:v>
                </c:pt>
                <c:pt idx="105">
                  <c:v>-0.029</c:v>
                </c:pt>
                <c:pt idx="106">
                  <c:v>0.017</c:v>
                </c:pt>
                <c:pt idx="107">
                  <c:v>-0.027</c:v>
                </c:pt>
                <c:pt idx="108">
                  <c:v>-0.008</c:v>
                </c:pt>
                <c:pt idx="109">
                  <c:v>0.067</c:v>
                </c:pt>
                <c:pt idx="110">
                  <c:v>-0.025</c:v>
                </c:pt>
                <c:pt idx="111">
                  <c:v>0.046</c:v>
                </c:pt>
                <c:pt idx="112">
                  <c:v>0.017</c:v>
                </c:pt>
                <c:pt idx="113">
                  <c:v>0.004</c:v>
                </c:pt>
                <c:pt idx="114">
                  <c:v>-0.058</c:v>
                </c:pt>
                <c:pt idx="115">
                  <c:v>-0.012</c:v>
                </c:pt>
                <c:pt idx="116">
                  <c:v>-0.084</c:v>
                </c:pt>
                <c:pt idx="117">
                  <c:v>-0.067</c:v>
                </c:pt>
                <c:pt idx="118">
                  <c:v>-0.038</c:v>
                </c:pt>
                <c:pt idx="119">
                  <c:v>-0.061</c:v>
                </c:pt>
                <c:pt idx="120">
                  <c:v>-0.069</c:v>
                </c:pt>
                <c:pt idx="121">
                  <c:v>-0.142</c:v>
                </c:pt>
                <c:pt idx="122">
                  <c:v>-0.012</c:v>
                </c:pt>
                <c:pt idx="123">
                  <c:v>-0.05</c:v>
                </c:pt>
                <c:pt idx="124">
                  <c:v>-0.017</c:v>
                </c:pt>
                <c:pt idx="125">
                  <c:v>-0.059</c:v>
                </c:pt>
                <c:pt idx="126">
                  <c:v>-0.061</c:v>
                </c:pt>
                <c:pt idx="127">
                  <c:v>0.058</c:v>
                </c:pt>
                <c:pt idx="128">
                  <c:v>0.069</c:v>
                </c:pt>
                <c:pt idx="129">
                  <c:v>-0.033</c:v>
                </c:pt>
                <c:pt idx="130">
                  <c:v>-0.04</c:v>
                </c:pt>
                <c:pt idx="131">
                  <c:v>-0.004</c:v>
                </c:pt>
                <c:pt idx="132">
                  <c:v>-0.082</c:v>
                </c:pt>
                <c:pt idx="133">
                  <c:v>-0.027</c:v>
                </c:pt>
                <c:pt idx="134">
                  <c:v>-0.128</c:v>
                </c:pt>
                <c:pt idx="135">
                  <c:v>-0.023</c:v>
                </c:pt>
                <c:pt idx="136">
                  <c:v>-0.006</c:v>
                </c:pt>
                <c:pt idx="137">
                  <c:v>-0.017</c:v>
                </c:pt>
                <c:pt idx="138">
                  <c:v>-0.121</c:v>
                </c:pt>
                <c:pt idx="139">
                  <c:v>-0.075</c:v>
                </c:pt>
                <c:pt idx="140">
                  <c:v>-0.115</c:v>
                </c:pt>
                <c:pt idx="141">
                  <c:v>-0.234</c:v>
                </c:pt>
                <c:pt idx="142">
                  <c:v>-0.13</c:v>
                </c:pt>
                <c:pt idx="143">
                  <c:v>-0.105</c:v>
                </c:pt>
                <c:pt idx="144">
                  <c:v>-0.102</c:v>
                </c:pt>
                <c:pt idx="145">
                  <c:v>-0.102</c:v>
                </c:pt>
                <c:pt idx="146">
                  <c:v>-0.142</c:v>
                </c:pt>
                <c:pt idx="147">
                  <c:v>-0.111</c:v>
                </c:pt>
                <c:pt idx="148">
                  <c:v>-0.102</c:v>
                </c:pt>
                <c:pt idx="149">
                  <c:v>-0.222</c:v>
                </c:pt>
                <c:pt idx="150">
                  <c:v>-0.138</c:v>
                </c:pt>
                <c:pt idx="151">
                  <c:v>-0.243</c:v>
                </c:pt>
                <c:pt idx="152">
                  <c:v>-0.186</c:v>
                </c:pt>
                <c:pt idx="153">
                  <c:v>-0.18</c:v>
                </c:pt>
                <c:pt idx="154">
                  <c:v>-0.082</c:v>
                </c:pt>
                <c:pt idx="155">
                  <c:v>-0.174</c:v>
                </c:pt>
                <c:pt idx="156">
                  <c:v>-0.138</c:v>
                </c:pt>
                <c:pt idx="157">
                  <c:v>-0.15</c:v>
                </c:pt>
                <c:pt idx="158">
                  <c:v>-0.194</c:v>
                </c:pt>
                <c:pt idx="159">
                  <c:v>-0.228</c:v>
                </c:pt>
                <c:pt idx="160">
                  <c:v>-0.228</c:v>
                </c:pt>
                <c:pt idx="161">
                  <c:v>-0.234</c:v>
                </c:pt>
                <c:pt idx="162">
                  <c:v>-0.261</c:v>
                </c:pt>
                <c:pt idx="163">
                  <c:v>-0.197</c:v>
                </c:pt>
                <c:pt idx="164">
                  <c:v>-0.186</c:v>
                </c:pt>
                <c:pt idx="165">
                  <c:v>-0.314</c:v>
                </c:pt>
                <c:pt idx="166">
                  <c:v>-0.224</c:v>
                </c:pt>
                <c:pt idx="167">
                  <c:v>-0.169</c:v>
                </c:pt>
                <c:pt idx="168">
                  <c:v>-0.234</c:v>
                </c:pt>
                <c:pt idx="169">
                  <c:v>-0.274</c:v>
                </c:pt>
                <c:pt idx="170">
                  <c:v>-0.347</c:v>
                </c:pt>
                <c:pt idx="171">
                  <c:v>-0.215</c:v>
                </c:pt>
                <c:pt idx="172">
                  <c:v>-0.297</c:v>
                </c:pt>
                <c:pt idx="173">
                  <c:v>-0.276</c:v>
                </c:pt>
                <c:pt idx="174">
                  <c:v>-0.245</c:v>
                </c:pt>
                <c:pt idx="175">
                  <c:v>-0.357</c:v>
                </c:pt>
                <c:pt idx="176">
                  <c:v>-0.272</c:v>
                </c:pt>
                <c:pt idx="177">
                  <c:v>-0.28</c:v>
                </c:pt>
                <c:pt idx="178">
                  <c:v>-0.245</c:v>
                </c:pt>
                <c:pt idx="179">
                  <c:v>-0.349</c:v>
                </c:pt>
                <c:pt idx="180">
                  <c:v>-0.236</c:v>
                </c:pt>
                <c:pt idx="181">
                  <c:v>-0.23</c:v>
                </c:pt>
                <c:pt idx="182">
                  <c:v>-0.309</c:v>
                </c:pt>
                <c:pt idx="183">
                  <c:v>-0.362</c:v>
                </c:pt>
                <c:pt idx="184">
                  <c:v>-0.353</c:v>
                </c:pt>
                <c:pt idx="185">
                  <c:v>-0.303</c:v>
                </c:pt>
                <c:pt idx="186">
                  <c:v>-0.408</c:v>
                </c:pt>
                <c:pt idx="187">
                  <c:v>-0.358</c:v>
                </c:pt>
                <c:pt idx="188">
                  <c:v>-0.399</c:v>
                </c:pt>
                <c:pt idx="189">
                  <c:v>-0.311</c:v>
                </c:pt>
                <c:pt idx="190">
                  <c:v>-0.401</c:v>
                </c:pt>
                <c:pt idx="191">
                  <c:v>-0.303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300" b="0" i="0" u="none" strike="noStrike">
                    <a:solidFill>
                      <a:srgbClr val="1B2A38"/>
                    </a:solidFill>
                    <a:latin typeface="+mn-lt"/>
                  </a:defRPr>
                </a:pPr>
                <a:r>
                  <a:rPr sz="1300" b="0" i="0" u="none" strike="noStrike">
                    <a:solidFill>
                      <a:srgbClr val="1B2A38"/>
                    </a:solidFill>
                    <a:latin typeface="+mn-lt"/>
                  </a:rPr>
                  <a:t>Operating cycle</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1B2A38"/>
                </a:solidFill>
                <a:latin typeface="+mn-lt"/>
              </a:defRPr>
            </a:pPr>
            <a:endParaRPr lang="en-US"/>
          </a:p>
        </c:txPr>
        <c:crossAx val="2094734552"/>
        <c:crosses val="autoZero"/>
        <c:auto val="1"/>
        <c:lblAlgn val="ctr"/>
        <c:noMultiLvlLbl val="1"/>
        <c:tickLblSkip val="20"/>
      </c:catAx>
      <c:valAx>
        <c:axId val="2094734552"/>
        <c:scaling>
          <c:orientation val="minMax"/>
        </c:scaling>
        <c:delete val="0"/>
        <c:axPos val="l"/>
        <c:majorGridlines>
          <c:spPr>
            <a:ln w="9525" cap="flat">
              <a:solidFill>
                <a:srgbClr val="E3E8EE"/>
              </a:solidFill>
              <a:prstDash val="solid"/>
              <a:round/>
            </a:ln>
          </c:spPr>
        </c:majorGridlines>
        <c:title>
          <c:tx>
            <c:rich>
              <a:bodyPr/>
              <a:lstStyle/>
              <a:p>
                <a:pPr>
                  <a:defRPr sz="1300" b="0" i="0" u="none" strike="noStrike">
                    <a:solidFill>
                      <a:srgbClr val="1B2A38"/>
                    </a:solidFill>
                    <a:latin typeface="+mn-lt"/>
                  </a:defRPr>
                </a:pPr>
                <a:r>
                  <a:rPr sz="1300" b="0" i="0" u="none" strike="noStrike">
                    <a:solidFill>
                      <a:srgbClr val="1B2A38"/>
                    </a:solidFill>
                    <a:latin typeface="+mn-lt"/>
                  </a:rPr>
                  <a:t>Change vs cycle 1 (%)</a:t>
                </a:r>
              </a:p>
            </c:rich>
          </c:tx>
          <c:layout/>
          <c:overlay val="0"/>
        </c:title>
        <c:numFmt formatCode="0.0" sourceLinked="0"/>
        <c:majorTickMark val="out"/>
        <c:minorTickMark val="none"/>
        <c:tickLblPos val="nextTo"/>
        <c:spPr>
          <a:ln w="12700" cap="flat">
            <a:noFill/>
            <a:prstDash val="solid"/>
            <a:round/>
          </a:ln>
        </c:spPr>
        <c:txPr>
          <a:bodyPr/>
          <a:lstStyle/>
          <a:p>
            <a:pPr>
              <a:defRPr sz="1200" b="0" i="0" u="none" strike="noStrike">
                <a:solidFill>
                  <a:srgbClr val="1B2A3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A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Correlation with RUL</c:v>
                </c:pt>
              </c:strCache>
            </c:strRef>
          </c:tx>
          <c:spPr>
            <a:solidFill>
              <a:srgbClr val="5B7083"/>
            </a:solidFill>
            <a:effectLst/>
          </c:spPr>
          <c:invertIfNegative val="0"/>
          <c:dLbls>
            <c:numFmt formatCode="0.00" sourceLinked="0"/>
            <c:txPr>
              <a:bodyPr/>
              <a:lstStyle/>
              <a:p>
                <a:pPr>
                  <a:defRPr b="0" i="0" strike="noStrike" sz="1200" u="none">
                    <a:solidFill>
                      <a:srgbClr val="1B2A38"/>
                    </a:solidFill>
                    <a:latin typeface="+mn-lt"/>
                  </a:defRPr>
                </a:pPr>
              </a:p>
            </c:txPr>
            <c:showLegendKey val="0"/>
            <c:showVal val="1"/>
            <c:showCatName val="0"/>
            <c:showSerName val="0"/>
            <c:showPercent val="0"/>
            <c:showBubbleSize val="0"/>
            <c:showLeaderLines val="0"/>
          </c:dLbls>
          <c:cat>
            <c:multiLvlStrRef>
              <c:f>Sheet1!$A$2:$A$15</c:f>
              <c:multiLvlStrCache>
                <c:ptCount val="14"/>
                <c:lvl>
                  <c:pt idx="0">
                    <c:v>s11</c:v>
                  </c:pt>
                  <c:pt idx="1">
                    <c:v>s4</c:v>
                  </c:pt>
                  <c:pt idx="2">
                    <c:v>s15</c:v>
                  </c:pt>
                  <c:pt idx="3">
                    <c:v>s2</c:v>
                  </c:pt>
                  <c:pt idx="4">
                    <c:v>s17</c:v>
                  </c:pt>
                  <c:pt idx="5">
                    <c:v>s3</c:v>
                  </c:pt>
                  <c:pt idx="6">
                    <c:v>s8</c:v>
                  </c:pt>
                  <c:pt idx="7">
                    <c:v>s13</c:v>
                  </c:pt>
                  <c:pt idx="8">
                    <c:v>s9</c:v>
                  </c:pt>
                  <c:pt idx="9">
                    <c:v>s14</c:v>
                  </c:pt>
                  <c:pt idx="10">
                    <c:v>s20</c:v>
                  </c:pt>
                  <c:pt idx="11">
                    <c:v>s21</c:v>
                  </c:pt>
                  <c:pt idx="12">
                    <c:v>s7</c:v>
                  </c:pt>
                  <c:pt idx="13">
                    <c:v>s12</c:v>
                  </c:pt>
                </c:lvl>
              </c:multiLvlStrCache>
            </c:multiLvlStrRef>
          </c:cat>
          <c:val>
            <c:numRef>
              <c:f>Sheet1!$B$2:$B$15</c:f>
              <c:numCache>
                <c:formatCode>General</c:formatCode>
                <c:ptCount val="14"/>
                <c:pt idx="0">
                  <c:v>-0.7</c:v>
                </c:pt>
                <c:pt idx="1">
                  <c:v>-0.68</c:v>
                </c:pt>
                <c:pt idx="2">
                  <c:v>-0.64</c:v>
                </c:pt>
                <c:pt idx="3">
                  <c:v>-0.61</c:v>
                </c:pt>
                <c:pt idx="4">
                  <c:v>-0.61</c:v>
                </c:pt>
                <c:pt idx="5">
                  <c:v>-0.58</c:v>
                </c:pt>
                <c:pt idx="6">
                  <c:v>-0.56</c:v>
                </c:pt>
                <c:pt idx="7">
                  <c:v>-0.56</c:v>
                </c:pt>
                <c:pt idx="8">
                  <c:v>-0.39</c:v>
                </c:pt>
                <c:pt idx="9">
                  <c:v>-0.31</c:v>
                </c:pt>
                <c:pt idx="10">
                  <c:v>0.63</c:v>
                </c:pt>
                <c:pt idx="11">
                  <c:v>0.64</c:v>
                </c:pt>
                <c:pt idx="12">
                  <c:v>0.66</c:v>
                </c:pt>
                <c:pt idx="13">
                  <c:v>0.67</c:v>
                </c:pt>
              </c:numCache>
            </c:numRef>
          </c:val>
        </c:ser>
        <c:dLbls>
          <c:numFmt formatCode="0.00" sourceLinked="0"/>
          <c:txPr>
            <a:bodyPr/>
            <a:lstStyle/>
            <a:p>
              <a:pPr>
                <a:defRPr b="0" i="0" strike="noStrike" sz="1200" u="none">
                  <a:solidFill>
                    <a:srgbClr val="1B2A38"/>
                  </a:solidFill>
                  <a:latin typeface="+mn-lt"/>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200" b="0" i="0" u="none" strike="noStrike">
                <a:solidFill>
                  <a:srgbClr val="1B2A38"/>
                </a:solidFill>
                <a:latin typeface="+mn-lt"/>
              </a:defRPr>
            </a:pPr>
            <a:endParaRPr lang="en-US"/>
          </a:p>
        </c:txPr>
        <c:crossAx val="2094734552"/>
        <c:crosses val="autoZero"/>
        <c:auto val="1"/>
        <c:lblAlgn val="ctr"/>
        <c:noMultiLvlLbl val="1"/>
      </c:catAx>
      <c:valAx>
        <c:axId val="2094734552"/>
        <c:scaling>
          <c:orientation val="minMax"/>
          <c:max val="1"/>
          <c:min val="-1"/>
        </c:scaling>
        <c:delete val="0"/>
        <c:axPos val="b"/>
        <c:majorGridlines>
          <c:spPr>
            <a:ln w="9525" cap="flat">
              <a:solidFill>
                <a:srgbClr val="E3E8EE"/>
              </a:solidFill>
              <a:prstDash val="solid"/>
              <a:round/>
            </a:ln>
          </c:spPr>
        </c:majorGridlines>
        <c:numFmt formatCode="0.0" sourceLinked="0"/>
        <c:majorTickMark val="out"/>
        <c:minorTickMark val="none"/>
        <c:tickLblPos val="low"/>
        <c:spPr>
          <a:ln w="12700" cap="flat">
            <a:noFill/>
            <a:prstDash val="solid"/>
            <a:round/>
          </a:ln>
        </c:spPr>
        <c:txPr>
          <a:bodyPr/>
          <a:lstStyle/>
          <a:p>
            <a:pPr>
              <a:defRPr sz="1200" b="0" i="0" u="none" strike="noStrike">
                <a:solidFill>
                  <a:srgbClr val="1B2A38"/>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Raw reading</c:v>
                </c:pt>
              </c:strCache>
            </c:strRef>
          </c:tx>
          <c:spPr>
            <a:solidFill>
              <a:srgbClr val="A9B8C2"/>
            </a:solidFill>
            <a:ln w="25400" cap="flat">
              <a:solidFill>
                <a:srgbClr val="A9B8C2"/>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A9B8C2"/>
              </a:solidFill>
              <a:ln w="9525" cap="flat">
                <a:solidFill>
                  <a:srgbClr val="A9B8C2"/>
                </a:solidFill>
                <a:prstDash val="solid"/>
                <a:round/>
              </a:ln>
              <a:effectLst/>
            </c:spPr>
          </c:marker>
          <c:cat>
            <c:multiLvlStrRef>
              <c:f>Sheet1!$A$2:$A$193</c:f>
              <c:multiLvlStrCache>
                <c:ptCount val="19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lvl>
              </c:multiLvlStrCache>
            </c:multiLvlStrRef>
          </c:cat>
          <c:val>
            <c:numRef>
              <c:f>Sheet1!$B$2:$B$193</c:f>
              <c:numCache>
                <c:formatCode>General</c:formatCode>
                <c:ptCount val="192"/>
                <c:pt idx="0">
                  <c:v>47.47</c:v>
                </c:pt>
                <c:pt idx="1">
                  <c:v>47.49</c:v>
                </c:pt>
                <c:pt idx="2">
                  <c:v>47.27</c:v>
                </c:pt>
                <c:pt idx="3">
                  <c:v>47.13</c:v>
                </c:pt>
                <c:pt idx="4">
                  <c:v>47.28</c:v>
                </c:pt>
                <c:pt idx="5">
                  <c:v>47.16</c:v>
                </c:pt>
                <c:pt idx="6">
                  <c:v>47.36</c:v>
                </c:pt>
                <c:pt idx="7">
                  <c:v>47.24</c:v>
                </c:pt>
                <c:pt idx="8">
                  <c:v>47.29</c:v>
                </c:pt>
                <c:pt idx="9">
                  <c:v>47.03</c:v>
                </c:pt>
                <c:pt idx="10">
                  <c:v>47.15</c:v>
                </c:pt>
                <c:pt idx="11">
                  <c:v>47.18</c:v>
                </c:pt>
                <c:pt idx="12">
                  <c:v>47.38</c:v>
                </c:pt>
                <c:pt idx="13">
                  <c:v>47.44</c:v>
                </c:pt>
                <c:pt idx="14">
                  <c:v>47.3</c:v>
                </c:pt>
                <c:pt idx="15">
                  <c:v>47.24</c:v>
                </c:pt>
                <c:pt idx="16">
                  <c:v>47.12</c:v>
                </c:pt>
                <c:pt idx="17">
                  <c:v>47.21</c:v>
                </c:pt>
                <c:pt idx="18">
                  <c:v>47.4</c:v>
                </c:pt>
                <c:pt idx="19">
                  <c:v>47.22</c:v>
                </c:pt>
                <c:pt idx="20">
                  <c:v>47.15</c:v>
                </c:pt>
                <c:pt idx="21">
                  <c:v>47.24</c:v>
                </c:pt>
                <c:pt idx="22">
                  <c:v>47.25</c:v>
                </c:pt>
                <c:pt idx="23">
                  <c:v>47.44</c:v>
                </c:pt>
                <c:pt idx="24">
                  <c:v>47.36</c:v>
                </c:pt>
                <c:pt idx="25">
                  <c:v>47.26</c:v>
                </c:pt>
                <c:pt idx="26">
                  <c:v>47.37</c:v>
                </c:pt>
                <c:pt idx="27">
                  <c:v>47.41</c:v>
                </c:pt>
                <c:pt idx="28">
                  <c:v>47.24</c:v>
                </c:pt>
                <c:pt idx="29">
                  <c:v>47.4</c:v>
                </c:pt>
                <c:pt idx="30">
                  <c:v>47.41</c:v>
                </c:pt>
                <c:pt idx="31">
                  <c:v>47.25</c:v>
                </c:pt>
                <c:pt idx="32">
                  <c:v>47.28</c:v>
                </c:pt>
                <c:pt idx="33">
                  <c:v>47.47</c:v>
                </c:pt>
                <c:pt idx="34">
                  <c:v>47.31</c:v>
                </c:pt>
                <c:pt idx="35">
                  <c:v>47.25</c:v>
                </c:pt>
                <c:pt idx="36">
                  <c:v>47.29</c:v>
                </c:pt>
                <c:pt idx="37">
                  <c:v>47.27</c:v>
                </c:pt>
                <c:pt idx="38">
                  <c:v>47.12</c:v>
                </c:pt>
                <c:pt idx="39">
                  <c:v>47.33</c:v>
                </c:pt>
                <c:pt idx="40">
                  <c:v>47.09</c:v>
                </c:pt>
                <c:pt idx="41">
                  <c:v>47.49</c:v>
                </c:pt>
                <c:pt idx="42">
                  <c:v>47.32</c:v>
                </c:pt>
                <c:pt idx="43">
                  <c:v>47.45</c:v>
                </c:pt>
                <c:pt idx="44">
                  <c:v>47.45</c:v>
                </c:pt>
                <c:pt idx="45">
                  <c:v>47.2</c:v>
                </c:pt>
                <c:pt idx="46">
                  <c:v>47.22</c:v>
                </c:pt>
                <c:pt idx="47">
                  <c:v>47.4</c:v>
                </c:pt>
                <c:pt idx="48">
                  <c:v>47.22</c:v>
                </c:pt>
                <c:pt idx="49">
                  <c:v>47.47</c:v>
                </c:pt>
                <c:pt idx="50">
                  <c:v>47.12</c:v>
                </c:pt>
                <c:pt idx="51">
                  <c:v>47.07</c:v>
                </c:pt>
                <c:pt idx="52">
                  <c:v>47.29</c:v>
                </c:pt>
                <c:pt idx="53">
                  <c:v>47.38</c:v>
                </c:pt>
                <c:pt idx="54">
                  <c:v>47.4</c:v>
                </c:pt>
                <c:pt idx="55">
                  <c:v>47.26</c:v>
                </c:pt>
                <c:pt idx="56">
                  <c:v>47.29</c:v>
                </c:pt>
                <c:pt idx="57">
                  <c:v>47.26</c:v>
                </c:pt>
                <c:pt idx="58">
                  <c:v>47.26</c:v>
                </c:pt>
                <c:pt idx="59">
                  <c:v>47.41</c:v>
                </c:pt>
                <c:pt idx="60">
                  <c:v>47.31</c:v>
                </c:pt>
                <c:pt idx="61">
                  <c:v>47.28</c:v>
                </c:pt>
                <c:pt idx="62">
                  <c:v>47.51</c:v>
                </c:pt>
                <c:pt idx="63">
                  <c:v>47.45</c:v>
                </c:pt>
                <c:pt idx="64">
                  <c:v>47.56</c:v>
                </c:pt>
                <c:pt idx="65">
                  <c:v>47.14</c:v>
                </c:pt>
                <c:pt idx="66">
                  <c:v>47.39</c:v>
                </c:pt>
                <c:pt idx="67">
                  <c:v>47.36</c:v>
                </c:pt>
                <c:pt idx="68">
                  <c:v>47.41</c:v>
                </c:pt>
                <c:pt idx="69">
                  <c:v>47.41</c:v>
                </c:pt>
                <c:pt idx="70">
                  <c:v>47.3</c:v>
                </c:pt>
                <c:pt idx="71">
                  <c:v>47.27</c:v>
                </c:pt>
                <c:pt idx="72">
                  <c:v>47.29</c:v>
                </c:pt>
                <c:pt idx="73">
                  <c:v>47.58</c:v>
                </c:pt>
                <c:pt idx="74">
                  <c:v>47.22</c:v>
                </c:pt>
                <c:pt idx="75">
                  <c:v>47.44</c:v>
                </c:pt>
                <c:pt idx="76">
                  <c:v>47.41</c:v>
                </c:pt>
                <c:pt idx="77">
                  <c:v>47.4</c:v>
                </c:pt>
                <c:pt idx="78">
                  <c:v>47.35</c:v>
                </c:pt>
                <c:pt idx="79">
                  <c:v>47.64</c:v>
                </c:pt>
                <c:pt idx="80">
                  <c:v>47.43</c:v>
                </c:pt>
                <c:pt idx="81">
                  <c:v>47.25</c:v>
                </c:pt>
                <c:pt idx="82">
                  <c:v>47.22</c:v>
                </c:pt>
                <c:pt idx="83">
                  <c:v>47.38</c:v>
                </c:pt>
                <c:pt idx="84">
                  <c:v>47.36</c:v>
                </c:pt>
                <c:pt idx="85">
                  <c:v>47.38</c:v>
                </c:pt>
                <c:pt idx="86">
                  <c:v>47.34</c:v>
                </c:pt>
                <c:pt idx="87">
                  <c:v>47.46</c:v>
                </c:pt>
                <c:pt idx="88">
                  <c:v>47.46</c:v>
                </c:pt>
                <c:pt idx="89">
                  <c:v>47.32</c:v>
                </c:pt>
                <c:pt idx="90">
                  <c:v>47.32</c:v>
                </c:pt>
                <c:pt idx="91">
                  <c:v>47.45</c:v>
                </c:pt>
                <c:pt idx="92">
                  <c:v>47.46</c:v>
                </c:pt>
                <c:pt idx="93">
                  <c:v>47.48</c:v>
                </c:pt>
                <c:pt idx="94">
                  <c:v>47.38</c:v>
                </c:pt>
                <c:pt idx="95">
                  <c:v>47.39</c:v>
                </c:pt>
                <c:pt idx="96">
                  <c:v>47.46</c:v>
                </c:pt>
                <c:pt idx="97">
                  <c:v>47.37</c:v>
                </c:pt>
                <c:pt idx="98">
                  <c:v>47.4</c:v>
                </c:pt>
                <c:pt idx="99">
                  <c:v>47.64</c:v>
                </c:pt>
                <c:pt idx="100">
                  <c:v>47.62</c:v>
                </c:pt>
                <c:pt idx="101">
                  <c:v>47.49</c:v>
                </c:pt>
                <c:pt idx="102">
                  <c:v>47.57</c:v>
                </c:pt>
                <c:pt idx="103">
                  <c:v>47.34</c:v>
                </c:pt>
                <c:pt idx="104">
                  <c:v>47.31</c:v>
                </c:pt>
                <c:pt idx="105">
                  <c:v>47.44</c:v>
                </c:pt>
                <c:pt idx="106">
                  <c:v>47.35</c:v>
                </c:pt>
                <c:pt idx="107">
                  <c:v>47.61</c:v>
                </c:pt>
                <c:pt idx="108">
                  <c:v>47.58</c:v>
                </c:pt>
                <c:pt idx="109">
                  <c:v>47.55</c:v>
                </c:pt>
                <c:pt idx="110">
                  <c:v>47.62</c:v>
                </c:pt>
                <c:pt idx="111">
                  <c:v>47.22</c:v>
                </c:pt>
                <c:pt idx="112">
                  <c:v>47.46</c:v>
                </c:pt>
                <c:pt idx="113">
                  <c:v>47.58</c:v>
                </c:pt>
                <c:pt idx="114">
                  <c:v>47.43</c:v>
                </c:pt>
                <c:pt idx="115">
                  <c:v>47.43</c:v>
                </c:pt>
                <c:pt idx="116">
                  <c:v>47.52</c:v>
                </c:pt>
                <c:pt idx="117">
                  <c:v>47.55</c:v>
                </c:pt>
                <c:pt idx="118">
                  <c:v>47.55</c:v>
                </c:pt>
                <c:pt idx="119">
                  <c:v>47.6</c:v>
                </c:pt>
                <c:pt idx="120">
                  <c:v>47.44</c:v>
                </c:pt>
                <c:pt idx="121">
                  <c:v>47.6</c:v>
                </c:pt>
                <c:pt idx="122">
                  <c:v>47.41</c:v>
                </c:pt>
                <c:pt idx="123">
                  <c:v>47.55</c:v>
                </c:pt>
                <c:pt idx="124">
                  <c:v>47.63</c:v>
                </c:pt>
                <c:pt idx="125">
                  <c:v>47.49</c:v>
                </c:pt>
                <c:pt idx="126">
                  <c:v>47.63</c:v>
                </c:pt>
                <c:pt idx="127">
                  <c:v>47.62</c:v>
                </c:pt>
                <c:pt idx="128">
                  <c:v>47.61</c:v>
                </c:pt>
                <c:pt idx="129">
                  <c:v>47.46</c:v>
                </c:pt>
                <c:pt idx="130">
                  <c:v>47.7</c:v>
                </c:pt>
                <c:pt idx="131">
                  <c:v>47.56</c:v>
                </c:pt>
                <c:pt idx="132">
                  <c:v>47.57</c:v>
                </c:pt>
                <c:pt idx="133">
                  <c:v>47.75</c:v>
                </c:pt>
                <c:pt idx="134">
                  <c:v>47.34</c:v>
                </c:pt>
                <c:pt idx="135">
                  <c:v>47.43</c:v>
                </c:pt>
                <c:pt idx="136">
                  <c:v>47.89</c:v>
                </c:pt>
                <c:pt idx="137">
                  <c:v>47.4</c:v>
                </c:pt>
                <c:pt idx="138">
                  <c:v>47.67</c:v>
                </c:pt>
                <c:pt idx="139">
                  <c:v>47.51</c:v>
                </c:pt>
                <c:pt idx="140">
                  <c:v>47.49</c:v>
                </c:pt>
                <c:pt idx="141">
                  <c:v>47.59</c:v>
                </c:pt>
                <c:pt idx="142">
                  <c:v>47.52</c:v>
                </c:pt>
                <c:pt idx="143">
                  <c:v>47.57</c:v>
                </c:pt>
                <c:pt idx="144">
                  <c:v>47.54</c:v>
                </c:pt>
                <c:pt idx="145">
                  <c:v>47.63</c:v>
                </c:pt>
                <c:pt idx="146">
                  <c:v>47.8</c:v>
                </c:pt>
                <c:pt idx="147">
                  <c:v>47.49</c:v>
                </c:pt>
                <c:pt idx="148">
                  <c:v>47.83</c:v>
                </c:pt>
                <c:pt idx="149">
                  <c:v>47.6</c:v>
                </c:pt>
                <c:pt idx="150">
                  <c:v>47.58</c:v>
                </c:pt>
                <c:pt idx="151">
                  <c:v>47.72</c:v>
                </c:pt>
                <c:pt idx="152">
                  <c:v>47.74</c:v>
                </c:pt>
                <c:pt idx="153">
                  <c:v>47.73</c:v>
                </c:pt>
                <c:pt idx="154">
                  <c:v>47.61</c:v>
                </c:pt>
                <c:pt idx="155">
                  <c:v>47.58</c:v>
                </c:pt>
                <c:pt idx="156">
                  <c:v>47.72</c:v>
                </c:pt>
                <c:pt idx="157">
                  <c:v>47.68</c:v>
                </c:pt>
                <c:pt idx="158">
                  <c:v>47.76</c:v>
                </c:pt>
                <c:pt idx="159">
                  <c:v>47.84</c:v>
                </c:pt>
                <c:pt idx="160">
                  <c:v>47.77</c:v>
                </c:pt>
                <c:pt idx="161">
                  <c:v>47.79</c:v>
                </c:pt>
                <c:pt idx="162">
                  <c:v>47.89</c:v>
                </c:pt>
                <c:pt idx="163">
                  <c:v>47.7</c:v>
                </c:pt>
                <c:pt idx="164">
                  <c:v>47.89</c:v>
                </c:pt>
                <c:pt idx="165">
                  <c:v>47.86</c:v>
                </c:pt>
                <c:pt idx="166">
                  <c:v>47.85</c:v>
                </c:pt>
                <c:pt idx="167">
                  <c:v>47.84</c:v>
                </c:pt>
                <c:pt idx="168">
                  <c:v>47.88</c:v>
                </c:pt>
                <c:pt idx="169">
                  <c:v>47.86</c:v>
                </c:pt>
                <c:pt idx="170">
                  <c:v>48.03</c:v>
                </c:pt>
                <c:pt idx="171">
                  <c:v>48.07</c:v>
                </c:pt>
                <c:pt idx="172">
                  <c:v>47.9</c:v>
                </c:pt>
                <c:pt idx="173">
                  <c:v>48</c:v>
                </c:pt>
                <c:pt idx="174">
                  <c:v>47.86</c:v>
                </c:pt>
                <c:pt idx="175">
                  <c:v>47.84</c:v>
                </c:pt>
                <c:pt idx="176">
                  <c:v>48.03</c:v>
                </c:pt>
                <c:pt idx="177">
                  <c:v>48</c:v>
                </c:pt>
                <c:pt idx="178">
                  <c:v>48.02</c:v>
                </c:pt>
                <c:pt idx="179">
                  <c:v>47.85</c:v>
                </c:pt>
                <c:pt idx="180">
                  <c:v>48.1</c:v>
                </c:pt>
                <c:pt idx="181">
                  <c:v>47.98</c:v>
                </c:pt>
                <c:pt idx="182">
                  <c:v>48.03</c:v>
                </c:pt>
                <c:pt idx="183">
                  <c:v>48.07</c:v>
                </c:pt>
                <c:pt idx="184">
                  <c:v>48.15</c:v>
                </c:pt>
                <c:pt idx="185">
                  <c:v>48.12</c:v>
                </c:pt>
                <c:pt idx="186">
                  <c:v>48.23</c:v>
                </c:pt>
                <c:pt idx="187">
                  <c:v>48</c:v>
                </c:pt>
                <c:pt idx="188">
                  <c:v>48.08</c:v>
                </c:pt>
                <c:pt idx="189">
                  <c:v>48.33</c:v>
                </c:pt>
                <c:pt idx="190">
                  <c:v>48.15</c:v>
                </c:pt>
                <c:pt idx="191">
                  <c:v>48.25</c:v>
                </c:pt>
              </c:numCache>
            </c:numRef>
          </c:val>
          <c:smooth val="0"/>
        </c:ser>
        <c:ser>
          <c:idx val="1"/>
          <c:order val="1"/>
          <c:tx>
            <c:strRef>
              <c:f>Sheet1!$C$1</c:f>
              <c:strCache>
                <c:ptCount val="1"/>
                <c:pt idx="0">
                  <c:v>10-cycle rolling mean</c:v>
                </c:pt>
              </c:strCache>
            </c:strRef>
          </c:tx>
          <c:spPr>
            <a:solidFill>
              <a:srgbClr val="0E8F9B"/>
            </a:solidFill>
            <a:ln w="25400" cap="flat">
              <a:solidFill>
                <a:srgbClr val="0E8F9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0E8F9B"/>
              </a:solidFill>
              <a:ln w="9525" cap="flat">
                <a:solidFill>
                  <a:srgbClr val="0E8F9B"/>
                </a:solidFill>
                <a:prstDash val="solid"/>
                <a:round/>
              </a:ln>
              <a:effectLst/>
            </c:spPr>
          </c:marker>
          <c:cat>
            <c:multiLvlStrRef>
              <c:f>Sheet1!$A$2:$A$193</c:f>
              <c:multiLvlStrCache>
                <c:ptCount val="19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lvl>
              </c:multiLvlStrCache>
            </c:multiLvlStrRef>
          </c:cat>
          <c:val>
            <c:numRef>
              <c:f>Sheet1!$C$2:$C$193</c:f>
              <c:numCache>
                <c:formatCode>General</c:formatCode>
                <c:ptCount val="192"/>
                <c:pt idx="0">
                  <c:v>47.47</c:v>
                </c:pt>
                <c:pt idx="1">
                  <c:v>47.48</c:v>
                </c:pt>
                <c:pt idx="2">
                  <c:v>47.41</c:v>
                </c:pt>
                <c:pt idx="3">
                  <c:v>47.34</c:v>
                </c:pt>
                <c:pt idx="4">
                  <c:v>47.328</c:v>
                </c:pt>
                <c:pt idx="5">
                  <c:v>47.3</c:v>
                </c:pt>
                <c:pt idx="6">
                  <c:v>47.309</c:v>
                </c:pt>
                <c:pt idx="7">
                  <c:v>47.3</c:v>
                </c:pt>
                <c:pt idx="8">
                  <c:v>47.299</c:v>
                </c:pt>
                <c:pt idx="9">
                  <c:v>47.272</c:v>
                </c:pt>
                <c:pt idx="10">
                  <c:v>47.24</c:v>
                </c:pt>
                <c:pt idx="11">
                  <c:v>47.209</c:v>
                </c:pt>
                <c:pt idx="12">
                  <c:v>47.22</c:v>
                </c:pt>
                <c:pt idx="13">
                  <c:v>47.251</c:v>
                </c:pt>
                <c:pt idx="14">
                  <c:v>47.253</c:v>
                </c:pt>
                <c:pt idx="15">
                  <c:v>47.261</c:v>
                </c:pt>
                <c:pt idx="16">
                  <c:v>47.237</c:v>
                </c:pt>
                <c:pt idx="17">
                  <c:v>47.234</c:v>
                </c:pt>
                <c:pt idx="18">
                  <c:v>47.245</c:v>
                </c:pt>
                <c:pt idx="19">
                  <c:v>47.264</c:v>
                </c:pt>
                <c:pt idx="20">
                  <c:v>47.264</c:v>
                </c:pt>
                <c:pt idx="21">
                  <c:v>47.27</c:v>
                </c:pt>
                <c:pt idx="22">
                  <c:v>47.257</c:v>
                </c:pt>
                <c:pt idx="23">
                  <c:v>47.257</c:v>
                </c:pt>
                <c:pt idx="24">
                  <c:v>47.263</c:v>
                </c:pt>
                <c:pt idx="25">
                  <c:v>47.265</c:v>
                </c:pt>
                <c:pt idx="26">
                  <c:v>47.29</c:v>
                </c:pt>
                <c:pt idx="27">
                  <c:v>47.31</c:v>
                </c:pt>
                <c:pt idx="28">
                  <c:v>47.294</c:v>
                </c:pt>
                <c:pt idx="29">
                  <c:v>47.312</c:v>
                </c:pt>
                <c:pt idx="30">
                  <c:v>47.338</c:v>
                </c:pt>
                <c:pt idx="31">
                  <c:v>47.339</c:v>
                </c:pt>
                <c:pt idx="32">
                  <c:v>47.342</c:v>
                </c:pt>
                <c:pt idx="33">
                  <c:v>47.345</c:v>
                </c:pt>
                <c:pt idx="34">
                  <c:v>47.34</c:v>
                </c:pt>
                <c:pt idx="35">
                  <c:v>47.339</c:v>
                </c:pt>
                <c:pt idx="36">
                  <c:v>47.331</c:v>
                </c:pt>
                <c:pt idx="37">
                  <c:v>47.317</c:v>
                </c:pt>
                <c:pt idx="38">
                  <c:v>47.305</c:v>
                </c:pt>
                <c:pt idx="39">
                  <c:v>47.298</c:v>
                </c:pt>
                <c:pt idx="40">
                  <c:v>47.266</c:v>
                </c:pt>
                <c:pt idx="41">
                  <c:v>47.29</c:v>
                </c:pt>
                <c:pt idx="42">
                  <c:v>47.294</c:v>
                </c:pt>
                <c:pt idx="43">
                  <c:v>47.292</c:v>
                </c:pt>
                <c:pt idx="44">
                  <c:v>47.306</c:v>
                </c:pt>
                <c:pt idx="45">
                  <c:v>47.301</c:v>
                </c:pt>
                <c:pt idx="46">
                  <c:v>47.294</c:v>
                </c:pt>
                <c:pt idx="47">
                  <c:v>47.307</c:v>
                </c:pt>
                <c:pt idx="48">
                  <c:v>47.317</c:v>
                </c:pt>
                <c:pt idx="49">
                  <c:v>47.331</c:v>
                </c:pt>
                <c:pt idx="50">
                  <c:v>47.334</c:v>
                </c:pt>
                <c:pt idx="51">
                  <c:v>47.292</c:v>
                </c:pt>
                <c:pt idx="52">
                  <c:v>47.289</c:v>
                </c:pt>
                <c:pt idx="53">
                  <c:v>47.282</c:v>
                </c:pt>
                <c:pt idx="54">
                  <c:v>47.277</c:v>
                </c:pt>
                <c:pt idx="55">
                  <c:v>47.283</c:v>
                </c:pt>
                <c:pt idx="56">
                  <c:v>47.29</c:v>
                </c:pt>
                <c:pt idx="57">
                  <c:v>47.276</c:v>
                </c:pt>
                <c:pt idx="58">
                  <c:v>47.28</c:v>
                </c:pt>
                <c:pt idx="59">
                  <c:v>47.274</c:v>
                </c:pt>
                <c:pt idx="60">
                  <c:v>47.293</c:v>
                </c:pt>
                <c:pt idx="61">
                  <c:v>47.314</c:v>
                </c:pt>
                <c:pt idx="62">
                  <c:v>47.336</c:v>
                </c:pt>
                <c:pt idx="63">
                  <c:v>47.343</c:v>
                </c:pt>
                <c:pt idx="64">
                  <c:v>47.359</c:v>
                </c:pt>
                <c:pt idx="65">
                  <c:v>47.347</c:v>
                </c:pt>
                <c:pt idx="66">
                  <c:v>47.357</c:v>
                </c:pt>
                <c:pt idx="67">
                  <c:v>47.367</c:v>
                </c:pt>
                <c:pt idx="68">
                  <c:v>47.382</c:v>
                </c:pt>
                <c:pt idx="69">
                  <c:v>47.382</c:v>
                </c:pt>
                <c:pt idx="70">
                  <c:v>47.381</c:v>
                </c:pt>
                <c:pt idx="71">
                  <c:v>47.38</c:v>
                </c:pt>
                <c:pt idx="72">
                  <c:v>47.358</c:v>
                </c:pt>
                <c:pt idx="73">
                  <c:v>47.371</c:v>
                </c:pt>
                <c:pt idx="74">
                  <c:v>47.337</c:v>
                </c:pt>
                <c:pt idx="75">
                  <c:v>47.367</c:v>
                </c:pt>
                <c:pt idx="76">
                  <c:v>47.369</c:v>
                </c:pt>
                <c:pt idx="77">
                  <c:v>47.373</c:v>
                </c:pt>
                <c:pt idx="78">
                  <c:v>47.367</c:v>
                </c:pt>
                <c:pt idx="79">
                  <c:v>47.39</c:v>
                </c:pt>
                <c:pt idx="80">
                  <c:v>47.403</c:v>
                </c:pt>
                <c:pt idx="81">
                  <c:v>47.401</c:v>
                </c:pt>
                <c:pt idx="82">
                  <c:v>47.394</c:v>
                </c:pt>
                <c:pt idx="83">
                  <c:v>47.374</c:v>
                </c:pt>
                <c:pt idx="84">
                  <c:v>47.388</c:v>
                </c:pt>
                <c:pt idx="85">
                  <c:v>47.382</c:v>
                </c:pt>
                <c:pt idx="86">
                  <c:v>47.375</c:v>
                </c:pt>
                <c:pt idx="87">
                  <c:v>47.381</c:v>
                </c:pt>
                <c:pt idx="88">
                  <c:v>47.392</c:v>
                </c:pt>
                <c:pt idx="89">
                  <c:v>47.36</c:v>
                </c:pt>
                <c:pt idx="90">
                  <c:v>47.349</c:v>
                </c:pt>
                <c:pt idx="91">
                  <c:v>47.369</c:v>
                </c:pt>
                <c:pt idx="92">
                  <c:v>47.393</c:v>
                </c:pt>
                <c:pt idx="93">
                  <c:v>47.403</c:v>
                </c:pt>
                <c:pt idx="94">
                  <c:v>47.405</c:v>
                </c:pt>
                <c:pt idx="95">
                  <c:v>47.406</c:v>
                </c:pt>
                <c:pt idx="96">
                  <c:v>47.418</c:v>
                </c:pt>
                <c:pt idx="97">
                  <c:v>47.409</c:v>
                </c:pt>
                <c:pt idx="98">
                  <c:v>47.403</c:v>
                </c:pt>
                <c:pt idx="99">
                  <c:v>47.435</c:v>
                </c:pt>
                <c:pt idx="100">
                  <c:v>47.465</c:v>
                </c:pt>
                <c:pt idx="101">
                  <c:v>47.469</c:v>
                </c:pt>
                <c:pt idx="102">
                  <c:v>47.48</c:v>
                </c:pt>
                <c:pt idx="103">
                  <c:v>47.466</c:v>
                </c:pt>
                <c:pt idx="104">
                  <c:v>47.459</c:v>
                </c:pt>
                <c:pt idx="105">
                  <c:v>47.464</c:v>
                </c:pt>
                <c:pt idx="106">
                  <c:v>47.453</c:v>
                </c:pt>
                <c:pt idx="107">
                  <c:v>47.477</c:v>
                </c:pt>
                <c:pt idx="108">
                  <c:v>47.495</c:v>
                </c:pt>
                <c:pt idx="109">
                  <c:v>47.486</c:v>
                </c:pt>
                <c:pt idx="110">
                  <c:v>47.486</c:v>
                </c:pt>
                <c:pt idx="111">
                  <c:v>47.459</c:v>
                </c:pt>
                <c:pt idx="112">
                  <c:v>47.448</c:v>
                </c:pt>
                <c:pt idx="113">
                  <c:v>47.472</c:v>
                </c:pt>
                <c:pt idx="114">
                  <c:v>47.484</c:v>
                </c:pt>
                <c:pt idx="115">
                  <c:v>47.483</c:v>
                </c:pt>
                <c:pt idx="116">
                  <c:v>47.5</c:v>
                </c:pt>
                <c:pt idx="117">
                  <c:v>47.494</c:v>
                </c:pt>
                <c:pt idx="118">
                  <c:v>47.491</c:v>
                </c:pt>
                <c:pt idx="119">
                  <c:v>47.496</c:v>
                </c:pt>
                <c:pt idx="120">
                  <c:v>47.478</c:v>
                </c:pt>
                <c:pt idx="121">
                  <c:v>47.516</c:v>
                </c:pt>
                <c:pt idx="122">
                  <c:v>47.511</c:v>
                </c:pt>
                <c:pt idx="123">
                  <c:v>47.508</c:v>
                </c:pt>
                <c:pt idx="124">
                  <c:v>47.528</c:v>
                </c:pt>
                <c:pt idx="125">
                  <c:v>47.534</c:v>
                </c:pt>
                <c:pt idx="126">
                  <c:v>47.545</c:v>
                </c:pt>
                <c:pt idx="127">
                  <c:v>47.552</c:v>
                </c:pt>
                <c:pt idx="128">
                  <c:v>47.558</c:v>
                </c:pt>
                <c:pt idx="129">
                  <c:v>47.544</c:v>
                </c:pt>
                <c:pt idx="130">
                  <c:v>47.57</c:v>
                </c:pt>
                <c:pt idx="131">
                  <c:v>47.566</c:v>
                </c:pt>
                <c:pt idx="132">
                  <c:v>47.582</c:v>
                </c:pt>
                <c:pt idx="133">
                  <c:v>47.602</c:v>
                </c:pt>
                <c:pt idx="134">
                  <c:v>47.573</c:v>
                </c:pt>
                <c:pt idx="135">
                  <c:v>47.567</c:v>
                </c:pt>
                <c:pt idx="136">
                  <c:v>47.593</c:v>
                </c:pt>
                <c:pt idx="137">
                  <c:v>47.571</c:v>
                </c:pt>
                <c:pt idx="138">
                  <c:v>47.577</c:v>
                </c:pt>
                <c:pt idx="139">
                  <c:v>47.582</c:v>
                </c:pt>
                <c:pt idx="140">
                  <c:v>47.561</c:v>
                </c:pt>
                <c:pt idx="141">
                  <c:v>47.564</c:v>
                </c:pt>
                <c:pt idx="142">
                  <c:v>47.559</c:v>
                </c:pt>
                <c:pt idx="143">
                  <c:v>47.541</c:v>
                </c:pt>
                <c:pt idx="144">
                  <c:v>47.561</c:v>
                </c:pt>
                <c:pt idx="145">
                  <c:v>47.581</c:v>
                </c:pt>
                <c:pt idx="146">
                  <c:v>47.572</c:v>
                </c:pt>
                <c:pt idx="147">
                  <c:v>47.581</c:v>
                </c:pt>
                <c:pt idx="148">
                  <c:v>47.597</c:v>
                </c:pt>
                <c:pt idx="149">
                  <c:v>47.606</c:v>
                </c:pt>
                <c:pt idx="150">
                  <c:v>47.615</c:v>
                </c:pt>
                <c:pt idx="151">
                  <c:v>47.628</c:v>
                </c:pt>
                <c:pt idx="152">
                  <c:v>47.65</c:v>
                </c:pt>
                <c:pt idx="153">
                  <c:v>47.666</c:v>
                </c:pt>
                <c:pt idx="154">
                  <c:v>47.673</c:v>
                </c:pt>
                <c:pt idx="155">
                  <c:v>47.668</c:v>
                </c:pt>
                <c:pt idx="156">
                  <c:v>47.66</c:v>
                </c:pt>
                <c:pt idx="157">
                  <c:v>47.679</c:v>
                </c:pt>
                <c:pt idx="158">
                  <c:v>47.672</c:v>
                </c:pt>
                <c:pt idx="159">
                  <c:v>47.696</c:v>
                </c:pt>
                <c:pt idx="160">
                  <c:v>47.715</c:v>
                </c:pt>
                <c:pt idx="161">
                  <c:v>47.722</c:v>
                </c:pt>
                <c:pt idx="162">
                  <c:v>47.737</c:v>
                </c:pt>
                <c:pt idx="163">
                  <c:v>47.734</c:v>
                </c:pt>
                <c:pt idx="164">
                  <c:v>47.762</c:v>
                </c:pt>
                <c:pt idx="165">
                  <c:v>47.79</c:v>
                </c:pt>
                <c:pt idx="166">
                  <c:v>47.803</c:v>
                </c:pt>
                <c:pt idx="167">
                  <c:v>47.819</c:v>
                </c:pt>
                <c:pt idx="168">
                  <c:v>47.831</c:v>
                </c:pt>
                <c:pt idx="169">
                  <c:v>47.833</c:v>
                </c:pt>
                <c:pt idx="170">
                  <c:v>47.859</c:v>
                </c:pt>
                <c:pt idx="171">
                  <c:v>47.887</c:v>
                </c:pt>
                <c:pt idx="172">
                  <c:v>47.888</c:v>
                </c:pt>
                <c:pt idx="173">
                  <c:v>47.918</c:v>
                </c:pt>
                <c:pt idx="174">
                  <c:v>47.915</c:v>
                </c:pt>
                <c:pt idx="175">
                  <c:v>47.913</c:v>
                </c:pt>
                <c:pt idx="176">
                  <c:v>47.931</c:v>
                </c:pt>
                <c:pt idx="177">
                  <c:v>47.947</c:v>
                </c:pt>
                <c:pt idx="178">
                  <c:v>47.961</c:v>
                </c:pt>
                <c:pt idx="179">
                  <c:v>47.96</c:v>
                </c:pt>
                <c:pt idx="180">
                  <c:v>47.967</c:v>
                </c:pt>
                <c:pt idx="181">
                  <c:v>47.958</c:v>
                </c:pt>
                <c:pt idx="182">
                  <c:v>47.971</c:v>
                </c:pt>
                <c:pt idx="183">
                  <c:v>47.978</c:v>
                </c:pt>
                <c:pt idx="184">
                  <c:v>48.007</c:v>
                </c:pt>
                <c:pt idx="185">
                  <c:v>48.035</c:v>
                </c:pt>
                <c:pt idx="186">
                  <c:v>48.055</c:v>
                </c:pt>
                <c:pt idx="187">
                  <c:v>48.055</c:v>
                </c:pt>
                <c:pt idx="188">
                  <c:v>48.061</c:v>
                </c:pt>
                <c:pt idx="189">
                  <c:v>48.109</c:v>
                </c:pt>
                <c:pt idx="190">
                  <c:v>48.114</c:v>
                </c:pt>
                <c:pt idx="191">
                  <c:v>48.141</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300" b="0" i="0" u="none" strike="noStrike">
                    <a:solidFill>
                      <a:srgbClr val="1B2A38"/>
                    </a:solidFill>
                    <a:latin typeface="+mn-lt"/>
                  </a:defRPr>
                </a:pPr>
                <a:r>
                  <a:rPr sz="1300" b="0" i="0" u="none" strike="noStrike">
                    <a:solidFill>
                      <a:srgbClr val="1B2A38"/>
                    </a:solidFill>
                    <a:latin typeface="+mn-lt"/>
                  </a:rPr>
                  <a:t>Operating cycle</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1B2A38"/>
                </a:solidFill>
                <a:latin typeface="+mn-lt"/>
              </a:defRPr>
            </a:pPr>
            <a:endParaRPr lang="en-US"/>
          </a:p>
        </c:txPr>
        <c:crossAx val="2094734552"/>
        <c:crosses val="autoZero"/>
        <c:auto val="1"/>
        <c:lblAlgn val="ctr"/>
        <c:noMultiLvlLbl val="1"/>
        <c:tickLblSkip val="20"/>
      </c:catAx>
      <c:valAx>
        <c:axId val="2094734552"/>
        <c:scaling>
          <c:orientation val="minMax"/>
          <c:max val="48.4"/>
          <c:min val="47"/>
        </c:scaling>
        <c:delete val="0"/>
        <c:axPos val="l"/>
        <c:majorGridlines>
          <c:spPr>
            <a:ln w="9525" cap="flat">
              <a:solidFill>
                <a:srgbClr val="E3E8EE"/>
              </a:solidFill>
              <a:prstDash val="solid"/>
              <a:round/>
            </a:ln>
          </c:spPr>
        </c:majorGridlines>
        <c:title>
          <c:tx>
            <c:rich>
              <a:bodyPr/>
              <a:lstStyle/>
              <a:p>
                <a:pPr>
                  <a:defRPr sz="1300" b="0" i="0" u="none" strike="noStrike">
                    <a:solidFill>
                      <a:srgbClr val="1B2A38"/>
                    </a:solidFill>
                    <a:latin typeface="+mn-lt"/>
                  </a:defRPr>
                </a:pPr>
                <a:r>
                  <a:rPr sz="1300" b="0" i="0" u="none" strike="noStrike">
                    <a:solidFill>
                      <a:srgbClr val="1B2A38"/>
                    </a:solidFill>
                    <a:latin typeface="+mn-lt"/>
                  </a:rPr>
                  <a:t>Sensor 11 value</a:t>
                </a:r>
              </a:p>
            </c:rich>
          </c:tx>
          <c:layout/>
          <c:overlay val="0"/>
        </c:title>
        <c:numFmt formatCode="0.0" sourceLinked="0"/>
        <c:majorTickMark val="out"/>
        <c:minorTickMark val="none"/>
        <c:tickLblPos val="nextTo"/>
        <c:spPr>
          <a:ln w="12700" cap="flat">
            <a:noFill/>
            <a:prstDash val="solid"/>
            <a:round/>
          </a:ln>
        </c:spPr>
        <c:txPr>
          <a:bodyPr/>
          <a:lstStyle/>
          <a:p>
            <a:pPr>
              <a:defRPr sz="1200" b="0" i="0" u="none" strike="noStrike">
                <a:solidFill>
                  <a:srgbClr val="1B2A38"/>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solidFill>
                <a:srgbClr val="1B2A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Drift from healthy start</c:v>
                </c:pt>
              </c:strCache>
            </c:strRef>
          </c:tx>
          <c:spPr>
            <a:solidFill>
              <a:srgbClr val="F2A541"/>
            </a:solidFill>
            <a:ln w="31750" cap="flat">
              <a:solidFill>
                <a:srgbClr val="F2A541"/>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F2A541"/>
              </a:solidFill>
              <a:ln w="9525" cap="flat">
                <a:solidFill>
                  <a:srgbClr val="F2A541"/>
                </a:solidFill>
                <a:prstDash val="solid"/>
                <a:round/>
              </a:ln>
              <a:effectLst/>
            </c:spPr>
          </c:marker>
          <c:cat>
            <c:multiLvlStrRef>
              <c:f>Sheet1!$A$2:$A$193</c:f>
              <c:multiLvlStrCache>
                <c:ptCount val="19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lvl>
              </c:multiLvlStrCache>
            </c:multiLvlStrRef>
          </c:cat>
          <c:val>
            <c:numRef>
              <c:f>Sheet1!$B$2:$B$193</c:f>
              <c:numCache>
                <c:formatCode>General</c:formatCode>
                <c:ptCount val="192"/>
                <c:pt idx="0">
                  <c:v>0.198</c:v>
                </c:pt>
                <c:pt idx="1">
                  <c:v>0.208</c:v>
                </c:pt>
                <c:pt idx="2">
                  <c:v>0.138</c:v>
                </c:pt>
                <c:pt idx="3">
                  <c:v>0.068</c:v>
                </c:pt>
                <c:pt idx="4">
                  <c:v>0.056</c:v>
                </c:pt>
                <c:pt idx="5">
                  <c:v>0.028</c:v>
                </c:pt>
                <c:pt idx="6">
                  <c:v>0.037</c:v>
                </c:pt>
                <c:pt idx="7">
                  <c:v>0.028</c:v>
                </c:pt>
                <c:pt idx="8">
                  <c:v>0.027</c:v>
                </c:pt>
                <c:pt idx="9">
                  <c:v>0</c:v>
                </c:pt>
                <c:pt idx="10">
                  <c:v>-0.032</c:v>
                </c:pt>
                <c:pt idx="11">
                  <c:v>-0.063</c:v>
                </c:pt>
                <c:pt idx="12">
                  <c:v>-0.052</c:v>
                </c:pt>
                <c:pt idx="13">
                  <c:v>-0.021</c:v>
                </c:pt>
                <c:pt idx="14">
                  <c:v>-0.019</c:v>
                </c:pt>
                <c:pt idx="15">
                  <c:v>-0.011</c:v>
                </c:pt>
                <c:pt idx="16">
                  <c:v>-0.035</c:v>
                </c:pt>
                <c:pt idx="17">
                  <c:v>-0.038</c:v>
                </c:pt>
                <c:pt idx="18">
                  <c:v>-0.027</c:v>
                </c:pt>
                <c:pt idx="19">
                  <c:v>-0.008</c:v>
                </c:pt>
                <c:pt idx="20">
                  <c:v>-0.008</c:v>
                </c:pt>
                <c:pt idx="21">
                  <c:v>-0.002</c:v>
                </c:pt>
                <c:pt idx="22">
                  <c:v>-0.015</c:v>
                </c:pt>
                <c:pt idx="23">
                  <c:v>-0.015</c:v>
                </c:pt>
                <c:pt idx="24">
                  <c:v>-0.009</c:v>
                </c:pt>
                <c:pt idx="25">
                  <c:v>-0.007</c:v>
                </c:pt>
                <c:pt idx="26">
                  <c:v>0.018</c:v>
                </c:pt>
                <c:pt idx="27">
                  <c:v>0.038</c:v>
                </c:pt>
                <c:pt idx="28">
                  <c:v>0.022</c:v>
                </c:pt>
                <c:pt idx="29">
                  <c:v>0.04</c:v>
                </c:pt>
                <c:pt idx="30">
                  <c:v>0.066</c:v>
                </c:pt>
                <c:pt idx="31">
                  <c:v>0.067</c:v>
                </c:pt>
                <c:pt idx="32">
                  <c:v>0.07</c:v>
                </c:pt>
                <c:pt idx="33">
                  <c:v>0.073</c:v>
                </c:pt>
                <c:pt idx="34">
                  <c:v>0.068</c:v>
                </c:pt>
                <c:pt idx="35">
                  <c:v>0.067</c:v>
                </c:pt>
                <c:pt idx="36">
                  <c:v>0.059</c:v>
                </c:pt>
                <c:pt idx="37">
                  <c:v>0.045</c:v>
                </c:pt>
                <c:pt idx="38">
                  <c:v>0.033</c:v>
                </c:pt>
                <c:pt idx="39">
                  <c:v>0.026</c:v>
                </c:pt>
                <c:pt idx="40">
                  <c:v>-0.006</c:v>
                </c:pt>
                <c:pt idx="41">
                  <c:v>0.018</c:v>
                </c:pt>
                <c:pt idx="42">
                  <c:v>0.022</c:v>
                </c:pt>
                <c:pt idx="43">
                  <c:v>0.02</c:v>
                </c:pt>
                <c:pt idx="44">
                  <c:v>0.034</c:v>
                </c:pt>
                <c:pt idx="45">
                  <c:v>0.029</c:v>
                </c:pt>
                <c:pt idx="46">
                  <c:v>0.022</c:v>
                </c:pt>
                <c:pt idx="47">
                  <c:v>0.035</c:v>
                </c:pt>
                <c:pt idx="48">
                  <c:v>0.045</c:v>
                </c:pt>
                <c:pt idx="49">
                  <c:v>0.059</c:v>
                </c:pt>
                <c:pt idx="50">
                  <c:v>0.062</c:v>
                </c:pt>
                <c:pt idx="51">
                  <c:v>0.02</c:v>
                </c:pt>
                <c:pt idx="52">
                  <c:v>0.017</c:v>
                </c:pt>
                <c:pt idx="53">
                  <c:v>0.01</c:v>
                </c:pt>
                <c:pt idx="54">
                  <c:v>0.005</c:v>
                </c:pt>
                <c:pt idx="55">
                  <c:v>0.011</c:v>
                </c:pt>
                <c:pt idx="56">
                  <c:v>0.018</c:v>
                </c:pt>
                <c:pt idx="57">
                  <c:v>0.004</c:v>
                </c:pt>
                <c:pt idx="58">
                  <c:v>0.008</c:v>
                </c:pt>
                <c:pt idx="59">
                  <c:v>0.002</c:v>
                </c:pt>
                <c:pt idx="60">
                  <c:v>0.021</c:v>
                </c:pt>
                <c:pt idx="61">
                  <c:v>0.042</c:v>
                </c:pt>
                <c:pt idx="62">
                  <c:v>0.064</c:v>
                </c:pt>
                <c:pt idx="63">
                  <c:v>0.071</c:v>
                </c:pt>
                <c:pt idx="64">
                  <c:v>0.087</c:v>
                </c:pt>
                <c:pt idx="65">
                  <c:v>0.075</c:v>
                </c:pt>
                <c:pt idx="66">
                  <c:v>0.085</c:v>
                </c:pt>
                <c:pt idx="67">
                  <c:v>0.095</c:v>
                </c:pt>
                <c:pt idx="68">
                  <c:v>0.11</c:v>
                </c:pt>
                <c:pt idx="69">
                  <c:v>0.11</c:v>
                </c:pt>
                <c:pt idx="70">
                  <c:v>0.109</c:v>
                </c:pt>
                <c:pt idx="71">
                  <c:v>0.108</c:v>
                </c:pt>
                <c:pt idx="72">
                  <c:v>0.086</c:v>
                </c:pt>
                <c:pt idx="73">
                  <c:v>0.099</c:v>
                </c:pt>
                <c:pt idx="74">
                  <c:v>0.065</c:v>
                </c:pt>
                <c:pt idx="75">
                  <c:v>0.095</c:v>
                </c:pt>
                <c:pt idx="76">
                  <c:v>0.097</c:v>
                </c:pt>
                <c:pt idx="77">
                  <c:v>0.101</c:v>
                </c:pt>
                <c:pt idx="78">
                  <c:v>0.095</c:v>
                </c:pt>
                <c:pt idx="79">
                  <c:v>0.118</c:v>
                </c:pt>
                <c:pt idx="80">
                  <c:v>0.131</c:v>
                </c:pt>
                <c:pt idx="81">
                  <c:v>0.129</c:v>
                </c:pt>
                <c:pt idx="82">
                  <c:v>0.122</c:v>
                </c:pt>
                <c:pt idx="83">
                  <c:v>0.102</c:v>
                </c:pt>
                <c:pt idx="84">
                  <c:v>0.116</c:v>
                </c:pt>
                <c:pt idx="85">
                  <c:v>0.11</c:v>
                </c:pt>
                <c:pt idx="86">
                  <c:v>0.103</c:v>
                </c:pt>
                <c:pt idx="87">
                  <c:v>0.109</c:v>
                </c:pt>
                <c:pt idx="88">
                  <c:v>0.12</c:v>
                </c:pt>
                <c:pt idx="89">
                  <c:v>0.088</c:v>
                </c:pt>
                <c:pt idx="90">
                  <c:v>0.077</c:v>
                </c:pt>
                <c:pt idx="91">
                  <c:v>0.097</c:v>
                </c:pt>
                <c:pt idx="92">
                  <c:v>0.121</c:v>
                </c:pt>
                <c:pt idx="93">
                  <c:v>0.131</c:v>
                </c:pt>
                <c:pt idx="94">
                  <c:v>0.133</c:v>
                </c:pt>
                <c:pt idx="95">
                  <c:v>0.134</c:v>
                </c:pt>
                <c:pt idx="96">
                  <c:v>0.146</c:v>
                </c:pt>
                <c:pt idx="97">
                  <c:v>0.137</c:v>
                </c:pt>
                <c:pt idx="98">
                  <c:v>0.131</c:v>
                </c:pt>
                <c:pt idx="99">
                  <c:v>0.163</c:v>
                </c:pt>
                <c:pt idx="100">
                  <c:v>0.193</c:v>
                </c:pt>
                <c:pt idx="101">
                  <c:v>0.197</c:v>
                </c:pt>
                <c:pt idx="102">
                  <c:v>0.208</c:v>
                </c:pt>
                <c:pt idx="103">
                  <c:v>0.194</c:v>
                </c:pt>
                <c:pt idx="104">
                  <c:v>0.187</c:v>
                </c:pt>
                <c:pt idx="105">
                  <c:v>0.192</c:v>
                </c:pt>
                <c:pt idx="106">
                  <c:v>0.181</c:v>
                </c:pt>
                <c:pt idx="107">
                  <c:v>0.205</c:v>
                </c:pt>
                <c:pt idx="108">
                  <c:v>0.223</c:v>
                </c:pt>
                <c:pt idx="109">
                  <c:v>0.214</c:v>
                </c:pt>
                <c:pt idx="110">
                  <c:v>0.214</c:v>
                </c:pt>
                <c:pt idx="111">
                  <c:v>0.187</c:v>
                </c:pt>
                <c:pt idx="112">
                  <c:v>0.176</c:v>
                </c:pt>
                <c:pt idx="113">
                  <c:v>0.2</c:v>
                </c:pt>
                <c:pt idx="114">
                  <c:v>0.212</c:v>
                </c:pt>
                <c:pt idx="115">
                  <c:v>0.211</c:v>
                </c:pt>
                <c:pt idx="116">
                  <c:v>0.228</c:v>
                </c:pt>
                <c:pt idx="117">
                  <c:v>0.222</c:v>
                </c:pt>
                <c:pt idx="118">
                  <c:v>0.219</c:v>
                </c:pt>
                <c:pt idx="119">
                  <c:v>0.224</c:v>
                </c:pt>
                <c:pt idx="120">
                  <c:v>0.206</c:v>
                </c:pt>
                <c:pt idx="121">
                  <c:v>0.244</c:v>
                </c:pt>
                <c:pt idx="122">
                  <c:v>0.239</c:v>
                </c:pt>
                <c:pt idx="123">
                  <c:v>0.236</c:v>
                </c:pt>
                <c:pt idx="124">
                  <c:v>0.256</c:v>
                </c:pt>
                <c:pt idx="125">
                  <c:v>0.262</c:v>
                </c:pt>
                <c:pt idx="126">
                  <c:v>0.273</c:v>
                </c:pt>
                <c:pt idx="127">
                  <c:v>0.28</c:v>
                </c:pt>
                <c:pt idx="128">
                  <c:v>0.286</c:v>
                </c:pt>
                <c:pt idx="129">
                  <c:v>0.272</c:v>
                </c:pt>
                <c:pt idx="130">
                  <c:v>0.298</c:v>
                </c:pt>
                <c:pt idx="131">
                  <c:v>0.294</c:v>
                </c:pt>
                <c:pt idx="132">
                  <c:v>0.31</c:v>
                </c:pt>
                <c:pt idx="133">
                  <c:v>0.33</c:v>
                </c:pt>
                <c:pt idx="134">
                  <c:v>0.301</c:v>
                </c:pt>
                <c:pt idx="135">
                  <c:v>0.295</c:v>
                </c:pt>
                <c:pt idx="136">
                  <c:v>0.321</c:v>
                </c:pt>
                <c:pt idx="137">
                  <c:v>0.299</c:v>
                </c:pt>
                <c:pt idx="138">
                  <c:v>0.305</c:v>
                </c:pt>
                <c:pt idx="139">
                  <c:v>0.31</c:v>
                </c:pt>
                <c:pt idx="140">
                  <c:v>0.289</c:v>
                </c:pt>
                <c:pt idx="141">
                  <c:v>0.292</c:v>
                </c:pt>
                <c:pt idx="142">
                  <c:v>0.287</c:v>
                </c:pt>
                <c:pt idx="143">
                  <c:v>0.269</c:v>
                </c:pt>
                <c:pt idx="144">
                  <c:v>0.289</c:v>
                </c:pt>
                <c:pt idx="145">
                  <c:v>0.309</c:v>
                </c:pt>
                <c:pt idx="146">
                  <c:v>0.3</c:v>
                </c:pt>
                <c:pt idx="147">
                  <c:v>0.309</c:v>
                </c:pt>
                <c:pt idx="148">
                  <c:v>0.325</c:v>
                </c:pt>
                <c:pt idx="149">
                  <c:v>0.334</c:v>
                </c:pt>
                <c:pt idx="150">
                  <c:v>0.343</c:v>
                </c:pt>
                <c:pt idx="151">
                  <c:v>0.356</c:v>
                </c:pt>
                <c:pt idx="152">
                  <c:v>0.378</c:v>
                </c:pt>
                <c:pt idx="153">
                  <c:v>0.394</c:v>
                </c:pt>
                <c:pt idx="154">
                  <c:v>0.401</c:v>
                </c:pt>
                <c:pt idx="155">
                  <c:v>0.396</c:v>
                </c:pt>
                <c:pt idx="156">
                  <c:v>0.388</c:v>
                </c:pt>
                <c:pt idx="157">
                  <c:v>0.407</c:v>
                </c:pt>
                <c:pt idx="158">
                  <c:v>0.4</c:v>
                </c:pt>
                <c:pt idx="159">
                  <c:v>0.424</c:v>
                </c:pt>
                <c:pt idx="160">
                  <c:v>0.443</c:v>
                </c:pt>
                <c:pt idx="161">
                  <c:v>0.45</c:v>
                </c:pt>
                <c:pt idx="162">
                  <c:v>0.465</c:v>
                </c:pt>
                <c:pt idx="163">
                  <c:v>0.462</c:v>
                </c:pt>
                <c:pt idx="164">
                  <c:v>0.49</c:v>
                </c:pt>
                <c:pt idx="165">
                  <c:v>0.518</c:v>
                </c:pt>
                <c:pt idx="166">
                  <c:v>0.531</c:v>
                </c:pt>
                <c:pt idx="167">
                  <c:v>0.547</c:v>
                </c:pt>
                <c:pt idx="168">
                  <c:v>0.559</c:v>
                </c:pt>
                <c:pt idx="169">
                  <c:v>0.561</c:v>
                </c:pt>
                <c:pt idx="170">
                  <c:v>0.587</c:v>
                </c:pt>
                <c:pt idx="171">
                  <c:v>0.615</c:v>
                </c:pt>
                <c:pt idx="172">
                  <c:v>0.616</c:v>
                </c:pt>
                <c:pt idx="173">
                  <c:v>0.646</c:v>
                </c:pt>
                <c:pt idx="174">
                  <c:v>0.643</c:v>
                </c:pt>
                <c:pt idx="175">
                  <c:v>0.641</c:v>
                </c:pt>
                <c:pt idx="176">
                  <c:v>0.659</c:v>
                </c:pt>
                <c:pt idx="177">
                  <c:v>0.675</c:v>
                </c:pt>
                <c:pt idx="178">
                  <c:v>0.689</c:v>
                </c:pt>
                <c:pt idx="179">
                  <c:v>0.688</c:v>
                </c:pt>
                <c:pt idx="180">
                  <c:v>0.695</c:v>
                </c:pt>
                <c:pt idx="181">
                  <c:v>0.686</c:v>
                </c:pt>
                <c:pt idx="182">
                  <c:v>0.699</c:v>
                </c:pt>
                <c:pt idx="183">
                  <c:v>0.706</c:v>
                </c:pt>
                <c:pt idx="184">
                  <c:v>0.735</c:v>
                </c:pt>
                <c:pt idx="185">
                  <c:v>0.763</c:v>
                </c:pt>
                <c:pt idx="186">
                  <c:v>0.783</c:v>
                </c:pt>
                <c:pt idx="187">
                  <c:v>0.783</c:v>
                </c:pt>
                <c:pt idx="188">
                  <c:v>0.789</c:v>
                </c:pt>
                <c:pt idx="189">
                  <c:v>0.837</c:v>
                </c:pt>
                <c:pt idx="190">
                  <c:v>0.842</c:v>
                </c:pt>
                <c:pt idx="191">
                  <c:v>0.869</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300" b="0" i="0" u="none" strike="noStrike">
                    <a:solidFill>
                      <a:srgbClr val="1B2A38"/>
                    </a:solidFill>
                    <a:latin typeface="+mn-lt"/>
                  </a:defRPr>
                </a:pPr>
                <a:r>
                  <a:rPr sz="1300" b="0" i="0" u="none" strike="noStrike">
                    <a:solidFill>
                      <a:srgbClr val="1B2A38"/>
                    </a:solidFill>
                    <a:latin typeface="+mn-lt"/>
                  </a:rPr>
                  <a:t>Operating cycle</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1B2A38"/>
                </a:solidFill>
                <a:latin typeface="+mn-lt"/>
              </a:defRPr>
            </a:pPr>
            <a:endParaRPr lang="en-US"/>
          </a:p>
        </c:txPr>
        <c:crossAx val="2094734552"/>
        <c:crosses val="autoZero"/>
        <c:auto val="1"/>
        <c:lblAlgn val="ctr"/>
        <c:noMultiLvlLbl val="1"/>
        <c:tickLblSkip val="30"/>
      </c:catAx>
      <c:valAx>
        <c:axId val="2094734552"/>
        <c:scaling>
          <c:orientation val="minMax"/>
        </c:scaling>
        <c:delete val="0"/>
        <c:axPos val="l"/>
        <c:majorGridlines>
          <c:spPr>
            <a:ln w="9525" cap="flat">
              <a:solidFill>
                <a:srgbClr val="E3E8EE"/>
              </a:solidFill>
              <a:prstDash val="solid"/>
              <a:round/>
            </a:ln>
          </c:spPr>
        </c:majorGridlines>
        <c:title>
          <c:tx>
            <c:rich>
              <a:bodyPr/>
              <a:lstStyle/>
              <a:p>
                <a:pPr>
                  <a:defRPr sz="1300" b="0" i="0" u="none" strike="noStrike">
                    <a:solidFill>
                      <a:srgbClr val="1B2A38"/>
                    </a:solidFill>
                    <a:latin typeface="+mn-lt"/>
                  </a:defRPr>
                </a:pPr>
                <a:r>
                  <a:rPr sz="1300" b="0" i="0" u="none" strike="noStrike">
                    <a:solidFill>
                      <a:srgbClr val="1B2A38"/>
                    </a:solidFill>
                    <a:latin typeface="+mn-lt"/>
                  </a:rPr>
                  <a:t>s11_dev (units)</a:t>
                </a:r>
              </a:p>
            </c:rich>
          </c:tx>
          <c:layout/>
          <c:overlay val="0"/>
        </c:title>
        <c:numFmt formatCode="0.0" sourceLinked="0"/>
        <c:majorTickMark val="out"/>
        <c:minorTickMark val="none"/>
        <c:tickLblPos val="nextTo"/>
        <c:spPr>
          <a:ln w="12700" cap="flat">
            <a:noFill/>
            <a:prstDash val="solid"/>
            <a:round/>
          </a:ln>
        </c:spPr>
        <c:txPr>
          <a:bodyPr/>
          <a:lstStyle/>
          <a:p>
            <a:pPr>
              <a:defRPr sz="1200" b="0" i="0" u="none" strike="noStrike">
                <a:solidFill>
                  <a:srgbClr val="1B2A3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MAE</c:v>
                </c:pt>
              </c:strCache>
            </c:strRef>
          </c:tx>
          <c:spPr>
            <a:solidFill>
              <a:srgbClr val="0E8F9B"/>
            </a:solidFill>
            <a:effectLst/>
          </c:spPr>
          <c:invertIfNegative val="0"/>
          <c:dLbls>
            <c:numFmt formatCode="0.0" sourceLinked="0"/>
            <c:txPr>
              <a:bodyPr/>
              <a:lstStyle/>
              <a:p>
                <a:pPr>
                  <a:defRPr b="0" i="0" strike="noStrike" sz="1200" u="none">
                    <a:solidFill>
                      <a:srgbClr val="1B2A38"/>
                    </a:solidFill>
                    <a:latin typeface="+mn-lt"/>
                  </a:defRPr>
                </a:pPr>
              </a:p>
            </c:txPr>
            <c:showLegendKey val="0"/>
            <c:showVal val="1"/>
            <c:showCatName val="0"/>
            <c:showSerName val="0"/>
            <c:showPercent val="0"/>
            <c:showBubbleSize val="0"/>
            <c:showLeaderLines val="0"/>
          </c:dLbls>
          <c:cat>
            <c:multiLvlStrRef>
              <c:f>Sheet1!$A$2:$A$5</c:f>
              <c:multiLvlStrCache>
                <c:ptCount val="4"/>
                <c:lvl>
                  <c:pt idx="0">
                    <c:v>Baseline</c:v>
                  </c:pt>
                  <c:pt idx="1">
                    <c:v>Linear Regression</c:v>
                  </c:pt>
                  <c:pt idx="2">
                    <c:v>Decision Tree</c:v>
                  </c:pt>
                  <c:pt idx="3">
                    <c:v>Random Forest</c:v>
                  </c:pt>
                </c:lvl>
              </c:multiLvlStrCache>
            </c:multiLvlStrRef>
          </c:cat>
          <c:val>
            <c:numRef>
              <c:f>Sheet1!$B$2:$B$5</c:f>
              <c:numCache>
                <c:formatCode>General</c:formatCode>
                <c:ptCount val="4"/>
                <c:pt idx="0">
                  <c:v>34.83</c:v>
                </c:pt>
                <c:pt idx="1">
                  <c:v>12.84</c:v>
                </c:pt>
                <c:pt idx="2">
                  <c:v>10.8</c:v>
                </c:pt>
                <c:pt idx="3">
                  <c:v>8.27</c:v>
                </c:pt>
              </c:numCache>
            </c:numRef>
          </c:val>
        </c:ser>
        <c:ser>
          <c:idx val="1"/>
          <c:order val="1"/>
          <c:tx>
            <c:strRef>
              <c:f>Sheet1!$C$1</c:f>
              <c:strCache>
                <c:ptCount val="1"/>
                <c:pt idx="0">
                  <c:v>RMSE</c:v>
                </c:pt>
              </c:strCache>
            </c:strRef>
          </c:tx>
          <c:spPr>
            <a:solidFill>
              <a:srgbClr val="A9B8C2"/>
            </a:solidFill>
            <a:effectLst/>
          </c:spPr>
          <c:invertIfNegative val="0"/>
          <c:dLbls>
            <c:numFmt formatCode="0.0" sourceLinked="0"/>
            <c:txPr>
              <a:bodyPr/>
              <a:lstStyle/>
              <a:p>
                <a:pPr>
                  <a:defRPr b="0" i="0" strike="noStrike" sz="1200" u="none">
                    <a:solidFill>
                      <a:srgbClr val="1B2A38"/>
                    </a:solidFill>
                    <a:latin typeface="+mn-lt"/>
                  </a:defRPr>
                </a:pPr>
              </a:p>
            </c:txPr>
            <c:showLegendKey val="0"/>
            <c:showVal val="1"/>
            <c:showCatName val="0"/>
            <c:showSerName val="0"/>
            <c:showPercent val="0"/>
            <c:showBubbleSize val="0"/>
            <c:showLeaderLines val="0"/>
          </c:dLbls>
          <c:cat>
            <c:multiLvlStrRef>
              <c:f>Sheet1!$A$2:$A$5</c:f>
              <c:multiLvlStrCache>
                <c:ptCount val="4"/>
                <c:lvl>
                  <c:pt idx="0">
                    <c:v>Baseline</c:v>
                  </c:pt>
                  <c:pt idx="1">
                    <c:v>Linear Regression</c:v>
                  </c:pt>
                  <c:pt idx="2">
                    <c:v>Decision Tree</c:v>
                  </c:pt>
                  <c:pt idx="3">
                    <c:v>Random Forest</c:v>
                  </c:pt>
                </c:lvl>
              </c:multiLvlStrCache>
            </c:multiLvlStrRef>
          </c:cat>
          <c:val>
            <c:numRef>
              <c:f>Sheet1!$C$2:$C$5</c:f>
              <c:numCache>
                <c:formatCode>General</c:formatCode>
                <c:ptCount val="4"/>
                <c:pt idx="0">
                  <c:v>41.94</c:v>
                </c:pt>
                <c:pt idx="1">
                  <c:v>15.85</c:v>
                </c:pt>
                <c:pt idx="2">
                  <c:v>14.96</c:v>
                </c:pt>
                <c:pt idx="3">
                  <c:v>11.44</c:v>
                </c:pt>
              </c:numCache>
            </c:numRef>
          </c:val>
        </c:ser>
        <c:dLbls>
          <c:numFmt formatCode="0.0" sourceLinked="0"/>
          <c:txPr>
            <a:bodyPr/>
            <a:lstStyle/>
            <a:p>
              <a:pPr>
                <a:defRPr b="0" i="0" strike="noStrike" sz="1200" u="none">
                  <a:solidFill>
                    <a:srgbClr val="1B2A3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1B2A38"/>
                </a:solidFill>
                <a:latin typeface="+mn-lt"/>
              </a:defRPr>
            </a:pPr>
            <a:endParaRPr lang="en-US"/>
          </a:p>
        </c:txPr>
        <c:crossAx val="2094734552"/>
        <c:crosses val="autoZero"/>
        <c:auto val="1"/>
        <c:lblAlgn val="ctr"/>
        <c:noMultiLvlLbl val="1"/>
      </c:catAx>
      <c:valAx>
        <c:axId val="2094734552"/>
        <c:scaling>
          <c:orientation val="minMax"/>
          <c:max val="50"/>
        </c:scaling>
        <c:delete val="0"/>
        <c:axPos val="l"/>
        <c:majorGridlines>
          <c:spPr>
            <a:ln w="9525" cap="flat">
              <a:solidFill>
                <a:srgbClr val="E3E8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1B2A38"/>
                </a:solidFill>
                <a:latin typeface="+mn-lt"/>
              </a:defRPr>
            </a:pPr>
            <a:endParaRPr lang="en-US"/>
          </a:p>
        </c:txPr>
        <c:crossAx val="2094734554"/>
        <c:crosses val="autoZero"/>
        <c:crossBetween val="between"/>
        <c:majorUnit val="10"/>
      </c:valAx>
      <c:spPr>
        <a:noFill/>
        <a:ln>
          <a:noFill/>
        </a:ln>
        <a:effectLst/>
      </c:spPr>
    </c:plotArea>
    <c:legend>
      <c:legendPos val="t"/>
      <c:overlay val="0"/>
      <c:txPr>
        <a:bodyPr/>
        <a:lstStyle/>
        <a:p>
          <a:pPr>
            <a:defRPr sz="1200">
              <a:solidFill>
                <a:srgbClr val="1B2A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Linear Reg.</c:v>
                </c:pt>
              </c:strCache>
            </c:strRef>
          </c:tx>
          <c:spPr>
            <a:solidFill>
              <a:srgbClr val="A9B8C2"/>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Sheet1!$A$2:$A$7</c:f>
              <c:multiLvlStrCache>
                <c:ptCount val="6"/>
                <c:lvl>
                  <c:pt idx="0">
                    <c:v>0–25</c:v>
                  </c:pt>
                  <c:pt idx="1">
                    <c:v>25–50</c:v>
                  </c:pt>
                  <c:pt idx="2">
                    <c:v>50–75</c:v>
                  </c:pt>
                  <c:pt idx="3">
                    <c:v>75–100</c:v>
                  </c:pt>
                  <c:pt idx="4">
                    <c:v>100–125</c:v>
                  </c:pt>
                  <c:pt idx="5">
                    <c:v>&gt;125</c:v>
                  </c:pt>
                </c:lvl>
              </c:multiLvlStrCache>
            </c:multiLvlStrRef>
          </c:cat>
          <c:val>
            <c:numRef>
              <c:f>Sheet1!$B$2:$B$7</c:f>
              <c:numCache>
                <c:formatCode>General</c:formatCode>
                <c:ptCount val="6"/>
                <c:pt idx="0">
                  <c:v>13.93</c:v>
                </c:pt>
                <c:pt idx="1">
                  <c:v>21.87</c:v>
                </c:pt>
                <c:pt idx="2">
                  <c:v>20.81</c:v>
                </c:pt>
                <c:pt idx="3">
                  <c:v>13.26</c:v>
                </c:pt>
                <c:pt idx="4">
                  <c:v>12.34</c:v>
                </c:pt>
                <c:pt idx="5">
                  <c:v>12.2</c:v>
                </c:pt>
              </c:numCache>
            </c:numRef>
          </c:val>
        </c:ser>
        <c:ser>
          <c:idx val="1"/>
          <c:order val="1"/>
          <c:tx>
            <c:strRef>
              <c:f>Sheet1!$C$1</c:f>
              <c:strCache>
                <c:ptCount val="1"/>
                <c:pt idx="0">
                  <c:v>Decision Tree</c:v>
                </c:pt>
              </c:strCache>
            </c:strRef>
          </c:tx>
          <c:spPr>
            <a:solidFill>
              <a:srgbClr val="5B7083"/>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Sheet1!$A$2:$A$7</c:f>
              <c:multiLvlStrCache>
                <c:ptCount val="6"/>
                <c:lvl>
                  <c:pt idx="0">
                    <c:v>0–25</c:v>
                  </c:pt>
                  <c:pt idx="1">
                    <c:v>25–50</c:v>
                  </c:pt>
                  <c:pt idx="2">
                    <c:v>50–75</c:v>
                  </c:pt>
                  <c:pt idx="3">
                    <c:v>75–100</c:v>
                  </c:pt>
                  <c:pt idx="4">
                    <c:v>100–125</c:v>
                  </c:pt>
                  <c:pt idx="5">
                    <c:v>&gt;125</c:v>
                  </c:pt>
                </c:lvl>
              </c:multiLvlStrCache>
            </c:multiLvlStrRef>
          </c:cat>
          <c:val>
            <c:numRef>
              <c:f>Sheet1!$C$2:$C$7</c:f>
              <c:numCache>
                <c:formatCode>General</c:formatCode>
                <c:ptCount val="6"/>
                <c:pt idx="0">
                  <c:v>5.88</c:v>
                </c:pt>
                <c:pt idx="1">
                  <c:v>13.7</c:v>
                </c:pt>
                <c:pt idx="2">
                  <c:v>22.8</c:v>
                </c:pt>
                <c:pt idx="3">
                  <c:v>21.67</c:v>
                </c:pt>
                <c:pt idx="4">
                  <c:v>15.12</c:v>
                </c:pt>
                <c:pt idx="5">
                  <c:v>7.67</c:v>
                </c:pt>
              </c:numCache>
            </c:numRef>
          </c:val>
        </c:ser>
        <c:ser>
          <c:idx val="2"/>
          <c:order val="2"/>
          <c:tx>
            <c:strRef>
              <c:f>Sheet1!$D$1</c:f>
              <c:strCache>
                <c:ptCount val="1"/>
                <c:pt idx="0">
                  <c:v>Random Forest</c:v>
                </c:pt>
              </c:strCache>
            </c:strRef>
          </c:tx>
          <c:spPr>
            <a:solidFill>
              <a:srgbClr val="0E8F9B"/>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Sheet1!$A$2:$A$7</c:f>
              <c:multiLvlStrCache>
                <c:ptCount val="6"/>
                <c:lvl>
                  <c:pt idx="0">
                    <c:v>0–25</c:v>
                  </c:pt>
                  <c:pt idx="1">
                    <c:v>25–50</c:v>
                  </c:pt>
                  <c:pt idx="2">
                    <c:v>50–75</c:v>
                  </c:pt>
                  <c:pt idx="3">
                    <c:v>75–100</c:v>
                  </c:pt>
                  <c:pt idx="4">
                    <c:v>100–125</c:v>
                  </c:pt>
                  <c:pt idx="5">
                    <c:v>&gt;125</c:v>
                  </c:pt>
                </c:lvl>
              </c:multiLvlStrCache>
            </c:multiLvlStrRef>
          </c:cat>
          <c:val>
            <c:numRef>
              <c:f>Sheet1!$D$2:$D$7</c:f>
              <c:numCache>
                <c:formatCode>General</c:formatCode>
                <c:ptCount val="6"/>
                <c:pt idx="0">
                  <c:v>4.25</c:v>
                </c:pt>
                <c:pt idx="1">
                  <c:v>8.33</c:v>
                </c:pt>
                <c:pt idx="2">
                  <c:v>15.43</c:v>
                </c:pt>
                <c:pt idx="3">
                  <c:v>16.75</c:v>
                </c:pt>
                <c:pt idx="4">
                  <c:v>11.7</c:v>
                </c:pt>
                <c:pt idx="5">
                  <c:v>6.37</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300" b="0" i="0" u="none" strike="noStrike">
                    <a:solidFill>
                      <a:srgbClr val="1B2A38"/>
                    </a:solidFill>
                    <a:latin typeface="+mn-lt"/>
                  </a:defRPr>
                </a:pPr>
                <a:r>
                  <a:rPr sz="1300" b="0" i="0" u="none" strike="noStrike">
                    <a:solidFill>
                      <a:srgbClr val="1B2A38"/>
                    </a:solidFill>
                    <a:latin typeface="+mn-lt"/>
                  </a:rPr>
                  <a:t>True RUL band (cycles)</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1B2A38"/>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9525" cap="flat">
              <a:solidFill>
                <a:srgbClr val="E3E8EE"/>
              </a:solidFill>
              <a:prstDash val="solid"/>
              <a:round/>
            </a:ln>
          </c:spPr>
        </c:majorGridlines>
        <c:title>
          <c:tx>
            <c:rich>
              <a:bodyPr/>
              <a:lstStyle/>
              <a:p>
                <a:pPr>
                  <a:defRPr sz="1300" b="0" i="0" u="none" strike="noStrike">
                    <a:solidFill>
                      <a:srgbClr val="1B2A38"/>
                    </a:solidFill>
                    <a:latin typeface="+mn-lt"/>
                  </a:defRPr>
                </a:pPr>
                <a:r>
                  <a:rPr sz="1300" b="0" i="0" u="none" strike="noStrike">
                    <a:solidFill>
                      <a:srgbClr val="1B2A38"/>
                    </a:solidFill>
                    <a:latin typeface="+mn-lt"/>
                  </a:rPr>
                  <a:t>RMSE (cycles)</a:t>
                </a:r>
              </a:p>
            </c:rich>
          </c:tx>
          <c:layout/>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rgbClr val="1B2A38"/>
                </a:solidFill>
                <a:latin typeface="+mn-lt"/>
              </a:defRPr>
            </a:pPr>
            <a:endParaRPr lang="en-US"/>
          </a:p>
        </c:txPr>
        <c:crossAx val="2094734554"/>
        <c:crosses val="autoZero"/>
        <c:crossBetween val="between"/>
        <c:majorUnit val="5"/>
      </c:valAx>
      <c:spPr>
        <a:noFill/>
        <a:ln>
          <a:noFill/>
        </a:ln>
        <a:effectLst/>
      </c:spPr>
    </c:plotArea>
    <c:legend>
      <c:legendPos val="t"/>
      <c:overlay val="0"/>
      <c:txPr>
        <a:bodyPr/>
        <a:lstStyle/>
        <a:p>
          <a:pPr>
            <a:defRPr sz="1200">
              <a:solidFill>
                <a:srgbClr val="1B2A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Raw sensors only</c:v>
                </c:pt>
              </c:strCache>
            </c:strRef>
          </c:tx>
          <c:spPr>
            <a:solidFill>
              <a:srgbClr val="F2A541"/>
            </a:solidFill>
            <a:effectLst/>
          </c:spPr>
          <c:invertIfNegative val="0"/>
          <c:dLbls>
            <c:numFmt formatCode="0.0" sourceLinked="0"/>
            <c:txPr>
              <a:bodyPr/>
              <a:lstStyle/>
              <a:p>
                <a:pPr>
                  <a:defRPr b="0" i="0" strike="noStrike" sz="1200" u="none">
                    <a:solidFill>
                      <a:srgbClr val="1B2A38"/>
                    </a:solidFill>
                    <a:latin typeface="+mn-lt"/>
                  </a:defRPr>
                </a:pPr>
              </a:p>
            </c:txPr>
            <c:showLegendKey val="0"/>
            <c:showVal val="1"/>
            <c:showCatName val="0"/>
            <c:showSerName val="0"/>
            <c:showPercent val="0"/>
            <c:showBubbleSize val="0"/>
            <c:showLeaderLines val="0"/>
          </c:dLbls>
          <c:cat>
            <c:multiLvlStrRef>
              <c:f>Sheet1!$A$2:$A$4</c:f>
              <c:multiLvlStrCache>
                <c:ptCount val="3"/>
                <c:lvl>
                  <c:pt idx="0">
                    <c:v>Linear Reg.</c:v>
                  </c:pt>
                  <c:pt idx="1">
                    <c:v>Decision Tree</c:v>
                  </c:pt>
                  <c:pt idx="2">
                    <c:v>Random Forest</c:v>
                  </c:pt>
                </c:lvl>
              </c:multiLvlStrCache>
            </c:multiLvlStrRef>
          </c:cat>
          <c:val>
            <c:numRef>
              <c:f>Sheet1!$B$2:$B$4</c:f>
              <c:numCache>
                <c:formatCode>General</c:formatCode>
                <c:ptCount val="3"/>
                <c:pt idx="0">
                  <c:v>17.37</c:v>
                </c:pt>
                <c:pt idx="1">
                  <c:v>17.73</c:v>
                </c:pt>
                <c:pt idx="2">
                  <c:v>15.98</c:v>
                </c:pt>
              </c:numCache>
            </c:numRef>
          </c:val>
        </c:ser>
        <c:ser>
          <c:idx val="1"/>
          <c:order val="1"/>
          <c:tx>
            <c:strRef>
              <c:f>Sheet1!$C$1</c:f>
              <c:strCache>
                <c:ptCount val="1"/>
                <c:pt idx="0">
                  <c:v>Engineered features</c:v>
                </c:pt>
              </c:strCache>
            </c:strRef>
          </c:tx>
          <c:spPr>
            <a:solidFill>
              <a:srgbClr val="0E8F9B"/>
            </a:solidFill>
            <a:effectLst/>
          </c:spPr>
          <c:invertIfNegative val="0"/>
          <c:dLbls>
            <c:numFmt formatCode="0.0" sourceLinked="0"/>
            <c:txPr>
              <a:bodyPr/>
              <a:lstStyle/>
              <a:p>
                <a:pPr>
                  <a:defRPr b="0" i="0" strike="noStrike" sz="1200" u="none">
                    <a:solidFill>
                      <a:srgbClr val="1B2A38"/>
                    </a:solidFill>
                    <a:latin typeface="+mn-lt"/>
                  </a:defRPr>
                </a:pPr>
              </a:p>
            </c:txPr>
            <c:showLegendKey val="0"/>
            <c:showVal val="1"/>
            <c:showCatName val="0"/>
            <c:showSerName val="0"/>
            <c:showPercent val="0"/>
            <c:showBubbleSize val="0"/>
            <c:showLeaderLines val="0"/>
          </c:dLbls>
          <c:cat>
            <c:multiLvlStrRef>
              <c:f>Sheet1!$A$2:$A$4</c:f>
              <c:multiLvlStrCache>
                <c:ptCount val="3"/>
                <c:lvl>
                  <c:pt idx="0">
                    <c:v>Linear Reg.</c:v>
                  </c:pt>
                  <c:pt idx="1">
                    <c:v>Decision Tree</c:v>
                  </c:pt>
                  <c:pt idx="2">
                    <c:v>Random Forest</c:v>
                  </c:pt>
                </c:lvl>
              </c:multiLvlStrCache>
            </c:multiLvlStrRef>
          </c:cat>
          <c:val>
            <c:numRef>
              <c:f>Sheet1!$C$2:$C$4</c:f>
              <c:numCache>
                <c:formatCode>General</c:formatCode>
                <c:ptCount val="3"/>
                <c:pt idx="0">
                  <c:v>15.29</c:v>
                </c:pt>
                <c:pt idx="1">
                  <c:v>14.13</c:v>
                </c:pt>
                <c:pt idx="2">
                  <c:v>10.34</c:v>
                </c:pt>
              </c:numCache>
            </c:numRef>
          </c:val>
        </c:ser>
        <c:dLbls>
          <c:numFmt formatCode="0.0" sourceLinked="0"/>
          <c:txPr>
            <a:bodyPr/>
            <a:lstStyle/>
            <a:p>
              <a:pPr>
                <a:defRPr b="0" i="0" strike="noStrike" sz="1200" u="none">
                  <a:solidFill>
                    <a:srgbClr val="1B2A38"/>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B2A38"/>
                </a:solidFill>
                <a:latin typeface="+mn-lt"/>
              </a:defRPr>
            </a:pPr>
            <a:endParaRPr lang="en-US"/>
          </a:p>
        </c:txPr>
        <c:crossAx val="2094734552"/>
        <c:crosses val="autoZero"/>
        <c:auto val="1"/>
        <c:lblAlgn val="ctr"/>
        <c:noMultiLvlLbl val="1"/>
      </c:catAx>
      <c:valAx>
        <c:axId val="2094734552"/>
        <c:scaling>
          <c:orientation val="minMax"/>
          <c:max val="20"/>
        </c:scaling>
        <c:delete val="0"/>
        <c:axPos val="b"/>
        <c:majorGridlines>
          <c:spPr>
            <a:ln w="9525" cap="flat">
              <a:solidFill>
                <a:srgbClr val="E3E8EE"/>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1B2A38"/>
                </a:solidFill>
                <a:latin typeface="+mn-lt"/>
              </a:defRPr>
            </a:pPr>
            <a:endParaRPr lang="en-US"/>
          </a:p>
        </c:txPr>
        <c:crossAx val="2094734554"/>
        <c:crosses val="autoZero"/>
        <c:crossBetween val="between"/>
        <c:majorUnit val="5"/>
      </c:valAx>
      <c:spPr>
        <a:noFill/>
        <a:ln>
          <a:noFill/>
        </a:ln>
        <a:effectLst/>
      </c:spPr>
    </c:plotArea>
    <c:legend>
      <c:legendPos val="t"/>
      <c:overlay val="0"/>
      <c:txPr>
        <a:bodyPr/>
        <a:lstStyle/>
        <a:p>
          <a:pPr>
            <a:defRPr sz="1200">
              <a:solidFill>
                <a:srgbClr val="1B2A3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 is the number of cycles left before failure. Training engines run to failure, so we can compute it; test engines stop early and NASA gives the true RUL separately. Lifetimes vary from 128 to 362 cycles, so engine age alone cannot tell us the RUL.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sensors remain after removing the seven flat ones. Temperatures and pressures such as s11 and s4 rise towards failure, while s7, s12, s20 and s21 fall. Because single readings are noisy, we build trend features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sensor we compute four features over the last 10 cycles. The most useful one turned out to be drift from healthy: how far a sensor has moved from that engine's own normal level in its first 10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 engines go to training or validation, never both, to avoid leakage. Settings are tuned with GroupKFold on the 80 training engines; the 20 validation engines pick the best model; the official test set is used only once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was chosen on validation before touching the test set. On the 100 official test engines it reaches RMSE 11.44, MAE 8.27 and R squared 0.92, against RMSE 41.94 for the always-predict-the-average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the research question: yes. Engineered features reduce the Random Forest error by 35 percent. The hardest region is the transition from healthy to degrading, 50 to 100 cycles before failure. Phase 2 will compare deep learning under the same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each team member and their part of the pipeline.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2743200"/>
          </a:xfrm>
          <a:prstGeom prst="rect">
            <a:avLst/>
          </a:prstGeom>
          <a:solidFill>
            <a:srgbClr val="0B2239"/>
          </a:solidFill>
          <a:ln/>
        </p:spPr>
      </p:sp>
      <p:sp>
        <p:nvSpPr>
          <p:cNvPr id="3" name="Text 1"/>
          <p:cNvSpPr/>
          <p:nvPr/>
        </p:nvSpPr>
        <p:spPr>
          <a:xfrm>
            <a:off x="822960" y="9646920"/>
            <a:ext cx="10972800" cy="365760"/>
          </a:xfrm>
          <a:prstGeom prst="rect">
            <a:avLst/>
          </a:prstGeom>
          <a:noFill/>
          <a:ln/>
        </p:spPr>
        <p:txBody>
          <a:bodyPr wrap="square" lIns="0" tIns="0" rIns="0" bIns="0" rtlCol="0" anchor="ctr"/>
          <a:lstStyle/>
          <a:p>
            <a:pPr indent="0" marL="0">
              <a:buNone/>
            </a:pPr>
            <a:r>
              <a:rPr lang="en-US" sz="1500" dirty="0">
                <a:solidFill>
                  <a:srgbClr val="5B7083"/>
                </a:solidFill>
              </a:rPr>
              <a:t>Turbofan Engine RUL Prediction  ·  Applied Machine Learning  ·  NASA C-MAPSS FD001</a:t>
            </a:r>
            <a:endParaRPr lang="en-US" sz="1500" dirty="0"/>
          </a:p>
        </p:txBody>
      </p:sp>
      <p:sp>
        <p:nvSpPr>
          <p:cNvPr id="25" name="Slide Number Placeholder 0"/>
          <p:cNvSpPr>
            <a:spLocks noGrp="1"/>
          </p:cNvSpPr>
          <p:nvPr>
            <p:ph type="sldNum" sz="quarter" idx="4294967295"/>
          </p:nvPr>
        </p:nvSpPr>
        <p:spPr>
          <a:xfrm>
            <a:off x="16733520" y="9601200"/>
            <a:ext cx="731520" cy="365760"/>
          </a:xfrm>
          <a:prstGeom prst="rect">
            <a:avLst/>
          </a:prstGeom>
          <a:extLst>
            <a:ext uri="{C572A759-6A51-4108-AA02-DFA0A04FC94B}">
              <ma14:wrappingTextBoxFlag xmlns:ma14="http://schemas.microsoft.com/office/mac/drawingml/2011/main" val="0"/>
            </a:ext>
          </a:extLst>
        </p:spPr>
        <p:txBody>
          <a:bodyPr/>
          <a:lstStyle>
            <a:lvl1pPr>
              <a:defRPr sz="1500">
                <a:solidFill>
                  <a:srgbClr val="5B708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365760"/>
            <a:ext cx="16642080" cy="868680"/>
          </a:xfrm>
          <a:prstGeom prst="rect">
            <a:avLst/>
          </a:prstGeom>
          <a:noFill/>
          <a:ln/>
        </p:spPr>
        <p:txBody>
          <a:bodyPr wrap="square" rtlCol="0"/>
          <a:lstStyle>
            <a:lvl1pPr algn="l" indent="0" marL="0">
              <a:buNone/>
              <a:defRPr lang="en-US" sz="4000" b="1" dirty="0">
                <a:solidFill>
                  <a:srgbClr val="0B2239"/>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822960" y="1234440"/>
            <a:ext cx="16642080" cy="502920"/>
          </a:xfrm>
          <a:prstGeom prst="rect">
            <a:avLst/>
          </a:prstGeom>
          <a:noFill/>
          <a:ln/>
        </p:spPr>
        <p:txBody>
          <a:bodyPr wrap="square" rtlCol="0"/>
          <a:lstStyle>
            <a:lvl1pPr indent="0" marL="0">
              <a:buNone/>
              <a:defRPr lang="en-US" sz="2200" dirty="0">
                <a:solidFill>
                  <a:srgbClr val="5B7083"/>
                </a:solidFill>
              </a:defRPr>
            </a:lvl1pPr>
          </a:lstStyle>
          <a:p>
            <a:pPr indent="0" marL="0">
              <a:buNone/>
            </a:pPr>
            <a:endParaRPr lang="en-US" sz="2200" dirty="0"/>
          </a:p>
        </p:txBody>
      </p:sp>
      <p:sp>
        <p:nvSpPr>
          <p:cNvPr id="4" name="Text 0"/>
          <p:cNvSpPr/>
          <p:nvPr/>
        </p:nvSpPr>
        <p:spPr>
          <a:xfrm>
            <a:off x="822960" y="9646920"/>
            <a:ext cx="10972800" cy="365760"/>
          </a:xfrm>
          <a:prstGeom prst="rect">
            <a:avLst/>
          </a:prstGeom>
          <a:noFill/>
          <a:ln/>
        </p:spPr>
        <p:txBody>
          <a:bodyPr wrap="square" lIns="0" tIns="0" rIns="0" bIns="0" rtlCol="0" anchor="ctr"/>
          <a:lstStyle/>
          <a:p>
            <a:pPr indent="0" marL="0">
              <a:buNone/>
            </a:pPr>
            <a:r>
              <a:rPr lang="en-US" sz="1500" dirty="0">
                <a:solidFill>
                  <a:srgbClr val="5B7083"/>
                </a:solidFill>
              </a:rPr>
              <a:t>Turbofan Engine RUL Prediction  ·  Applied Machine Learning  ·  NASA C-MAPSS FD001</a:t>
            </a:r>
            <a:endParaRPr lang="en-US" sz="1500" dirty="0"/>
          </a:p>
        </p:txBody>
      </p:sp>
      <p:sp>
        <p:nvSpPr>
          <p:cNvPr id="25" name="Slide Number Placeholder 0"/>
          <p:cNvSpPr>
            <a:spLocks noGrp="1"/>
          </p:cNvSpPr>
          <p:nvPr>
            <p:ph type="sldNum" sz="quarter" idx="4294967295"/>
          </p:nvPr>
        </p:nvSpPr>
        <p:spPr>
          <a:xfrm>
            <a:off x="16733520" y="9601200"/>
            <a:ext cx="731520" cy="365760"/>
          </a:xfrm>
          <a:prstGeom prst="rect">
            <a:avLst/>
          </a:prstGeom>
          <a:extLst>
            <a:ext uri="{C572A759-6A51-4108-AA02-DFA0A04FC94B}">
              <ma14:wrappingTextBoxFlag xmlns:ma14="http://schemas.microsoft.com/office/mac/drawingml/2011/main" val="0"/>
            </a:ext>
          </a:extLst>
        </p:spPr>
        <p:txBody>
          <a:bodyPr/>
          <a:lstStyle>
            <a:lvl1pPr>
              <a:defRPr sz="1500">
                <a:solidFill>
                  <a:srgbClr val="5B708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6733520" y="9601200"/>
            <a:ext cx="731520" cy="365760"/>
          </a:xfrm>
          <a:prstGeom prst="rect">
            <a:avLst/>
          </a:prstGeom>
          <a:extLst>
            <a:ext uri="{C572A759-6A51-4108-AA02-DFA0A04FC94B}">
              <ma14:wrappingTextBoxFlag xmlns:ma14="http://schemas.microsoft.com/office/mac/drawingml/2011/main" val="0"/>
            </a:ext>
          </a:extLst>
        </p:spPr>
        <p:txBody>
          <a:bodyPr/>
          <a:lstStyle>
            <a:lvl1pPr>
              <a:defRPr sz="1500">
                <a:solidFill>
                  <a:srgbClr val="5B708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822960" y="384048"/>
            <a:ext cx="14630400" cy="365760"/>
          </a:xfrm>
          <a:prstGeom prst="rect">
            <a:avLst/>
          </a:prstGeom>
          <a:noFill/>
          <a:ln/>
        </p:spPr>
        <p:txBody>
          <a:bodyPr wrap="square" lIns="0" tIns="0" rIns="0" bIns="0" rtlCol="0" anchor="ctr"/>
          <a:lstStyle/>
          <a:p>
            <a:pPr indent="0" marL="0">
              <a:buNone/>
            </a:pPr>
            <a:r>
              <a:rPr lang="en-US" sz="1800" b="1" spc="400" kern="0" dirty="0">
                <a:solidFill>
                  <a:srgbClr val="0E8F9B"/>
                </a:solidFill>
              </a:rPr>
              <a:t>APPLIED MACHINE LEARNING  ·  PHASE 1 PROJECT PRESENTATION</a:t>
            </a:r>
            <a:endParaRPr lang="en-US" sz="1800" dirty="0"/>
          </a:p>
        </p:txBody>
      </p:sp>
      <p:sp>
        <p:nvSpPr>
          <p:cNvPr id="3" name="deck title"/>
          <p:cNvSpPr txBox="1"/>
          <p:nvPr/>
        </p:nvSpPr>
        <p:spPr>
          <a:xfrm>
            <a:off x="822960" y="868680"/>
            <a:ext cx="1664208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Turbofan Engine Remaining Useful Life Prediction</a:t>
            </a:r>
            <a:endParaRPr lang="en-US" sz="4800" dirty="0"/>
          </a:p>
        </p:txBody>
      </p:sp>
      <p:sp>
        <p:nvSpPr>
          <p:cNvPr id="4" name="deck subtitle"/>
          <p:cNvSpPr txBox="1"/>
          <p:nvPr/>
        </p:nvSpPr>
        <p:spPr>
          <a:xfrm>
            <a:off x="822960" y="1828800"/>
            <a:ext cx="16642080" cy="411480"/>
          </a:xfrm>
          <a:prstGeom prst="rect">
            <a:avLst/>
          </a:prstGeom>
          <a:noFill/>
          <a:ln/>
        </p:spPr>
        <p:txBody>
          <a:bodyPr wrap="square" lIns="0" tIns="0" rIns="0" bIns="0" rtlCol="0" anchor="ctr"/>
          <a:lstStyle/>
          <a:p>
            <a:pPr indent="0" marL="0">
              <a:buNone/>
            </a:pPr>
            <a:r>
              <a:rPr lang="en-US" sz="2200" dirty="0">
                <a:solidFill>
                  <a:srgbClr val="B8C7D4"/>
                </a:solidFill>
              </a:rPr>
              <a:t>Predicting cycles left before failure from engine sensor history  ·  NASA C-MAPSS FD001 turbofan dataset</a:t>
            </a:r>
            <a:endParaRPr lang="en-US" sz="2200" dirty="0"/>
          </a:p>
        </p:txBody>
      </p:sp>
      <p:sp>
        <p:nvSpPr>
          <p:cNvPr id="5" name="team names"/>
          <p:cNvSpPr txBox="1"/>
          <p:nvPr/>
        </p:nvSpPr>
        <p:spPr>
          <a:xfrm>
            <a:off x="822960" y="2240280"/>
            <a:ext cx="16642080" cy="365760"/>
          </a:xfrm>
          <a:prstGeom prst="rect">
            <a:avLst/>
          </a:prstGeom>
          <a:noFill/>
          <a:ln/>
        </p:spPr>
        <p:txBody>
          <a:bodyPr wrap="square" lIns="0" tIns="0" rIns="0" bIns="0" rtlCol="0" anchor="ctr"/>
          <a:lstStyle/>
          <a:p>
            <a:pPr indent="0" marL="0">
              <a:buNone/>
            </a:pPr>
            <a:r>
              <a:rPr lang="en-US" sz="1800" dirty="0">
                <a:solidFill>
                  <a:srgbClr val="5CD0D8"/>
                </a:solidFill>
              </a:rPr>
              <a:t>Keshav  ·  Rohit Kumar  ·  Mayank Yadav  ·  Arun  ·  Sarvesh Kumar</a:t>
            </a:r>
            <a:endParaRPr lang="en-US" sz="1800" dirty="0"/>
          </a:p>
        </p:txBody>
      </p:sp>
      <p:sp>
        <p:nvSpPr>
          <p:cNvPr id="6" name="problem card"/>
          <p:cNvSpPr/>
          <p:nvPr/>
        </p:nvSpPr>
        <p:spPr>
          <a:xfrm>
            <a:off x="822960" y="3154680"/>
            <a:ext cx="5413248" cy="6153912"/>
          </a:xfrm>
          <a:prstGeom prst="roundRect">
            <a:avLst>
              <a:gd name="adj" fmla="val 1351"/>
            </a:avLst>
          </a:prstGeom>
          <a:solidFill>
            <a:srgbClr val="ECF1F5"/>
          </a:solidFill>
          <a:ln w="12700">
            <a:solidFill>
              <a:srgbClr val="ECF1F5"/>
            </a:solidFill>
            <a:prstDash val="solid"/>
          </a:ln>
        </p:spPr>
      </p:sp>
      <p:sp>
        <p:nvSpPr>
          <p:cNvPr id="7" name="kicker 1  THE PROBLEM"/>
          <p:cNvSpPr txBox="1"/>
          <p:nvPr/>
        </p:nvSpPr>
        <p:spPr>
          <a:xfrm>
            <a:off x="1097280" y="3337560"/>
            <a:ext cx="5486400" cy="365760"/>
          </a:xfrm>
          <a:prstGeom prst="rect">
            <a:avLst/>
          </a:prstGeom>
          <a:noFill/>
          <a:ln/>
        </p:spPr>
        <p:txBody>
          <a:bodyPr wrap="square" lIns="0" tIns="0" rIns="0" bIns="0" rtlCol="0" anchor="ctr"/>
          <a:lstStyle/>
          <a:p>
            <a:pPr indent="0" marL="0">
              <a:buNone/>
            </a:pPr>
            <a:r>
              <a:rPr lang="en-US" sz="1800" b="1" spc="400" kern="0" dirty="0">
                <a:solidFill>
                  <a:srgbClr val="0E8F9B"/>
                </a:solidFill>
              </a:rPr>
              <a:t>1  THE PROBLEM</a:t>
            </a:r>
            <a:endParaRPr lang="en-US" sz="1800" dirty="0"/>
          </a:p>
        </p:txBody>
      </p:sp>
      <p:sp>
        <p:nvSpPr>
          <p:cNvPr id="8" name="rul formula box"/>
          <p:cNvSpPr/>
          <p:nvPr/>
        </p:nvSpPr>
        <p:spPr>
          <a:xfrm>
            <a:off x="1097280" y="3794760"/>
            <a:ext cx="4864608" cy="1097280"/>
          </a:xfrm>
          <a:prstGeom prst="roundRect">
            <a:avLst>
              <a:gd name="adj" fmla="val 6667"/>
            </a:avLst>
          </a:prstGeom>
          <a:solidFill>
            <a:srgbClr val="0B2239"/>
          </a:solidFill>
          <a:ln w="12700">
            <a:solidFill>
              <a:srgbClr val="0B2239"/>
            </a:solidFill>
            <a:prstDash val="solid"/>
          </a:ln>
        </p:spPr>
      </p:sp>
      <p:sp>
        <p:nvSpPr>
          <p:cNvPr id="9" name="rul formula"/>
          <p:cNvSpPr txBox="1"/>
          <p:nvPr/>
        </p:nvSpPr>
        <p:spPr>
          <a:xfrm>
            <a:off x="1325880" y="3794760"/>
            <a:ext cx="4480560" cy="1097280"/>
          </a:xfrm>
          <a:prstGeom prst="rect">
            <a:avLst/>
          </a:prstGeom>
          <a:noFill/>
          <a:ln/>
        </p:spPr>
        <p:txBody>
          <a:bodyPr wrap="square" lIns="0" tIns="0" rIns="0" bIns="0" rtlCol="0" anchor="ctr"/>
          <a:lstStyle/>
          <a:p>
            <a:pPr indent="0" marL="0">
              <a:buNone/>
            </a:pPr>
            <a:r>
              <a:rPr lang="en-US" sz="2100" b="1" dirty="0">
                <a:solidFill>
                  <a:srgbClr val="FFFFFF"/>
                </a:solidFill>
              </a:rPr>
              <a:t>RUL = last cycle − current cycle</a:t>
            </a:r>
            <a:endParaRPr lang="en-US" sz="2100" dirty="0"/>
          </a:p>
        </p:txBody>
      </p:sp>
      <p:sp>
        <p:nvSpPr>
          <p:cNvPr id="10" name="example"/>
          <p:cNvSpPr txBox="1"/>
          <p:nvPr/>
        </p:nvSpPr>
        <p:spPr>
          <a:xfrm>
            <a:off x="1097280" y="5074920"/>
            <a:ext cx="4937760" cy="365760"/>
          </a:xfrm>
          <a:prstGeom prst="rect">
            <a:avLst/>
          </a:prstGeom>
          <a:noFill/>
          <a:ln/>
        </p:spPr>
        <p:txBody>
          <a:bodyPr wrap="square" lIns="0" tIns="0" rIns="0" bIns="0" rtlCol="0" anchor="ctr"/>
          <a:lstStyle/>
          <a:p>
            <a:pPr indent="0" marL="0">
              <a:buNone/>
            </a:pPr>
            <a:r>
              <a:rPr lang="en-US" sz="1800" dirty="0">
                <a:solidFill>
                  <a:srgbClr val="5B7083"/>
                </a:solidFill>
              </a:rPr>
              <a:t>Example: engine fails at cycle 240, now at cycle 180</a:t>
            </a:r>
            <a:endParaRPr lang="en-US" sz="1800" dirty="0"/>
          </a:p>
        </p:txBody>
      </p:sp>
      <p:sp>
        <p:nvSpPr>
          <p:cNvPr id="11" name="bar flown"/>
          <p:cNvSpPr/>
          <p:nvPr/>
        </p:nvSpPr>
        <p:spPr>
          <a:xfrm>
            <a:off x="1097280" y="5577840"/>
            <a:ext cx="3648456" cy="530352"/>
          </a:xfrm>
          <a:prstGeom prst="rect">
            <a:avLst/>
          </a:prstGeom>
          <a:solidFill>
            <a:srgbClr val="5B7083"/>
          </a:solidFill>
          <a:ln w="12700">
            <a:solidFill>
              <a:srgbClr val="5B7083"/>
            </a:solidFill>
            <a:prstDash val="solid"/>
          </a:ln>
        </p:spPr>
      </p:sp>
      <p:sp>
        <p:nvSpPr>
          <p:cNvPr id="12" name="bar left"/>
          <p:cNvSpPr/>
          <p:nvPr/>
        </p:nvSpPr>
        <p:spPr>
          <a:xfrm>
            <a:off x="4745736" y="5577840"/>
            <a:ext cx="1216152" cy="530352"/>
          </a:xfrm>
          <a:prstGeom prst="rect">
            <a:avLst/>
          </a:prstGeom>
          <a:solidFill>
            <a:srgbClr val="0E8F9B"/>
          </a:solidFill>
          <a:ln w="12700">
            <a:solidFill>
              <a:srgbClr val="0E8F9B"/>
            </a:solidFill>
            <a:prstDash val="solid"/>
          </a:ln>
        </p:spPr>
      </p:sp>
      <p:sp>
        <p:nvSpPr>
          <p:cNvPr id="13" name="bar flown label"/>
          <p:cNvSpPr txBox="1"/>
          <p:nvPr/>
        </p:nvSpPr>
        <p:spPr>
          <a:xfrm>
            <a:off x="1097280" y="5577840"/>
            <a:ext cx="3648456" cy="530352"/>
          </a:xfrm>
          <a:prstGeom prst="rect">
            <a:avLst/>
          </a:prstGeom>
          <a:noFill/>
          <a:ln/>
        </p:spPr>
        <p:txBody>
          <a:bodyPr wrap="square" lIns="0" tIns="0" rIns="0" bIns="0" rtlCol="0" anchor="ctr"/>
          <a:lstStyle/>
          <a:p>
            <a:pPr algn="ctr" indent="0" marL="0">
              <a:buNone/>
            </a:pPr>
            <a:r>
              <a:rPr lang="en-US" sz="1800" dirty="0">
                <a:solidFill>
                  <a:srgbClr val="FFFFFF"/>
                </a:solidFill>
              </a:rPr>
              <a:t>180 flown</a:t>
            </a:r>
            <a:endParaRPr lang="en-US" sz="1800" dirty="0"/>
          </a:p>
        </p:txBody>
      </p:sp>
      <p:sp>
        <p:nvSpPr>
          <p:cNvPr id="14" name="bar left label"/>
          <p:cNvSpPr txBox="1"/>
          <p:nvPr/>
        </p:nvSpPr>
        <p:spPr>
          <a:xfrm>
            <a:off x="4745736" y="5577840"/>
            <a:ext cx="1216152" cy="530352"/>
          </a:xfrm>
          <a:prstGeom prst="rect">
            <a:avLst/>
          </a:prstGeom>
          <a:noFill/>
          <a:ln/>
        </p:spPr>
        <p:txBody>
          <a:bodyPr wrap="square" lIns="0" tIns="0" rIns="0" bIns="0" rtlCol="0" anchor="ctr"/>
          <a:lstStyle/>
          <a:p>
            <a:pPr algn="ctr" indent="0" marL="0">
              <a:buNone/>
            </a:pPr>
            <a:r>
              <a:rPr lang="en-US" sz="1800" b="1" dirty="0">
                <a:solidFill>
                  <a:srgbClr val="FFFFFF"/>
                </a:solidFill>
              </a:rPr>
              <a:t>60</a:t>
            </a:r>
            <a:endParaRPr lang="en-US" sz="1800" dirty="0"/>
          </a:p>
        </p:txBody>
      </p:sp>
      <p:sp>
        <p:nvSpPr>
          <p:cNvPr id="15" name="example result"/>
          <p:cNvSpPr txBox="1"/>
          <p:nvPr/>
        </p:nvSpPr>
        <p:spPr>
          <a:xfrm>
            <a:off x="1097280" y="6217920"/>
            <a:ext cx="4937760" cy="411480"/>
          </a:xfrm>
          <a:prstGeom prst="rect">
            <a:avLst/>
          </a:prstGeom>
          <a:noFill/>
          <a:ln/>
        </p:spPr>
        <p:txBody>
          <a:bodyPr wrap="square" lIns="0" tIns="0" rIns="0" bIns="0" rtlCol="0" anchor="ctr"/>
          <a:lstStyle/>
          <a:p>
            <a:pPr indent="0" marL="0">
              <a:buNone/>
            </a:pPr>
            <a:r>
              <a:rPr lang="en-US" sz="2000" b="1" dirty="0">
                <a:solidFill>
                  <a:srgbClr val="1B2A38"/>
                </a:solidFill>
              </a:rPr>
              <a:t>240 − 180 = 60 cycles of life remain</a:t>
            </a:r>
            <a:endParaRPr lang="en-US" sz="2000" dirty="0"/>
          </a:p>
        </p:txBody>
      </p:sp>
      <p:sp>
        <p:nvSpPr>
          <p:cNvPr id="16" name="problem bullets"/>
          <p:cNvSpPr txBox="1"/>
          <p:nvPr/>
        </p:nvSpPr>
        <p:spPr>
          <a:xfrm>
            <a:off x="1188720" y="6903720"/>
            <a:ext cx="4846320" cy="2286000"/>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1B2A38"/>
                </a:solidFill>
              </a:rPr>
              <a:t>Our goal is to predict how many cycles an engine has left from its sensor history, so maintenance can be planned before failure.</a:t>
            </a:r>
            <a:endParaRPr lang="en-US" sz="2000" dirty="0"/>
          </a:p>
          <a:p>
            <a:pPr marL="228600" indent="-228600">
              <a:spcAft>
                <a:spcPts val="600"/>
              </a:spcAft>
              <a:buSzPct val="100000"/>
              <a:buChar char="•"/>
            </a:pPr>
            <a:r>
              <a:rPr lang="en-US" sz="2000" dirty="0">
                <a:solidFill>
                  <a:srgbClr val="1B2A38"/>
                </a:solidFill>
              </a:rPr>
              <a:t>Target capped at 125 cycles: healthy engines look alike.</a:t>
            </a:r>
            <a:endParaRPr lang="en-US" sz="2000" dirty="0"/>
          </a:p>
        </p:txBody>
      </p:sp>
      <p:sp>
        <p:nvSpPr>
          <p:cNvPr id="17" name="dataset card"/>
          <p:cNvSpPr/>
          <p:nvPr/>
        </p:nvSpPr>
        <p:spPr>
          <a:xfrm>
            <a:off x="6519672" y="3154680"/>
            <a:ext cx="5120640" cy="6153912"/>
          </a:xfrm>
          <a:prstGeom prst="roundRect">
            <a:avLst>
              <a:gd name="adj" fmla="val 1429"/>
            </a:avLst>
          </a:prstGeom>
          <a:solidFill>
            <a:srgbClr val="ECF1F5"/>
          </a:solidFill>
          <a:ln w="12700">
            <a:solidFill>
              <a:srgbClr val="ECF1F5"/>
            </a:solidFill>
            <a:prstDash val="solid"/>
          </a:ln>
        </p:spPr>
      </p:sp>
      <p:sp>
        <p:nvSpPr>
          <p:cNvPr id="18" name="kicker 2  THE DATASET"/>
          <p:cNvSpPr txBox="1"/>
          <p:nvPr/>
        </p:nvSpPr>
        <p:spPr>
          <a:xfrm>
            <a:off x="6793992" y="3337560"/>
            <a:ext cx="5486400" cy="365760"/>
          </a:xfrm>
          <a:prstGeom prst="rect">
            <a:avLst/>
          </a:prstGeom>
          <a:noFill/>
          <a:ln/>
        </p:spPr>
        <p:txBody>
          <a:bodyPr wrap="square" lIns="0" tIns="0" rIns="0" bIns="0" rtlCol="0" anchor="ctr"/>
          <a:lstStyle/>
          <a:p>
            <a:pPr indent="0" marL="0">
              <a:buNone/>
            </a:pPr>
            <a:r>
              <a:rPr lang="en-US" sz="1800" b="1" spc="400" kern="0" dirty="0">
                <a:solidFill>
                  <a:srgbClr val="0E8F9B"/>
                </a:solidFill>
              </a:rPr>
              <a:t>2  THE DATASET</a:t>
            </a:r>
            <a:endParaRPr lang="en-US" sz="1800" dirty="0"/>
          </a:p>
        </p:txBody>
      </p:sp>
      <p:sp>
        <p:nvSpPr>
          <p:cNvPr id="19" name="tile training rows"/>
          <p:cNvSpPr/>
          <p:nvPr/>
        </p:nvSpPr>
        <p:spPr>
          <a:xfrm>
            <a:off x="6793992" y="3776472"/>
            <a:ext cx="2258568" cy="1499616"/>
          </a:xfrm>
          <a:prstGeom prst="roundRect">
            <a:avLst>
              <a:gd name="adj" fmla="val 4878"/>
            </a:avLst>
          </a:prstGeom>
          <a:solidFill>
            <a:srgbClr val="FFFFFF"/>
          </a:solidFill>
          <a:ln w="12700">
            <a:solidFill>
              <a:srgbClr val="FFFFFF"/>
            </a:solidFill>
            <a:prstDash val="solid"/>
          </a:ln>
        </p:spPr>
      </p:sp>
      <p:sp>
        <p:nvSpPr>
          <p:cNvPr id="20" name="tile text training rows"/>
          <p:cNvSpPr txBox="1"/>
          <p:nvPr/>
        </p:nvSpPr>
        <p:spPr>
          <a:xfrm>
            <a:off x="6976872" y="3867912"/>
            <a:ext cx="2011680" cy="1325880"/>
          </a:xfrm>
          <a:prstGeom prst="rect">
            <a:avLst/>
          </a:prstGeom>
          <a:noFill/>
          <a:ln/>
        </p:spPr>
        <p:txBody>
          <a:bodyPr wrap="square" lIns="0" tIns="0" rIns="0" bIns="0" rtlCol="0" anchor="t"/>
          <a:lstStyle/>
          <a:p>
            <a:pPr indent="0" marL="0">
              <a:spcAft>
                <a:spcPts val="200"/>
              </a:spcAft>
              <a:buNone/>
            </a:pPr>
            <a:r>
              <a:rPr lang="en-US" sz="3600" b="1" dirty="0">
                <a:solidFill>
                  <a:srgbClr val="0E8F9B"/>
                </a:solidFill>
              </a:rPr>
              <a:t>20,631</a:t>
            </a:r>
            <a:endParaRPr lang="en-US" sz="3600" dirty="0"/>
          </a:p>
          <a:p>
            <a:pPr indent="0" marL="0">
              <a:spcAft>
                <a:spcPts val="200"/>
              </a:spcAft>
              <a:buNone/>
            </a:pPr>
            <a:r>
              <a:rPr lang="en-US" sz="2000" b="1" dirty="0">
                <a:solidFill>
                  <a:srgbClr val="1B2A38"/>
                </a:solidFill>
              </a:rPr>
              <a:t>training rows</a:t>
            </a:r>
            <a:endParaRPr lang="en-US" sz="3600" dirty="0"/>
          </a:p>
          <a:p>
            <a:pPr indent="0" marL="0">
              <a:spcAft>
                <a:spcPts val="200"/>
              </a:spcAft>
              <a:buNone/>
            </a:pPr>
            <a:r>
              <a:rPr lang="en-US" sz="1500" dirty="0">
                <a:solidFill>
                  <a:srgbClr val="5B7083"/>
                </a:solidFill>
              </a:rPr>
              <a:t>100 engines</a:t>
            </a:r>
            <a:endParaRPr lang="en-US" sz="3600" dirty="0"/>
          </a:p>
        </p:txBody>
      </p:sp>
      <p:sp>
        <p:nvSpPr>
          <p:cNvPr id="21" name="tile test rows"/>
          <p:cNvSpPr/>
          <p:nvPr/>
        </p:nvSpPr>
        <p:spPr>
          <a:xfrm>
            <a:off x="9189720" y="3776472"/>
            <a:ext cx="2258568" cy="1499616"/>
          </a:xfrm>
          <a:prstGeom prst="roundRect">
            <a:avLst>
              <a:gd name="adj" fmla="val 4878"/>
            </a:avLst>
          </a:prstGeom>
          <a:solidFill>
            <a:srgbClr val="FFFFFF"/>
          </a:solidFill>
          <a:ln w="12700">
            <a:solidFill>
              <a:srgbClr val="FFFFFF"/>
            </a:solidFill>
            <a:prstDash val="solid"/>
          </a:ln>
        </p:spPr>
      </p:sp>
      <p:sp>
        <p:nvSpPr>
          <p:cNvPr id="22" name="tile text test rows"/>
          <p:cNvSpPr txBox="1"/>
          <p:nvPr/>
        </p:nvSpPr>
        <p:spPr>
          <a:xfrm>
            <a:off x="9372600" y="3867912"/>
            <a:ext cx="2011680" cy="1325880"/>
          </a:xfrm>
          <a:prstGeom prst="rect">
            <a:avLst/>
          </a:prstGeom>
          <a:noFill/>
          <a:ln/>
        </p:spPr>
        <p:txBody>
          <a:bodyPr wrap="square" lIns="0" tIns="0" rIns="0" bIns="0" rtlCol="0" anchor="t"/>
          <a:lstStyle/>
          <a:p>
            <a:pPr indent="0" marL="0">
              <a:spcAft>
                <a:spcPts val="200"/>
              </a:spcAft>
              <a:buNone/>
            </a:pPr>
            <a:r>
              <a:rPr lang="en-US" sz="3600" b="1" dirty="0">
                <a:solidFill>
                  <a:srgbClr val="0E8F9B"/>
                </a:solidFill>
              </a:rPr>
              <a:t>13,096</a:t>
            </a:r>
            <a:endParaRPr lang="en-US" sz="3600" dirty="0"/>
          </a:p>
          <a:p>
            <a:pPr indent="0" marL="0">
              <a:spcAft>
                <a:spcPts val="200"/>
              </a:spcAft>
              <a:buNone/>
            </a:pPr>
            <a:r>
              <a:rPr lang="en-US" sz="2000" b="1" dirty="0">
                <a:solidFill>
                  <a:srgbClr val="1B2A38"/>
                </a:solidFill>
              </a:rPr>
              <a:t>test rows</a:t>
            </a:r>
            <a:endParaRPr lang="en-US" sz="3600" dirty="0"/>
          </a:p>
          <a:p>
            <a:pPr indent="0" marL="0">
              <a:spcAft>
                <a:spcPts val="200"/>
              </a:spcAft>
              <a:buNone/>
            </a:pPr>
            <a:r>
              <a:rPr lang="en-US" sz="1500" dirty="0">
                <a:solidFill>
                  <a:srgbClr val="5B7083"/>
                </a:solidFill>
              </a:rPr>
              <a:t>100 engines</a:t>
            </a:r>
            <a:endParaRPr lang="en-US" sz="3600" dirty="0"/>
          </a:p>
        </p:txBody>
      </p:sp>
      <p:sp>
        <p:nvSpPr>
          <p:cNvPr id="23" name="tile columns"/>
          <p:cNvSpPr/>
          <p:nvPr/>
        </p:nvSpPr>
        <p:spPr>
          <a:xfrm>
            <a:off x="6793992" y="5422392"/>
            <a:ext cx="2258568" cy="1499616"/>
          </a:xfrm>
          <a:prstGeom prst="roundRect">
            <a:avLst>
              <a:gd name="adj" fmla="val 4878"/>
            </a:avLst>
          </a:prstGeom>
          <a:solidFill>
            <a:srgbClr val="FFFFFF"/>
          </a:solidFill>
          <a:ln w="12700">
            <a:solidFill>
              <a:srgbClr val="FFFFFF"/>
            </a:solidFill>
            <a:prstDash val="solid"/>
          </a:ln>
        </p:spPr>
      </p:sp>
      <p:sp>
        <p:nvSpPr>
          <p:cNvPr id="24" name="tile text columns"/>
          <p:cNvSpPr txBox="1"/>
          <p:nvPr/>
        </p:nvSpPr>
        <p:spPr>
          <a:xfrm>
            <a:off x="6976872" y="5513832"/>
            <a:ext cx="2011680" cy="1325880"/>
          </a:xfrm>
          <a:prstGeom prst="rect">
            <a:avLst/>
          </a:prstGeom>
          <a:noFill/>
          <a:ln/>
        </p:spPr>
        <p:txBody>
          <a:bodyPr wrap="square" lIns="0" tIns="0" rIns="0" bIns="0" rtlCol="0" anchor="t"/>
          <a:lstStyle/>
          <a:p>
            <a:pPr indent="0" marL="0">
              <a:spcAft>
                <a:spcPts val="200"/>
              </a:spcAft>
              <a:buNone/>
            </a:pPr>
            <a:r>
              <a:rPr lang="en-US" sz="3600" b="1" dirty="0">
                <a:solidFill>
                  <a:srgbClr val="0E8F9B"/>
                </a:solidFill>
              </a:rPr>
              <a:t>26</a:t>
            </a:r>
            <a:endParaRPr lang="en-US" sz="3600" dirty="0"/>
          </a:p>
          <a:p>
            <a:pPr indent="0" marL="0">
              <a:spcAft>
                <a:spcPts val="200"/>
              </a:spcAft>
              <a:buNone/>
            </a:pPr>
            <a:r>
              <a:rPr lang="en-US" sz="2000" b="1" dirty="0">
                <a:solidFill>
                  <a:srgbClr val="1B2A38"/>
                </a:solidFill>
              </a:rPr>
              <a:t>columns</a:t>
            </a:r>
            <a:endParaRPr lang="en-US" sz="3600" dirty="0"/>
          </a:p>
          <a:p>
            <a:pPr indent="0" marL="0">
              <a:spcAft>
                <a:spcPts val="200"/>
              </a:spcAft>
              <a:buNone/>
            </a:pPr>
            <a:r>
              <a:rPr lang="en-US" sz="1500" dirty="0">
                <a:solidFill>
                  <a:srgbClr val="5B7083"/>
                </a:solidFill>
              </a:rPr>
              <a:t>incl. 21 sensors</a:t>
            </a:r>
            <a:endParaRPr lang="en-US" sz="3600" dirty="0"/>
          </a:p>
        </p:txBody>
      </p:sp>
      <p:sp>
        <p:nvSpPr>
          <p:cNvPr id="25" name="tile missing values"/>
          <p:cNvSpPr/>
          <p:nvPr/>
        </p:nvSpPr>
        <p:spPr>
          <a:xfrm>
            <a:off x="9189720" y="5422392"/>
            <a:ext cx="2258568" cy="1499616"/>
          </a:xfrm>
          <a:prstGeom prst="roundRect">
            <a:avLst>
              <a:gd name="adj" fmla="val 4878"/>
            </a:avLst>
          </a:prstGeom>
          <a:solidFill>
            <a:srgbClr val="FFFFFF"/>
          </a:solidFill>
          <a:ln w="12700">
            <a:solidFill>
              <a:srgbClr val="FFFFFF"/>
            </a:solidFill>
            <a:prstDash val="solid"/>
          </a:ln>
        </p:spPr>
      </p:sp>
      <p:sp>
        <p:nvSpPr>
          <p:cNvPr id="26" name="tile text missing values"/>
          <p:cNvSpPr txBox="1"/>
          <p:nvPr/>
        </p:nvSpPr>
        <p:spPr>
          <a:xfrm>
            <a:off x="9372600" y="5513832"/>
            <a:ext cx="2011680" cy="1325880"/>
          </a:xfrm>
          <a:prstGeom prst="rect">
            <a:avLst/>
          </a:prstGeom>
          <a:noFill/>
          <a:ln/>
        </p:spPr>
        <p:txBody>
          <a:bodyPr wrap="square" lIns="0" tIns="0" rIns="0" bIns="0" rtlCol="0" anchor="t"/>
          <a:lstStyle/>
          <a:p>
            <a:pPr indent="0" marL="0">
              <a:spcAft>
                <a:spcPts val="200"/>
              </a:spcAft>
              <a:buNone/>
            </a:pPr>
            <a:r>
              <a:rPr lang="en-US" sz="3600" b="1" dirty="0">
                <a:solidFill>
                  <a:srgbClr val="0E8F9B"/>
                </a:solidFill>
              </a:rPr>
              <a:t>0</a:t>
            </a:r>
            <a:endParaRPr lang="en-US" sz="3600" dirty="0"/>
          </a:p>
          <a:p>
            <a:pPr indent="0" marL="0">
              <a:spcAft>
                <a:spcPts val="200"/>
              </a:spcAft>
              <a:buNone/>
            </a:pPr>
            <a:r>
              <a:rPr lang="en-US" sz="2000" b="1" dirty="0">
                <a:solidFill>
                  <a:srgbClr val="1B2A38"/>
                </a:solidFill>
              </a:rPr>
              <a:t>missing values</a:t>
            </a:r>
            <a:endParaRPr lang="en-US" sz="3600" dirty="0"/>
          </a:p>
          <a:p>
            <a:pPr indent="0" marL="0">
              <a:spcAft>
                <a:spcPts val="200"/>
              </a:spcAft>
              <a:buNone/>
            </a:pPr>
            <a:r>
              <a:rPr lang="en-US" sz="1500" dirty="0">
                <a:solidFill>
                  <a:srgbClr val="5B7083"/>
                </a:solidFill>
              </a:rPr>
              <a:t>0 duplicate rows</a:t>
            </a:r>
            <a:endParaRPr lang="en-US" sz="3600" dirty="0"/>
          </a:p>
        </p:txBody>
      </p:sp>
      <p:sp>
        <p:nvSpPr>
          <p:cNvPr id="27" name="dataset bullets"/>
          <p:cNvSpPr txBox="1"/>
          <p:nvPr/>
        </p:nvSpPr>
        <p:spPr>
          <a:xfrm>
            <a:off x="6885432" y="7086600"/>
            <a:ext cx="4572000" cy="2103120"/>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1B2A38"/>
                </a:solidFill>
              </a:rPr>
              <a:t>One row = one engine at one operating cycle.</a:t>
            </a:r>
            <a:endParaRPr lang="en-US" sz="2000" dirty="0"/>
          </a:p>
          <a:p>
            <a:pPr marL="228600" indent="-228600">
              <a:spcAft>
                <a:spcPts val="600"/>
              </a:spcAft>
              <a:buSzPct val="100000"/>
              <a:buChar char="•"/>
            </a:pPr>
            <a:r>
              <a:rPr lang="en-US" sz="2000" dirty="0">
                <a:solidFill>
                  <a:srgbClr val="1B2A38"/>
                </a:solidFill>
              </a:rPr>
              <a:t>Training engines run to failure, so RUL labels can be calculated.</a:t>
            </a:r>
            <a:endParaRPr lang="en-US" sz="2000" dirty="0"/>
          </a:p>
          <a:p>
            <a:pPr marL="228600" indent="-228600">
              <a:spcAft>
                <a:spcPts val="600"/>
              </a:spcAft>
              <a:buSzPct val="100000"/>
              <a:buChar char="•"/>
            </a:pPr>
            <a:r>
              <a:rPr lang="en-US" sz="2000" dirty="0">
                <a:solidFill>
                  <a:srgbClr val="1B2A38"/>
                </a:solidFill>
              </a:rPr>
              <a:t>Test engines stop early; true RUL is supplied separately.</a:t>
            </a:r>
            <a:endParaRPr lang="en-US" sz="2000" dirty="0"/>
          </a:p>
        </p:txBody>
      </p:sp>
      <p:sp>
        <p:nvSpPr>
          <p:cNvPr id="28" name="lifetime chart frame"/>
          <p:cNvSpPr/>
          <p:nvPr/>
        </p:nvSpPr>
        <p:spPr>
          <a:xfrm>
            <a:off x="11932920" y="3154680"/>
            <a:ext cx="5513832" cy="6153912"/>
          </a:xfrm>
          <a:prstGeom prst="roundRect">
            <a:avLst>
              <a:gd name="adj" fmla="val 1327"/>
            </a:avLst>
          </a:prstGeom>
          <a:solidFill>
            <a:srgbClr val="FFFFFF"/>
          </a:solidFill>
          <a:ln w="15875">
            <a:solidFill>
              <a:srgbClr val="C9D3DC"/>
            </a:solidFill>
            <a:prstDash val="solid"/>
          </a:ln>
        </p:spPr>
      </p:sp>
      <p:graphicFrame>
        <p:nvGraphicFramePr>
          <p:cNvPr id="29" name="lifetime histogram" descr=""/>
          <p:cNvGraphicFramePr/>
          <p:nvPr/>
        </p:nvGraphicFramePr>
        <p:xfrm>
          <a:off x="12024360" y="3291840"/>
          <a:ext cx="5330952" cy="3840480"/>
        </p:xfrm>
        <a:graphic xmlns:a="http://schemas.openxmlformats.org/drawingml/2006/main">
          <a:graphicData uri="http://schemas.openxmlformats.org/drawingml/2006/chart">
            <c:chart xmlns:c="http://schemas.openxmlformats.org/drawingml/2006/chart" r:id="rId1"/>
          </a:graphicData>
        </a:graphic>
      </p:graphicFrame>
      <p:sp>
        <p:nvSpPr>
          <p:cNvPr id="30" name="lifetime note"/>
          <p:cNvSpPr txBox="1"/>
          <p:nvPr/>
        </p:nvSpPr>
        <p:spPr>
          <a:xfrm>
            <a:off x="12207240" y="7178040"/>
            <a:ext cx="5029200" cy="1371600"/>
          </a:xfrm>
          <a:prstGeom prst="rect">
            <a:avLst/>
          </a:prstGeom>
          <a:noFill/>
          <a:ln/>
        </p:spPr>
        <p:txBody>
          <a:bodyPr wrap="square" lIns="0" tIns="0" rIns="0" bIns="0" rtlCol="0" anchor="t"/>
          <a:lstStyle/>
          <a:p>
            <a:pPr indent="0" marL="0">
              <a:buNone/>
            </a:pPr>
            <a:r>
              <a:rPr lang="en-US" sz="2000" dirty="0">
                <a:solidFill>
                  <a:srgbClr val="1B2A38"/>
                </a:solidFill>
              </a:rPr>
              <a:t>Engines fail anywhere between 128 and 362 cycles (mean 206), so RUL cannot be read from the cycle count alone; it must be inferred from sensor trends.</a:t>
            </a:r>
            <a:endParaRPr lang="en-US" sz="2000" dirty="0"/>
          </a:p>
        </p:txBody>
      </p:sp>
      <p:sp>
        <p:nvSpPr>
          <p:cNvPr id="31" name="caption fig 1"/>
          <p:cNvSpPr txBox="1"/>
          <p:nvPr/>
        </p:nvSpPr>
        <p:spPr>
          <a:xfrm>
            <a:off x="12207240" y="8732520"/>
            <a:ext cx="5029200" cy="457200"/>
          </a:xfrm>
          <a:prstGeom prst="rect">
            <a:avLst/>
          </a:prstGeom>
          <a:noFill/>
          <a:ln/>
        </p:spPr>
        <p:txBody>
          <a:bodyPr wrap="square" lIns="0" tIns="0" rIns="0" bIns="0" rtlCol="0" anchor="t"/>
          <a:lstStyle/>
          <a:p>
            <a:pPr indent="0" marL="0">
              <a:buNone/>
            </a:pPr>
            <a:r>
              <a:rPr lang="en-US" sz="1600" b="1" dirty="0">
                <a:solidFill>
                  <a:srgbClr val="0E8F9B"/>
                </a:solidFill>
              </a:rPr>
              <a:t>Fig. 1  </a:t>
            </a:r>
            <a:pPr indent="0" marL="0">
              <a:buNone/>
            </a:pPr>
            <a:r>
              <a:rPr lang="en-US" sz="1600" i="1" dirty="0">
                <a:solidFill>
                  <a:srgbClr val="5B7083"/>
                </a:solidFill>
              </a:rPr>
              <a:t>Lifetime of the 100 training engines (cycles).</a:t>
            </a:r>
            <a:endParaRPr lang="en-US" sz="1600" dirty="0"/>
          </a:p>
        </p:txBody>
      </p:sp>
      <p:sp>
        <p:nvSpPr>
          <p:cNvPr id="25" name="Slide Number Placeholder 0"/>
          <p:cNvSpPr>
            <a:spLocks noGrp="1"/>
          </p:cNvSpPr>
          <p:nvPr>
            <p:ph type="sldNum" sz="quarter" idx="4294967295"/>
          </p:nvPr>
        </p:nvSpPr>
        <p:spPr>
          <a:xfrm>
            <a:off x="16733520" y="9601200"/>
            <a:ext cx="731520" cy="365760"/>
          </a:xfrm>
          <a:prstGeom prst="rect">
            <a:avLst/>
          </a:prstGeom>
          <a:extLst>
            <a:ext uri="{C572A759-6A51-4108-AA02-DFA0A04FC94B}">
              <ma14:wrappingTextBoxFlag xmlns:ma14="http://schemas.microsoft.com/office/mac/drawingml/2011/main" val="0"/>
            </a:ext>
          </a:extLst>
        </p:spPr>
        <p:txBody>
          <a:bodyPr/>
          <a:lstStyle>
            <a:lvl1pPr>
              <a:defRPr sz="1500">
                <a:solidFill>
                  <a:srgbClr val="5B7083"/>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22960" y="365760"/>
            <a:ext cx="16642080" cy="868680"/>
          </a:xfrm>
          <a:prstGeom prst="rect">
            <a:avLst/>
          </a:prstGeom>
          <a:noFill/>
          <a:ln/>
        </p:spPr>
        <p:txBody>
          <a:bodyPr wrap="square" lIns="0" tIns="0" rIns="0" bIns="0" rtlCol="0" anchor="ctr"/>
          <a:lstStyle/>
          <a:p>
            <a:pPr algn="l" indent="0" marL="0">
              <a:buNone/>
            </a:pPr>
            <a:r>
              <a:rPr lang="en-US" sz="4000" b="1" dirty="0">
                <a:solidFill>
                  <a:srgbClr val="0B2239"/>
                </a:solidFill>
                <a:latin typeface="Cambria" pitchFamily="34" charset="0"/>
                <a:ea typeface="Cambria" pitchFamily="34" charset="-122"/>
                <a:cs typeface="Cambria" pitchFamily="34" charset="-120"/>
              </a:rPr>
              <a:t>Exploration: which sensors carry the degradation signal?</a:t>
            </a:r>
            <a:endParaRPr lang="en-US" sz="4000" dirty="0"/>
          </a:p>
        </p:txBody>
      </p:sp>
      <p:sp>
        <p:nvSpPr>
          <p:cNvPr id="3" name="Text 0"/>
          <p:cNvSpPr/>
          <p:nvPr>
            <p:ph idx="101" type="body" hasCustomPrompt="1"/>
          </p:nvPr>
        </p:nvSpPr>
        <p:spPr>
          <a:xfrm>
            <a:off x="822960" y="1234440"/>
            <a:ext cx="16642080" cy="502920"/>
          </a:xfrm>
          <a:prstGeom prst="rect">
            <a:avLst/>
          </a:prstGeom>
          <a:noFill/>
          <a:ln/>
        </p:spPr>
        <p:txBody>
          <a:bodyPr wrap="square" lIns="0" tIns="0" rIns="0" bIns="0" rtlCol="0" anchor="ctr"/>
          <a:lstStyle/>
          <a:p>
            <a:pPr indent="0" marL="0">
              <a:buNone/>
            </a:pPr>
            <a:r>
              <a:rPr lang="en-US" sz="2200" dirty="0">
                <a:solidFill>
                  <a:srgbClr val="5B7083"/>
                </a:solidFill>
              </a:rPr>
              <a:t>Engine 1 of the training set and all 100 training engines, using RUL computed from each engine’s final cycle.</a:t>
            </a:r>
            <a:endParaRPr lang="en-US" sz="2200" dirty="0"/>
          </a:p>
        </p:txBody>
      </p:sp>
      <p:sp>
        <p:nvSpPr>
          <p:cNvPr id="4" name="sensor drift frame"/>
          <p:cNvSpPr/>
          <p:nvPr/>
        </p:nvSpPr>
        <p:spPr>
          <a:xfrm>
            <a:off x="822960" y="2057400"/>
            <a:ext cx="6537960" cy="6172200"/>
          </a:xfrm>
          <a:prstGeom prst="roundRect">
            <a:avLst>
              <a:gd name="adj" fmla="val 1185"/>
            </a:avLst>
          </a:prstGeom>
          <a:solidFill>
            <a:srgbClr val="FFFFFF"/>
          </a:solidFill>
          <a:ln w="15875">
            <a:solidFill>
              <a:srgbClr val="C9D3DC"/>
            </a:solidFill>
            <a:prstDash val="solid"/>
          </a:ln>
        </p:spPr>
      </p:sp>
      <p:graphicFrame>
        <p:nvGraphicFramePr>
          <p:cNvPr id="5" name="sensor drift chart" descr=""/>
          <p:cNvGraphicFramePr/>
          <p:nvPr/>
        </p:nvGraphicFramePr>
        <p:xfrm>
          <a:off x="914400" y="2194560"/>
          <a:ext cx="6355080" cy="5349240"/>
        </p:xfrm>
        <a:graphic xmlns:a="http://schemas.openxmlformats.org/drawingml/2006/main">
          <a:graphicData uri="http://schemas.openxmlformats.org/drawingml/2006/chart">
            <c:chart xmlns:c="http://schemas.openxmlformats.org/drawingml/2006/chart" r:id="rId1"/>
          </a:graphicData>
        </a:graphic>
      </p:graphicFrame>
      <p:sp>
        <p:nvSpPr>
          <p:cNvPr id="6" name="caption fig 2"/>
          <p:cNvSpPr txBox="1"/>
          <p:nvPr/>
        </p:nvSpPr>
        <p:spPr>
          <a:xfrm>
            <a:off x="1005840" y="7635240"/>
            <a:ext cx="6217920" cy="457200"/>
          </a:xfrm>
          <a:prstGeom prst="rect">
            <a:avLst/>
          </a:prstGeom>
          <a:noFill/>
          <a:ln/>
        </p:spPr>
        <p:txBody>
          <a:bodyPr wrap="square" lIns="0" tIns="0" rIns="0" bIns="0" rtlCol="0" anchor="t"/>
          <a:lstStyle/>
          <a:p>
            <a:pPr indent="0" marL="0">
              <a:buNone/>
            </a:pPr>
            <a:r>
              <a:rPr lang="en-US" sz="1600" b="1" dirty="0">
                <a:solidFill>
                  <a:srgbClr val="0E8F9B"/>
                </a:solidFill>
              </a:rPr>
              <a:t>Fig. 2  </a:t>
            </a:r>
            <a:pPr indent="0" marL="0">
              <a:buNone/>
            </a:pPr>
            <a:r>
              <a:rPr lang="en-US" sz="1600" i="1" dirty="0">
                <a:solidFill>
                  <a:srgbClr val="5B7083"/>
                </a:solidFill>
              </a:rPr>
              <a:t>Sensor change vs. cycle 1, engine 1: one flat, three drifting.</a:t>
            </a:r>
            <a:endParaRPr lang="en-US" sz="1600" dirty="0"/>
          </a:p>
        </p:txBody>
      </p:sp>
      <p:sp>
        <p:nvSpPr>
          <p:cNvPr id="7" name="correlation frame"/>
          <p:cNvSpPr/>
          <p:nvPr/>
        </p:nvSpPr>
        <p:spPr>
          <a:xfrm>
            <a:off x="7543800" y="2057400"/>
            <a:ext cx="5330952" cy="6172200"/>
          </a:xfrm>
          <a:prstGeom prst="roundRect">
            <a:avLst>
              <a:gd name="adj" fmla="val 1372"/>
            </a:avLst>
          </a:prstGeom>
          <a:solidFill>
            <a:srgbClr val="FFFFFF"/>
          </a:solidFill>
          <a:ln w="15875">
            <a:solidFill>
              <a:srgbClr val="C9D3DC"/>
            </a:solidFill>
            <a:prstDash val="solid"/>
          </a:ln>
        </p:spPr>
      </p:sp>
      <p:graphicFrame>
        <p:nvGraphicFramePr>
          <p:cNvPr id="8" name="correlation chart" descr=""/>
          <p:cNvGraphicFramePr/>
          <p:nvPr/>
        </p:nvGraphicFramePr>
        <p:xfrm>
          <a:off x="7635240" y="2194560"/>
          <a:ext cx="5148072" cy="5349240"/>
        </p:xfrm>
        <a:graphic xmlns:a="http://schemas.openxmlformats.org/drawingml/2006/main">
          <a:graphicData uri="http://schemas.openxmlformats.org/drawingml/2006/chart">
            <c:chart xmlns:c="http://schemas.openxmlformats.org/drawingml/2006/chart" r:id="rId2"/>
          </a:graphicData>
        </a:graphic>
      </p:graphicFrame>
      <p:sp>
        <p:nvSpPr>
          <p:cNvPr id="9" name="caption fig 3"/>
          <p:cNvSpPr txBox="1"/>
          <p:nvPr/>
        </p:nvSpPr>
        <p:spPr>
          <a:xfrm>
            <a:off x="7726680" y="7589520"/>
            <a:ext cx="5029200" cy="594360"/>
          </a:xfrm>
          <a:prstGeom prst="rect">
            <a:avLst/>
          </a:prstGeom>
          <a:noFill/>
          <a:ln/>
        </p:spPr>
        <p:txBody>
          <a:bodyPr wrap="square" lIns="0" tIns="0" rIns="0" bIns="0" rtlCol="0" anchor="t"/>
          <a:lstStyle/>
          <a:p>
            <a:pPr indent="0" marL="0">
              <a:buNone/>
            </a:pPr>
            <a:r>
              <a:rPr lang="en-US" sz="1600" b="1" dirty="0">
                <a:solidFill>
                  <a:srgbClr val="0E8F9B"/>
                </a:solidFill>
              </a:rPr>
              <a:t>Fig. 3  </a:t>
            </a:r>
            <a:pPr indent="0" marL="0">
              <a:buNone/>
            </a:pPr>
            <a:r>
              <a:rPr lang="en-US" sz="1600" i="1" dirty="0">
                <a:solidFill>
                  <a:srgbClr val="5B7083"/>
                </a:solidFill>
              </a:rPr>
              <a:t>Correlation of each retained sensor with RUL (all training rows).</a:t>
            </a:r>
            <a:endParaRPr lang="en-US" sz="1600" dirty="0"/>
          </a:p>
        </p:txBody>
      </p:sp>
      <p:sp>
        <p:nvSpPr>
          <p:cNvPr id="10" name="data shows panel"/>
          <p:cNvSpPr/>
          <p:nvPr/>
        </p:nvSpPr>
        <p:spPr>
          <a:xfrm>
            <a:off x="13167360" y="2057400"/>
            <a:ext cx="4279392" cy="6172200"/>
          </a:xfrm>
          <a:prstGeom prst="roundRect">
            <a:avLst>
              <a:gd name="adj" fmla="val 1709"/>
            </a:avLst>
          </a:prstGeom>
          <a:solidFill>
            <a:srgbClr val="ECF1F5"/>
          </a:solidFill>
          <a:ln w="12700">
            <a:solidFill>
              <a:srgbClr val="ECF1F5"/>
            </a:solidFill>
            <a:prstDash val="solid"/>
          </a:ln>
        </p:spPr>
      </p:sp>
      <p:sp>
        <p:nvSpPr>
          <p:cNvPr id="11" name="kicker WHAT THE DATA SHOWS"/>
          <p:cNvSpPr txBox="1"/>
          <p:nvPr/>
        </p:nvSpPr>
        <p:spPr>
          <a:xfrm>
            <a:off x="13487400" y="2286000"/>
            <a:ext cx="3840480" cy="365760"/>
          </a:xfrm>
          <a:prstGeom prst="rect">
            <a:avLst/>
          </a:prstGeom>
          <a:noFill/>
          <a:ln/>
        </p:spPr>
        <p:txBody>
          <a:bodyPr wrap="square" lIns="0" tIns="0" rIns="0" bIns="0" rtlCol="0" anchor="ctr"/>
          <a:lstStyle/>
          <a:p>
            <a:pPr indent="0" marL="0">
              <a:buNone/>
            </a:pPr>
            <a:r>
              <a:rPr lang="en-US" sz="1800" b="1" spc="400" kern="0" dirty="0">
                <a:solidFill>
                  <a:srgbClr val="0E8F9B"/>
                </a:solidFill>
              </a:rPr>
              <a:t>WHAT THE DATA SHOWS</a:t>
            </a:r>
            <a:endParaRPr lang="en-US" sz="1800" dirty="0"/>
          </a:p>
        </p:txBody>
      </p:sp>
      <p:sp>
        <p:nvSpPr>
          <p:cNvPr id="12" name="data shows bullets"/>
          <p:cNvSpPr txBox="1"/>
          <p:nvPr/>
        </p:nvSpPr>
        <p:spPr>
          <a:xfrm>
            <a:off x="13533120" y="2788920"/>
            <a:ext cx="3657600" cy="5303520"/>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1B2A38"/>
                </a:solidFill>
              </a:rPr>
              <a:t>7 flat sensors removed: s1, s5, s6, s10, s16, s18, s19.</a:t>
            </a:r>
            <a:endParaRPr lang="en-US" sz="2000" dirty="0"/>
          </a:p>
          <a:p>
            <a:pPr marL="228600" indent="-228600">
              <a:spcAft>
                <a:spcPts val="600"/>
              </a:spcAft>
              <a:buSzPct val="100000"/>
              <a:buChar char="•"/>
            </a:pPr>
            <a:r>
              <a:rPr lang="en-US" sz="2000" dirty="0">
                <a:solidFill>
                  <a:srgbClr val="1B2A38"/>
                </a:solidFill>
              </a:rPr>
              <a:t>One operating condition: settings dropped, no normalisation needed.</a:t>
            </a:r>
            <a:endParaRPr lang="en-US" sz="2000" dirty="0"/>
          </a:p>
          <a:p>
            <a:pPr marL="228600" indent="-228600">
              <a:spcAft>
                <a:spcPts val="600"/>
              </a:spcAft>
              <a:buSzPct val="100000"/>
              <a:buChar char="•"/>
            </a:pPr>
            <a:r>
              <a:rPr lang="en-US" sz="2000" dirty="0">
                <a:solidFill>
                  <a:srgbClr val="1B2A38"/>
                </a:solidFill>
              </a:rPr>
              <a:t>No missing values or duplicates in 20,631 rows.</a:t>
            </a:r>
            <a:endParaRPr lang="en-US" sz="2000" dirty="0"/>
          </a:p>
          <a:p>
            <a:pPr marL="228600" indent="-228600">
              <a:spcAft>
                <a:spcPts val="600"/>
              </a:spcAft>
              <a:buSzPct val="100000"/>
              <a:buChar char="•"/>
            </a:pPr>
            <a:r>
              <a:rPr lang="en-US" sz="2000" dirty="0">
                <a:solidFill>
                  <a:srgbClr val="1B2A38"/>
                </a:solidFill>
              </a:rPr>
              <a:t>Sensors 4 and 11 rise and sensor 12 falls as failure nears.</a:t>
            </a:r>
            <a:endParaRPr lang="en-US" sz="2000" dirty="0"/>
          </a:p>
          <a:p>
            <a:pPr marL="228600" indent="-228600">
              <a:spcAft>
                <a:spcPts val="600"/>
              </a:spcAft>
              <a:buSzPct val="100000"/>
              <a:buChar char="•"/>
            </a:pPr>
            <a:r>
              <a:rPr lang="en-US" sz="2000" dirty="0">
                <a:solidFill>
                  <a:srgbClr val="1B2A38"/>
                </a:solidFill>
              </a:rPr>
              <a:t>Strongest links (|r| ≈ 0.7): s11, s4, s12, s7. Sensors s9 and s14 are weak.</a:t>
            </a:r>
            <a:endParaRPr lang="en-US" sz="2000" dirty="0"/>
          </a:p>
        </p:txBody>
      </p:sp>
      <p:sp>
        <p:nvSpPr>
          <p:cNvPr id="13" name="takeaway bar"/>
          <p:cNvSpPr/>
          <p:nvPr/>
        </p:nvSpPr>
        <p:spPr>
          <a:xfrm>
            <a:off x="822960" y="8439912"/>
            <a:ext cx="16642080" cy="941832"/>
          </a:xfrm>
          <a:prstGeom prst="roundRect">
            <a:avLst>
              <a:gd name="adj" fmla="val 7767"/>
            </a:avLst>
          </a:prstGeom>
          <a:solidFill>
            <a:srgbClr val="0B2239"/>
          </a:solidFill>
          <a:ln w="12700">
            <a:solidFill>
              <a:srgbClr val="0B2239"/>
            </a:solidFill>
            <a:prstDash val="solid"/>
          </a:ln>
        </p:spPr>
      </p:sp>
      <p:sp>
        <p:nvSpPr>
          <p:cNvPr id="14" name="takeaway text"/>
          <p:cNvSpPr txBox="1"/>
          <p:nvPr/>
        </p:nvSpPr>
        <p:spPr>
          <a:xfrm>
            <a:off x="1188720" y="8439912"/>
            <a:ext cx="15910560" cy="941832"/>
          </a:xfrm>
          <a:prstGeom prst="rect">
            <a:avLst/>
          </a:prstGeom>
          <a:noFill/>
          <a:ln/>
        </p:spPr>
        <p:txBody>
          <a:bodyPr wrap="square" lIns="0" tIns="0" rIns="0" bIns="0" rtlCol="0" anchor="ctr"/>
          <a:lstStyle/>
          <a:p>
            <a:pPr indent="0" marL="0">
              <a:buNone/>
            </a:pPr>
            <a:r>
              <a:rPr lang="en-US" sz="2100" dirty="0">
                <a:solidFill>
                  <a:srgbClr val="FFFFFF"/>
                </a:solidFill>
              </a:rPr>
              <a:t>Flat sensors carry no signal. The 14 retained sensors drift with wear but are noisy, so single readings are not enough: trend features are needed.</a:t>
            </a:r>
            <a:endParaRPr lang="en-US" sz="2100" dirty="0"/>
          </a:p>
        </p:txBody>
      </p:sp>
      <p:sp>
        <p:nvSpPr>
          <p:cNvPr id="25" name="Slide Number Placeholder 0"/>
          <p:cNvSpPr>
            <a:spLocks noGrp="1"/>
          </p:cNvSpPr>
          <p:nvPr>
            <p:ph type="sldNum" sz="quarter" idx="4294967295"/>
          </p:nvPr>
        </p:nvSpPr>
        <p:spPr>
          <a:xfrm>
            <a:off x="16733520" y="9601200"/>
            <a:ext cx="731520" cy="365760"/>
          </a:xfrm>
          <a:prstGeom prst="rect">
            <a:avLst/>
          </a:prstGeom>
          <a:extLst>
            <a:ext uri="{C572A759-6A51-4108-AA02-DFA0A04FC94B}">
              <ma14:wrappingTextBoxFlag xmlns:ma14="http://schemas.microsoft.com/office/mac/drawingml/2011/main" val="0"/>
            </a:ext>
          </a:extLst>
        </p:spPr>
        <p:txBody>
          <a:bodyPr/>
          <a:lstStyle>
            <a:lvl1pPr>
              <a:defRPr sz="1500">
                <a:solidFill>
                  <a:srgbClr val="5B708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22960" y="365760"/>
            <a:ext cx="16642080" cy="868680"/>
          </a:xfrm>
          <a:prstGeom prst="rect">
            <a:avLst/>
          </a:prstGeom>
          <a:noFill/>
          <a:ln/>
        </p:spPr>
        <p:txBody>
          <a:bodyPr wrap="square" lIns="0" tIns="0" rIns="0" bIns="0" rtlCol="0" anchor="ctr"/>
          <a:lstStyle/>
          <a:p>
            <a:pPr algn="l" indent="0" marL="0">
              <a:buNone/>
            </a:pPr>
            <a:r>
              <a:rPr lang="en-US" sz="4000" b="1" dirty="0">
                <a:solidFill>
                  <a:srgbClr val="0B2239"/>
                </a:solidFill>
                <a:latin typeface="Cambria" pitchFamily="34" charset="0"/>
                <a:ea typeface="Cambria" pitchFamily="34" charset="-122"/>
                <a:cs typeface="Cambria" pitchFamily="34" charset="-120"/>
              </a:rPr>
              <a:t>Feature engineering: measuring drift from a healthy start</a:t>
            </a:r>
            <a:endParaRPr lang="en-US" sz="4000" dirty="0"/>
          </a:p>
        </p:txBody>
      </p:sp>
      <p:sp>
        <p:nvSpPr>
          <p:cNvPr id="3" name="Text 0"/>
          <p:cNvSpPr/>
          <p:nvPr>
            <p:ph idx="101" type="body" hasCustomPrompt="1"/>
          </p:nvPr>
        </p:nvSpPr>
        <p:spPr>
          <a:xfrm>
            <a:off x="822960" y="1234440"/>
            <a:ext cx="16642080" cy="502920"/>
          </a:xfrm>
          <a:prstGeom prst="rect">
            <a:avLst/>
          </a:prstGeom>
          <a:noFill/>
          <a:ln/>
        </p:spPr>
        <p:txBody>
          <a:bodyPr wrap="square" lIns="0" tIns="0" rIns="0" bIns="0" rtlCol="0" anchor="ctr"/>
          <a:lstStyle/>
          <a:p>
            <a:pPr indent="0" marL="0">
              <a:buNone/>
            </a:pPr>
            <a:r>
              <a:rPr lang="en-US" sz="2200" dirty="0">
                <a:solidFill>
                  <a:srgbClr val="5B7083"/>
                </a:solidFill>
              </a:rPr>
              <a:t>Rolling statistics over the last 10 cycles of the same engine (current and past readings only). Example: sensor 11, engine 1.</a:t>
            </a:r>
            <a:endParaRPr lang="en-US" sz="2200" dirty="0"/>
          </a:p>
        </p:txBody>
      </p:sp>
      <p:sp>
        <p:nvSpPr>
          <p:cNvPr id="4" name="rolling mean frame"/>
          <p:cNvSpPr/>
          <p:nvPr/>
        </p:nvSpPr>
        <p:spPr>
          <a:xfrm>
            <a:off x="822960" y="2057400"/>
            <a:ext cx="6537960" cy="6172200"/>
          </a:xfrm>
          <a:prstGeom prst="roundRect">
            <a:avLst>
              <a:gd name="adj" fmla="val 1185"/>
            </a:avLst>
          </a:prstGeom>
          <a:solidFill>
            <a:srgbClr val="FFFFFF"/>
          </a:solidFill>
          <a:ln w="15875">
            <a:solidFill>
              <a:srgbClr val="C9D3DC"/>
            </a:solidFill>
            <a:prstDash val="solid"/>
          </a:ln>
        </p:spPr>
      </p:sp>
      <p:graphicFrame>
        <p:nvGraphicFramePr>
          <p:cNvPr id="5" name="rolling mean chart" descr=""/>
          <p:cNvGraphicFramePr/>
          <p:nvPr/>
        </p:nvGraphicFramePr>
        <p:xfrm>
          <a:off x="914400" y="2194560"/>
          <a:ext cx="6355080" cy="5349240"/>
        </p:xfrm>
        <a:graphic xmlns:a="http://schemas.openxmlformats.org/drawingml/2006/main">
          <a:graphicData uri="http://schemas.openxmlformats.org/drawingml/2006/chart">
            <c:chart xmlns:c="http://schemas.openxmlformats.org/drawingml/2006/chart" r:id="rId1"/>
          </a:graphicData>
        </a:graphic>
      </p:graphicFrame>
      <p:sp>
        <p:nvSpPr>
          <p:cNvPr id="6" name="caption fig 4"/>
          <p:cNvSpPr txBox="1"/>
          <p:nvPr/>
        </p:nvSpPr>
        <p:spPr>
          <a:xfrm>
            <a:off x="1005840" y="7635240"/>
            <a:ext cx="6217920" cy="457200"/>
          </a:xfrm>
          <a:prstGeom prst="rect">
            <a:avLst/>
          </a:prstGeom>
          <a:noFill/>
          <a:ln/>
        </p:spPr>
        <p:txBody>
          <a:bodyPr wrap="square" lIns="0" tIns="0" rIns="0" bIns="0" rtlCol="0" anchor="t"/>
          <a:lstStyle/>
          <a:p>
            <a:pPr indent="0" marL="0">
              <a:buNone/>
            </a:pPr>
            <a:r>
              <a:rPr lang="en-US" sz="1600" b="1" dirty="0">
                <a:solidFill>
                  <a:srgbClr val="0E8F9B"/>
                </a:solidFill>
              </a:rPr>
              <a:t>Fig. 4  </a:t>
            </a:r>
            <a:pPr indent="0" marL="0">
              <a:buNone/>
            </a:pPr>
            <a:r>
              <a:rPr lang="en-US" sz="1600" i="1" dirty="0">
                <a:solidFill>
                  <a:srgbClr val="5B7083"/>
                </a:solidFill>
              </a:rPr>
              <a:t>Raw reading vs. 10-cycle rolling mean (sensor 11).</a:t>
            </a:r>
            <a:endParaRPr lang="en-US" sz="1600" dirty="0"/>
          </a:p>
        </p:txBody>
      </p:sp>
      <p:sp>
        <p:nvSpPr>
          <p:cNvPr id="7" name="drift frame"/>
          <p:cNvSpPr/>
          <p:nvPr/>
        </p:nvSpPr>
        <p:spPr>
          <a:xfrm>
            <a:off x="7543800" y="2057400"/>
            <a:ext cx="5330952" cy="6172200"/>
          </a:xfrm>
          <a:prstGeom prst="roundRect">
            <a:avLst>
              <a:gd name="adj" fmla="val 1372"/>
            </a:avLst>
          </a:prstGeom>
          <a:solidFill>
            <a:srgbClr val="FFFFFF"/>
          </a:solidFill>
          <a:ln w="15875">
            <a:solidFill>
              <a:srgbClr val="C9D3DC"/>
            </a:solidFill>
            <a:prstDash val="solid"/>
          </a:ln>
        </p:spPr>
      </p:sp>
      <p:graphicFrame>
        <p:nvGraphicFramePr>
          <p:cNvPr id="8" name="drift chart" descr=""/>
          <p:cNvGraphicFramePr/>
          <p:nvPr/>
        </p:nvGraphicFramePr>
        <p:xfrm>
          <a:off x="7635240" y="2194560"/>
          <a:ext cx="5148072" cy="5349240"/>
        </p:xfrm>
        <a:graphic xmlns:a="http://schemas.openxmlformats.org/drawingml/2006/main">
          <a:graphicData uri="http://schemas.openxmlformats.org/drawingml/2006/chart">
            <c:chart xmlns:c="http://schemas.openxmlformats.org/drawingml/2006/chart" r:id="rId2"/>
          </a:graphicData>
        </a:graphic>
      </p:graphicFrame>
      <p:sp>
        <p:nvSpPr>
          <p:cNvPr id="9" name="caption fig 5"/>
          <p:cNvSpPr txBox="1"/>
          <p:nvPr/>
        </p:nvSpPr>
        <p:spPr>
          <a:xfrm>
            <a:off x="7726680" y="7589520"/>
            <a:ext cx="5029200" cy="594360"/>
          </a:xfrm>
          <a:prstGeom prst="rect">
            <a:avLst/>
          </a:prstGeom>
          <a:noFill/>
          <a:ln/>
        </p:spPr>
        <p:txBody>
          <a:bodyPr wrap="square" lIns="0" tIns="0" rIns="0" bIns="0" rtlCol="0" anchor="t"/>
          <a:lstStyle/>
          <a:p>
            <a:pPr indent="0" marL="0">
              <a:buNone/>
            </a:pPr>
            <a:r>
              <a:rPr lang="en-US" sz="1600" b="1" dirty="0">
                <a:solidFill>
                  <a:srgbClr val="0E8F9B"/>
                </a:solidFill>
              </a:rPr>
              <a:t>Fig. 5  </a:t>
            </a:r>
            <a:pPr indent="0" marL="0">
              <a:buNone/>
            </a:pPr>
            <a:r>
              <a:rPr lang="en-US" sz="1600" i="1" dirty="0">
                <a:solidFill>
                  <a:srgbClr val="5B7083"/>
                </a:solidFill>
              </a:rPr>
              <a:t>Drift of sensor 11 from engine 1’s own first-10-cycle level.</a:t>
            </a:r>
            <a:endParaRPr lang="en-US" sz="1600" dirty="0"/>
          </a:p>
        </p:txBody>
      </p:sp>
      <p:sp>
        <p:nvSpPr>
          <p:cNvPr id="10" name="features panel"/>
          <p:cNvSpPr/>
          <p:nvPr/>
        </p:nvSpPr>
        <p:spPr>
          <a:xfrm>
            <a:off x="13167360" y="2057400"/>
            <a:ext cx="4279392" cy="6172200"/>
          </a:xfrm>
          <a:prstGeom prst="roundRect">
            <a:avLst>
              <a:gd name="adj" fmla="val 1709"/>
            </a:avLst>
          </a:prstGeom>
          <a:solidFill>
            <a:srgbClr val="ECF1F5"/>
          </a:solidFill>
          <a:ln w="12700">
            <a:solidFill>
              <a:srgbClr val="ECF1F5"/>
            </a:solidFill>
            <a:prstDash val="solid"/>
          </a:ln>
        </p:spPr>
      </p:sp>
      <p:sp>
        <p:nvSpPr>
          <p:cNvPr id="11" name="kicker THE 71 INPUT FEATURES"/>
          <p:cNvSpPr txBox="1"/>
          <p:nvPr/>
        </p:nvSpPr>
        <p:spPr>
          <a:xfrm>
            <a:off x="13487400" y="2286000"/>
            <a:ext cx="3840480" cy="365760"/>
          </a:xfrm>
          <a:prstGeom prst="rect">
            <a:avLst/>
          </a:prstGeom>
          <a:noFill/>
          <a:ln/>
        </p:spPr>
        <p:txBody>
          <a:bodyPr wrap="square" lIns="0" tIns="0" rIns="0" bIns="0" rtlCol="0" anchor="ctr"/>
          <a:lstStyle/>
          <a:p>
            <a:pPr indent="0" marL="0">
              <a:buNone/>
            </a:pPr>
            <a:r>
              <a:rPr lang="en-US" sz="1800" b="1" spc="400" kern="0" dirty="0">
                <a:solidFill>
                  <a:srgbClr val="0E8F9B"/>
                </a:solidFill>
              </a:rPr>
              <a:t>THE 71 INPUT FEATURES</a:t>
            </a:r>
            <a:endParaRPr lang="en-US" sz="1800" dirty="0"/>
          </a:p>
        </p:txBody>
      </p:sp>
      <p:sp>
        <p:nvSpPr>
          <p:cNvPr id="12" name="big 71"/>
          <p:cNvSpPr txBox="1"/>
          <p:nvPr/>
        </p:nvSpPr>
        <p:spPr>
          <a:xfrm>
            <a:off x="13487400" y="2697480"/>
            <a:ext cx="1463040" cy="914400"/>
          </a:xfrm>
          <a:prstGeom prst="rect">
            <a:avLst/>
          </a:prstGeom>
          <a:noFill/>
          <a:ln/>
        </p:spPr>
        <p:txBody>
          <a:bodyPr wrap="square" lIns="0" tIns="0" rIns="0" bIns="0" rtlCol="0" anchor="ctr"/>
          <a:lstStyle/>
          <a:p>
            <a:pPr indent="0" marL="0">
              <a:buNone/>
            </a:pPr>
            <a:r>
              <a:rPr lang="en-US" sz="6000" b="1" dirty="0">
                <a:solidFill>
                  <a:srgbClr val="0E8F9B"/>
                </a:solidFill>
              </a:rPr>
              <a:t>71</a:t>
            </a:r>
            <a:endParaRPr lang="en-US" sz="6000" dirty="0"/>
          </a:p>
        </p:txBody>
      </p:sp>
      <p:sp>
        <p:nvSpPr>
          <p:cNvPr id="13" name="71 formula"/>
          <p:cNvSpPr txBox="1"/>
          <p:nvPr/>
        </p:nvSpPr>
        <p:spPr>
          <a:xfrm>
            <a:off x="14859000" y="2697480"/>
            <a:ext cx="2423160" cy="914400"/>
          </a:xfrm>
          <a:prstGeom prst="rect">
            <a:avLst/>
          </a:prstGeom>
          <a:noFill/>
          <a:ln/>
        </p:spPr>
        <p:txBody>
          <a:bodyPr wrap="square" lIns="0" tIns="0" rIns="0" bIns="0" rtlCol="0" anchor="ctr"/>
          <a:lstStyle/>
          <a:p>
            <a:pPr indent="0" marL="0">
              <a:buNone/>
            </a:pPr>
            <a:r>
              <a:rPr lang="en-US" sz="1600" dirty="0">
                <a:solidFill>
                  <a:srgbClr val="1B2A38"/>
                </a:solidFill>
              </a:rPr>
              <a:t>= 1 cycle + 14 raw sensors + 14 × 4 rolling statistics</a:t>
            </a:r>
            <a:endParaRPr lang="en-US" sz="1600" dirty="0"/>
          </a:p>
        </p:txBody>
      </p:sp>
      <p:sp>
        <p:nvSpPr>
          <p:cNvPr id="14" name="feature definitions"/>
          <p:cNvSpPr txBox="1"/>
          <p:nvPr/>
        </p:nvSpPr>
        <p:spPr>
          <a:xfrm>
            <a:off x="13487400" y="3840480"/>
            <a:ext cx="3749040" cy="4206240"/>
          </a:xfrm>
          <a:prstGeom prst="rect">
            <a:avLst/>
          </a:prstGeom>
          <a:noFill/>
          <a:ln/>
        </p:spPr>
        <p:txBody>
          <a:bodyPr wrap="square" lIns="0" tIns="0" rIns="0" bIns="0" rtlCol="0" anchor="t"/>
          <a:lstStyle/>
          <a:p>
            <a:pPr indent="0" marL="0">
              <a:spcAft>
                <a:spcPts val="800"/>
              </a:spcAft>
              <a:buNone/>
            </a:pPr>
            <a:r>
              <a:rPr lang="en-US" sz="1800" b="1" dirty="0">
                <a:solidFill>
                  <a:srgbClr val="1B2A38"/>
                </a:solidFill>
              </a:rPr>
              <a:t>Mean: </a:t>
            </a:r>
            <a:pPr indent="0" marL="0">
              <a:spcAft>
                <a:spcPts val="800"/>
              </a:spcAft>
              <a:buNone/>
            </a:pPr>
            <a:r>
              <a:rPr lang="en-US" sz="1800" dirty="0">
                <a:solidFill>
                  <a:srgbClr val="1B2A38"/>
                </a:solidFill>
              </a:rPr>
              <a:t>recent average level.</a:t>
            </a:r>
            <a:endParaRPr lang="en-US" sz="1800" dirty="0"/>
          </a:p>
          <a:p>
            <a:pPr indent="0" marL="0">
              <a:spcAft>
                <a:spcPts val="800"/>
              </a:spcAft>
              <a:buNone/>
            </a:pPr>
            <a:r>
              <a:rPr lang="en-US" sz="1800" b="1" dirty="0">
                <a:solidFill>
                  <a:srgbClr val="1B2A38"/>
                </a:solidFill>
              </a:rPr>
              <a:t>Std. deviation: </a:t>
            </a:r>
            <a:pPr indent="0" marL="0">
              <a:spcAft>
                <a:spcPts val="800"/>
              </a:spcAft>
              <a:buNone/>
            </a:pPr>
            <a:r>
              <a:rPr lang="en-US" sz="1800" dirty="0">
                <a:solidFill>
                  <a:srgbClr val="1B2A38"/>
                </a:solidFill>
              </a:rPr>
              <a:t>recent variability.</a:t>
            </a:r>
            <a:endParaRPr lang="en-US" sz="1800" dirty="0"/>
          </a:p>
          <a:p>
            <a:pPr indent="0" marL="0">
              <a:spcAft>
                <a:spcPts val="800"/>
              </a:spcAft>
              <a:buNone/>
            </a:pPr>
            <a:r>
              <a:rPr lang="en-US" sz="1800" b="1" dirty="0">
                <a:solidFill>
                  <a:srgbClr val="1B2A38"/>
                </a:solidFill>
              </a:rPr>
              <a:t>Slope: </a:t>
            </a:r>
            <a:pPr indent="0" marL="0">
              <a:spcAft>
                <a:spcPts val="800"/>
              </a:spcAft>
              <a:buNone/>
            </a:pPr>
            <a:r>
              <a:rPr lang="en-US" sz="1800" dirty="0">
                <a:solidFill>
                  <a:srgbClr val="1B2A38"/>
                </a:solidFill>
              </a:rPr>
              <a:t>direction of change.</a:t>
            </a:r>
            <a:endParaRPr lang="en-US" sz="1800" dirty="0"/>
          </a:p>
          <a:p>
            <a:pPr indent="0" marL="0">
              <a:spcAft>
                <a:spcPts val="800"/>
              </a:spcAft>
              <a:buNone/>
            </a:pPr>
            <a:r>
              <a:rPr lang="en-US" sz="1800" b="1" dirty="0">
                <a:solidFill>
                  <a:srgbClr val="1B2A38"/>
                </a:solidFill>
              </a:rPr>
              <a:t>Drift (_dev): </a:t>
            </a:r>
            <a:pPr indent="0" marL="0">
              <a:spcAft>
                <a:spcPts val="800"/>
              </a:spcAft>
              <a:buNone/>
            </a:pPr>
            <a:r>
              <a:rPr lang="en-US" sz="1800" dirty="0">
                <a:solidFill>
                  <a:srgbClr val="1B2A38"/>
                </a:solidFill>
              </a:rPr>
              <a:t>mean minus the engine’s own healthy start.</a:t>
            </a:r>
            <a:endParaRPr lang="en-US" sz="1800" dirty="0"/>
          </a:p>
          <a:p>
            <a:pPr indent="0" marL="0">
              <a:spcAft>
                <a:spcPts val="800"/>
              </a:spcAft>
              <a:buNone/>
            </a:pPr>
            <a:r>
              <a:rPr lang="en-US" sz="1800" i="1" dirty="0">
                <a:solidFill>
                  <a:srgbClr val="5B7083"/>
                </a:solidFill>
              </a:rPr>
              <a:t>Window = current + previous 9 cycles; a truncation test proves no future readings leak in.</a:t>
            </a:r>
            <a:endParaRPr lang="en-US" sz="1800" dirty="0"/>
          </a:p>
        </p:txBody>
      </p:sp>
      <p:sp>
        <p:nvSpPr>
          <p:cNvPr id="15" name="takeaway bar"/>
          <p:cNvSpPr/>
          <p:nvPr/>
        </p:nvSpPr>
        <p:spPr>
          <a:xfrm>
            <a:off x="822960" y="8439912"/>
            <a:ext cx="16642080" cy="941832"/>
          </a:xfrm>
          <a:prstGeom prst="roundRect">
            <a:avLst>
              <a:gd name="adj" fmla="val 7767"/>
            </a:avLst>
          </a:prstGeom>
          <a:solidFill>
            <a:srgbClr val="0B2239"/>
          </a:solidFill>
          <a:ln w="12700">
            <a:solidFill>
              <a:srgbClr val="0B2239"/>
            </a:solidFill>
            <a:prstDash val="solid"/>
          </a:ln>
        </p:spPr>
      </p:sp>
      <p:sp>
        <p:nvSpPr>
          <p:cNvPr id="16" name="takeaway text"/>
          <p:cNvSpPr txBox="1"/>
          <p:nvPr/>
        </p:nvSpPr>
        <p:spPr>
          <a:xfrm>
            <a:off x="1188720" y="8439912"/>
            <a:ext cx="15910560" cy="941832"/>
          </a:xfrm>
          <a:prstGeom prst="rect">
            <a:avLst/>
          </a:prstGeom>
          <a:noFill/>
          <a:ln/>
        </p:spPr>
        <p:txBody>
          <a:bodyPr wrap="square" lIns="0" tIns="0" rIns="0" bIns="0" rtlCol="0" anchor="ctr"/>
          <a:lstStyle/>
          <a:p>
            <a:pPr indent="0" marL="0">
              <a:buNone/>
            </a:pPr>
            <a:r>
              <a:rPr lang="en-US" sz="2100" dirty="0">
                <a:solidFill>
                  <a:srgbClr val="FFFFFF"/>
                </a:solidFill>
              </a:rPr>
              <a:t>The drift features carry about 84 % of the Random Forest’s importance, and s11_dev alone about 74 %: comparing each engine with its own healthy start exposes wear that raw readings hide.</a:t>
            </a:r>
            <a:endParaRPr lang="en-US" sz="2100" dirty="0"/>
          </a:p>
        </p:txBody>
      </p:sp>
      <p:sp>
        <p:nvSpPr>
          <p:cNvPr id="25" name="Slide Number Placeholder 0"/>
          <p:cNvSpPr>
            <a:spLocks noGrp="1"/>
          </p:cNvSpPr>
          <p:nvPr>
            <p:ph type="sldNum" sz="quarter" idx="4294967295"/>
          </p:nvPr>
        </p:nvSpPr>
        <p:spPr>
          <a:xfrm>
            <a:off x="16733520" y="9601200"/>
            <a:ext cx="731520" cy="365760"/>
          </a:xfrm>
          <a:prstGeom prst="rect">
            <a:avLst/>
          </a:prstGeom>
          <a:extLst>
            <a:ext uri="{C572A759-6A51-4108-AA02-DFA0A04FC94B}">
              <ma14:wrappingTextBoxFlag xmlns:ma14="http://schemas.microsoft.com/office/mac/drawingml/2011/main" val="0"/>
            </a:ext>
          </a:extLst>
        </p:spPr>
        <p:txBody>
          <a:bodyPr/>
          <a:lstStyle>
            <a:lvl1pPr>
              <a:defRPr sz="1500">
                <a:solidFill>
                  <a:srgbClr val="5B708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365760"/>
            <a:ext cx="16642080" cy="868680"/>
          </a:xfrm>
          <a:prstGeom prst="rect">
            <a:avLst/>
          </a:prstGeom>
          <a:noFill/>
          <a:ln/>
        </p:spPr>
        <p:txBody>
          <a:bodyPr wrap="square" lIns="0" tIns="0" rIns="0" bIns="0" rtlCol="0" anchor="ctr"/>
          <a:lstStyle/>
          <a:p>
            <a:pPr algn="l" indent="0" marL="0">
              <a:buNone/>
            </a:pPr>
            <a:r>
              <a:rPr lang="en-US" sz="4000" b="1" dirty="0">
                <a:solidFill>
                  <a:srgbClr val="0B2239"/>
                </a:solidFill>
                <a:latin typeface="Cambria" pitchFamily="34" charset="0"/>
                <a:ea typeface="Cambria" pitchFamily="34" charset="-122"/>
                <a:cs typeface="Cambria" pitchFamily="34" charset="-120"/>
              </a:rPr>
              <a:t>Methodology: models and validation design</a:t>
            </a:r>
            <a:endParaRPr lang="en-US" sz="4000" dirty="0"/>
          </a:p>
        </p:txBody>
      </p:sp>
      <p:sp>
        <p:nvSpPr>
          <p:cNvPr id="3" name="Text 0"/>
          <p:cNvSpPr/>
          <p:nvPr>
            <p:ph idx="101" type="body" hasCustomPrompt="1"/>
          </p:nvPr>
        </p:nvSpPr>
        <p:spPr>
          <a:xfrm>
            <a:off x="822960" y="1234440"/>
            <a:ext cx="16642080" cy="502920"/>
          </a:xfrm>
          <a:prstGeom prst="rect">
            <a:avLst/>
          </a:prstGeom>
          <a:noFill/>
          <a:ln/>
        </p:spPr>
        <p:txBody>
          <a:bodyPr wrap="square" lIns="0" tIns="0" rIns="0" bIns="0" rtlCol="0" anchor="ctr"/>
          <a:lstStyle/>
          <a:p>
            <a:pPr indent="0" marL="0">
              <a:buNone/>
            </a:pPr>
            <a:r>
              <a:rPr lang="en-US" sz="2200" dirty="0">
                <a:solidFill>
                  <a:srgbClr val="5B7083"/>
                </a:solidFill>
              </a:rPr>
              <a:t>Same features, same engine-based split and same validation engines for every model.</a:t>
            </a:r>
            <a:endParaRPr lang="en-US" sz="2200" dirty="0"/>
          </a:p>
        </p:txBody>
      </p:sp>
      <p:sp>
        <p:nvSpPr>
          <p:cNvPr id="4" name="step 1"/>
          <p:cNvSpPr/>
          <p:nvPr/>
        </p:nvSpPr>
        <p:spPr>
          <a:xfrm>
            <a:off x="822960" y="2057400"/>
            <a:ext cx="2898648" cy="1024128"/>
          </a:xfrm>
          <a:prstGeom prst="chevron">
            <a:avLst/>
          </a:prstGeom>
          <a:solidFill>
            <a:srgbClr val="0B2239"/>
          </a:solidFill>
          <a:ln w="12700">
            <a:solidFill>
              <a:srgbClr val="0B2239"/>
            </a:solidFill>
            <a:prstDash val="solid"/>
          </a:ln>
        </p:spPr>
      </p:sp>
      <p:sp>
        <p:nvSpPr>
          <p:cNvPr id="5" name="step 1 label"/>
          <p:cNvSpPr txBox="1"/>
          <p:nvPr/>
        </p:nvSpPr>
        <p:spPr>
          <a:xfrm>
            <a:off x="1508760" y="2057400"/>
            <a:ext cx="1709928" cy="1024128"/>
          </a:xfrm>
          <a:prstGeom prst="rect">
            <a:avLst/>
          </a:prstGeom>
          <a:noFill/>
          <a:ln/>
        </p:spPr>
        <p:txBody>
          <a:bodyPr wrap="square" lIns="0" tIns="0" rIns="0" bIns="0" rtlCol="0" anchor="ctr"/>
          <a:lstStyle/>
          <a:p>
            <a:pPr indent="0" marL="0">
              <a:buNone/>
            </a:pPr>
            <a:r>
              <a:rPr lang="en-US" sz="1800" b="1" dirty="0">
                <a:solidFill>
                  <a:srgbClr val="FFFFFF"/>
                </a:solidFill>
              </a:rPr>
              <a:t>1  Load &amp; check</a:t>
            </a:r>
            <a:endParaRPr lang="en-US" sz="1800" dirty="0"/>
          </a:p>
        </p:txBody>
      </p:sp>
      <p:sp>
        <p:nvSpPr>
          <p:cNvPr id="6" name="step 2"/>
          <p:cNvSpPr/>
          <p:nvPr/>
        </p:nvSpPr>
        <p:spPr>
          <a:xfrm>
            <a:off x="3566160" y="2057400"/>
            <a:ext cx="2898648" cy="1024128"/>
          </a:xfrm>
          <a:prstGeom prst="chevron">
            <a:avLst/>
          </a:prstGeom>
          <a:solidFill>
            <a:srgbClr val="0B2239"/>
          </a:solidFill>
          <a:ln w="12700">
            <a:solidFill>
              <a:srgbClr val="0B2239"/>
            </a:solidFill>
            <a:prstDash val="solid"/>
          </a:ln>
        </p:spPr>
      </p:sp>
      <p:sp>
        <p:nvSpPr>
          <p:cNvPr id="7" name="step 2 label"/>
          <p:cNvSpPr txBox="1"/>
          <p:nvPr/>
        </p:nvSpPr>
        <p:spPr>
          <a:xfrm>
            <a:off x="4251960" y="2057400"/>
            <a:ext cx="1709928" cy="1024128"/>
          </a:xfrm>
          <a:prstGeom prst="rect">
            <a:avLst/>
          </a:prstGeom>
          <a:noFill/>
          <a:ln/>
        </p:spPr>
        <p:txBody>
          <a:bodyPr wrap="square" lIns="0" tIns="0" rIns="0" bIns="0" rtlCol="0" anchor="ctr"/>
          <a:lstStyle/>
          <a:p>
            <a:pPr indent="0" marL="0">
              <a:buNone/>
            </a:pPr>
            <a:r>
              <a:rPr lang="en-US" sz="1800" b="1" dirty="0">
                <a:solidFill>
                  <a:srgbClr val="FFFFFF"/>
                </a:solidFill>
              </a:rPr>
              <a:t>2  Cap RUL at 125</a:t>
            </a:r>
            <a:endParaRPr lang="en-US" sz="1800" dirty="0"/>
          </a:p>
        </p:txBody>
      </p:sp>
      <p:sp>
        <p:nvSpPr>
          <p:cNvPr id="8" name="step 3"/>
          <p:cNvSpPr/>
          <p:nvPr/>
        </p:nvSpPr>
        <p:spPr>
          <a:xfrm>
            <a:off x="6309360" y="2057400"/>
            <a:ext cx="2898648" cy="1024128"/>
          </a:xfrm>
          <a:prstGeom prst="chevron">
            <a:avLst/>
          </a:prstGeom>
          <a:solidFill>
            <a:srgbClr val="0B2239"/>
          </a:solidFill>
          <a:ln w="12700">
            <a:solidFill>
              <a:srgbClr val="0B2239"/>
            </a:solidFill>
            <a:prstDash val="solid"/>
          </a:ln>
        </p:spPr>
      </p:sp>
      <p:sp>
        <p:nvSpPr>
          <p:cNvPr id="9" name="step 3 label"/>
          <p:cNvSpPr txBox="1"/>
          <p:nvPr/>
        </p:nvSpPr>
        <p:spPr>
          <a:xfrm>
            <a:off x="6995160" y="2057400"/>
            <a:ext cx="1709928" cy="1024128"/>
          </a:xfrm>
          <a:prstGeom prst="rect">
            <a:avLst/>
          </a:prstGeom>
          <a:noFill/>
          <a:ln/>
        </p:spPr>
        <p:txBody>
          <a:bodyPr wrap="square" lIns="0" tIns="0" rIns="0" bIns="0" rtlCol="0" anchor="ctr"/>
          <a:lstStyle/>
          <a:p>
            <a:pPr indent="0" marL="0">
              <a:buNone/>
            </a:pPr>
            <a:r>
              <a:rPr lang="en-US" sz="1800" b="1" dirty="0">
                <a:solidFill>
                  <a:srgbClr val="FFFFFF"/>
                </a:solidFill>
              </a:rPr>
              <a:t>3  Split by engine</a:t>
            </a:r>
            <a:endParaRPr lang="en-US" sz="1800" dirty="0"/>
          </a:p>
        </p:txBody>
      </p:sp>
      <p:sp>
        <p:nvSpPr>
          <p:cNvPr id="10" name="step 4"/>
          <p:cNvSpPr/>
          <p:nvPr/>
        </p:nvSpPr>
        <p:spPr>
          <a:xfrm>
            <a:off x="9052560" y="2057400"/>
            <a:ext cx="2898648" cy="1024128"/>
          </a:xfrm>
          <a:prstGeom prst="chevron">
            <a:avLst/>
          </a:prstGeom>
          <a:solidFill>
            <a:srgbClr val="0B2239"/>
          </a:solidFill>
          <a:ln w="12700">
            <a:solidFill>
              <a:srgbClr val="0B2239"/>
            </a:solidFill>
            <a:prstDash val="solid"/>
          </a:ln>
        </p:spPr>
      </p:sp>
      <p:sp>
        <p:nvSpPr>
          <p:cNvPr id="11" name="step 4 label"/>
          <p:cNvSpPr txBox="1"/>
          <p:nvPr/>
        </p:nvSpPr>
        <p:spPr>
          <a:xfrm>
            <a:off x="9738360" y="2057400"/>
            <a:ext cx="1709928" cy="1024128"/>
          </a:xfrm>
          <a:prstGeom prst="rect">
            <a:avLst/>
          </a:prstGeom>
          <a:noFill/>
          <a:ln/>
        </p:spPr>
        <p:txBody>
          <a:bodyPr wrap="square" lIns="0" tIns="0" rIns="0" bIns="0" rtlCol="0" anchor="ctr"/>
          <a:lstStyle/>
          <a:p>
            <a:pPr indent="0" marL="0">
              <a:buNone/>
            </a:pPr>
            <a:r>
              <a:rPr lang="en-US" sz="1800" b="1" dirty="0">
                <a:solidFill>
                  <a:srgbClr val="FFFFFF"/>
                </a:solidFill>
              </a:rPr>
              <a:t>4  Build features</a:t>
            </a:r>
            <a:endParaRPr lang="en-US" sz="1800" dirty="0"/>
          </a:p>
        </p:txBody>
      </p:sp>
      <p:sp>
        <p:nvSpPr>
          <p:cNvPr id="12" name="step 5"/>
          <p:cNvSpPr/>
          <p:nvPr/>
        </p:nvSpPr>
        <p:spPr>
          <a:xfrm>
            <a:off x="11795760" y="2057400"/>
            <a:ext cx="2898648" cy="1024128"/>
          </a:xfrm>
          <a:prstGeom prst="chevron">
            <a:avLst/>
          </a:prstGeom>
          <a:solidFill>
            <a:srgbClr val="0B2239"/>
          </a:solidFill>
          <a:ln w="12700">
            <a:solidFill>
              <a:srgbClr val="0B2239"/>
            </a:solidFill>
            <a:prstDash val="solid"/>
          </a:ln>
        </p:spPr>
      </p:sp>
      <p:sp>
        <p:nvSpPr>
          <p:cNvPr id="13" name="step 5 label"/>
          <p:cNvSpPr txBox="1"/>
          <p:nvPr/>
        </p:nvSpPr>
        <p:spPr>
          <a:xfrm>
            <a:off x="12481560" y="2057400"/>
            <a:ext cx="1709928" cy="1024128"/>
          </a:xfrm>
          <a:prstGeom prst="rect">
            <a:avLst/>
          </a:prstGeom>
          <a:noFill/>
          <a:ln/>
        </p:spPr>
        <p:txBody>
          <a:bodyPr wrap="square" lIns="0" tIns="0" rIns="0" bIns="0" rtlCol="0" anchor="ctr"/>
          <a:lstStyle/>
          <a:p>
            <a:pPr indent="0" marL="0">
              <a:buNone/>
            </a:pPr>
            <a:r>
              <a:rPr lang="en-US" sz="1800" b="1" dirty="0">
                <a:solidFill>
                  <a:srgbClr val="FFFFFF"/>
                </a:solidFill>
              </a:rPr>
              <a:t>5  Tune models</a:t>
            </a:r>
            <a:endParaRPr lang="en-US" sz="1800" dirty="0"/>
          </a:p>
        </p:txBody>
      </p:sp>
      <p:sp>
        <p:nvSpPr>
          <p:cNvPr id="14" name="step 6"/>
          <p:cNvSpPr/>
          <p:nvPr/>
        </p:nvSpPr>
        <p:spPr>
          <a:xfrm>
            <a:off x="14538960" y="2057400"/>
            <a:ext cx="2898648" cy="1024128"/>
          </a:xfrm>
          <a:prstGeom prst="chevron">
            <a:avLst/>
          </a:prstGeom>
          <a:solidFill>
            <a:srgbClr val="0E8F9B"/>
          </a:solidFill>
          <a:ln w="12700">
            <a:solidFill>
              <a:srgbClr val="0E8F9B"/>
            </a:solidFill>
            <a:prstDash val="solid"/>
          </a:ln>
        </p:spPr>
      </p:sp>
      <p:sp>
        <p:nvSpPr>
          <p:cNvPr id="15" name="step 6 label"/>
          <p:cNvSpPr txBox="1"/>
          <p:nvPr/>
        </p:nvSpPr>
        <p:spPr>
          <a:xfrm>
            <a:off x="15224760" y="2057400"/>
            <a:ext cx="1709928" cy="1024128"/>
          </a:xfrm>
          <a:prstGeom prst="rect">
            <a:avLst/>
          </a:prstGeom>
          <a:noFill/>
          <a:ln/>
        </p:spPr>
        <p:txBody>
          <a:bodyPr wrap="square" lIns="0" tIns="0" rIns="0" bIns="0" rtlCol="0" anchor="ctr"/>
          <a:lstStyle/>
          <a:p>
            <a:pPr indent="0" marL="0">
              <a:buNone/>
            </a:pPr>
            <a:r>
              <a:rPr lang="en-US" sz="1800" b="1" dirty="0">
                <a:solidFill>
                  <a:srgbClr val="FFFFFF"/>
                </a:solidFill>
              </a:rPr>
              <a:t>6  Test once</a:t>
            </a:r>
            <a:endParaRPr lang="en-US" sz="1800" dirty="0"/>
          </a:p>
        </p:txBody>
      </p:sp>
      <p:sp>
        <p:nvSpPr>
          <p:cNvPr id="16" name="kicker FOUR REGRESSION MODELS"/>
          <p:cNvSpPr txBox="1"/>
          <p:nvPr/>
        </p:nvSpPr>
        <p:spPr>
          <a:xfrm>
            <a:off x="822960" y="3520440"/>
            <a:ext cx="7315200" cy="365760"/>
          </a:xfrm>
          <a:prstGeom prst="rect">
            <a:avLst/>
          </a:prstGeom>
          <a:noFill/>
          <a:ln/>
        </p:spPr>
        <p:txBody>
          <a:bodyPr wrap="square" lIns="0" tIns="0" rIns="0" bIns="0" rtlCol="0" anchor="ctr"/>
          <a:lstStyle/>
          <a:p>
            <a:pPr indent="0" marL="0">
              <a:buNone/>
            </a:pPr>
            <a:r>
              <a:rPr lang="en-US" sz="1800" b="1" spc="400" kern="0" dirty="0">
                <a:solidFill>
                  <a:srgbClr val="0E8F9B"/>
                </a:solidFill>
              </a:rPr>
              <a:t>FOUR REGRESSION MODELS</a:t>
            </a:r>
            <a:endParaRPr lang="en-US" sz="1800" dirty="0"/>
          </a:p>
        </p:txBody>
      </p:sp>
      <p:graphicFrame>
        <p:nvGraphicFramePr>
          <p:cNvPr id="5" name="models table"/>
          <p:cNvGraphicFramePr>
            <a:graphicFrameLocks noGrp="1"/>
          </p:cNvGraphicFramePr>
          <p:nvPr>
            <p:extLst>
              <p:ext uri="{D42A27DB-BD31-4B8C-83A1-F6EECF244321}">
                <p14:modId xmlns:p14="http://schemas.microsoft.com/office/powerpoint/2010/main" val="1579011935"/>
              </p:ext>
            </p:extLst>
          </p:nvPr>
        </p:nvGraphicFramePr>
        <p:xfrm>
          <a:off x="822960" y="3977640"/>
          <a:ext cx="9692640" cy="914400"/>
        </p:xfrm>
        <a:graphic>
          <a:graphicData uri="http://schemas.openxmlformats.org/drawingml/2006/table">
            <a:tbl>
              <a:tblPr/>
              <a:tblGrid>
                <a:gridCol w="2606040"/>
                <a:gridCol w="2377440"/>
                <a:gridCol w="4709160"/>
              </a:tblGrid>
              <a:tr h="603504">
                <a:tc>
                  <a:txBody>
                    <a:bodyPr/>
                    <a:lstStyle/>
                    <a:p>
                      <a:pPr algn="l" indent="0" marL="0">
                        <a:buNone/>
                      </a:pPr>
                      <a:r>
                        <a:rPr lang="en-US" sz="1800" b="1" dirty="0">
                          <a:solidFill>
                            <a:srgbClr val="FFFFFF"/>
                          </a:solidFill>
                        </a:rPr>
                        <a:t>MODEL</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2239"/>
                    </a:solidFill>
                  </a:tcPr>
                </a:tc>
                <a:tc>
                  <a:txBody>
                    <a:bodyPr/>
                    <a:lstStyle/>
                    <a:p>
                      <a:pPr algn="l" indent="0" marL="0">
                        <a:buNone/>
                      </a:pPr>
                      <a:r>
                        <a:rPr lang="en-US" sz="1800" b="1" dirty="0">
                          <a:solidFill>
                            <a:srgbClr val="FFFFFF"/>
                          </a:solidFill>
                        </a:rPr>
                        <a:t>FAMILY</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2239"/>
                    </a:solidFill>
                  </a:tcPr>
                </a:tc>
                <a:tc>
                  <a:txBody>
                    <a:bodyPr/>
                    <a:lstStyle/>
                    <a:p>
                      <a:pPr algn="l" indent="0" marL="0">
                        <a:buNone/>
                      </a:pPr>
                      <a:r>
                        <a:rPr lang="en-US" sz="1800" b="1" dirty="0">
                          <a:solidFill>
                            <a:srgbClr val="FFFFFF"/>
                          </a:solidFill>
                        </a:rPr>
                        <a:t>HOW IT WORKS</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2239"/>
                    </a:solidFill>
                  </a:tcPr>
                </a:tc>
              </a:tr>
              <a:tr h="822960">
                <a:tc>
                  <a:txBody>
                    <a:bodyPr/>
                    <a:lstStyle/>
                    <a:p>
                      <a:pPr indent="0" marL="0">
                        <a:buNone/>
                      </a:pPr>
                      <a:r>
                        <a:rPr lang="en-US" sz="1800" b="1" dirty="0">
                          <a:solidFill>
                            <a:srgbClr val="1B2A38"/>
                          </a:solidFill>
                        </a:rPr>
                        <a:t>Baseline</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800" b="1" dirty="0">
                          <a:solidFill>
                            <a:srgbClr val="0E8F9B"/>
                          </a:solidFill>
                        </a:rPr>
                        <a:t>Reference</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700" dirty="0">
                          <a:solidFill>
                            <a:srgbClr val="1B2A38"/>
                          </a:solidFill>
                        </a:rPr>
                        <a:t>Always predicts the average training RUL.</a:t>
                      </a:r>
                      <a:endParaRPr lang="en-US" sz="17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822960">
                <a:tc>
                  <a:txBody>
                    <a:bodyPr/>
                    <a:lstStyle/>
                    <a:p>
                      <a:pPr indent="0" marL="0">
                        <a:buNone/>
                      </a:pPr>
                      <a:r>
                        <a:rPr lang="en-US" sz="1800" b="1" dirty="0">
                          <a:solidFill>
                            <a:srgbClr val="1B2A38"/>
                          </a:solidFill>
                        </a:rPr>
                        <a:t>Linear Regression</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800" b="1" dirty="0">
                          <a:solidFill>
                            <a:srgbClr val="0E8F9B"/>
                          </a:solidFill>
                        </a:rPr>
                        <a:t>Linear (OLS)</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700" dirty="0">
                          <a:solidFill>
                            <a:srgbClr val="1B2A38"/>
                          </a:solidFill>
                        </a:rPr>
                        <a:t>Weighted sum of standardised features.</a:t>
                      </a:r>
                      <a:endParaRPr lang="en-US" sz="17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822960">
                <a:tc>
                  <a:txBody>
                    <a:bodyPr/>
                    <a:lstStyle/>
                    <a:p>
                      <a:pPr indent="0" marL="0">
                        <a:buNone/>
                      </a:pPr>
                      <a:r>
                        <a:rPr lang="en-US" sz="1800" b="1" dirty="0">
                          <a:solidFill>
                            <a:srgbClr val="1B2A38"/>
                          </a:solidFill>
                        </a:rPr>
                        <a:t>Decision Tree</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800" b="1" dirty="0">
                          <a:solidFill>
                            <a:srgbClr val="0E8F9B"/>
                          </a:solidFill>
                        </a:rPr>
                        <a:t>Single tree (CART)</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700" dirty="0">
                          <a:solidFill>
                            <a:srgbClr val="1B2A38"/>
                          </a:solidFill>
                        </a:rPr>
                        <a:t>Yes/no splits on features; pruned (depth 12, min. leaf 50).</a:t>
                      </a:r>
                      <a:endParaRPr lang="en-US" sz="17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822960">
                <a:tc>
                  <a:txBody>
                    <a:bodyPr/>
                    <a:lstStyle/>
                    <a:p>
                      <a:pPr indent="0" marL="0">
                        <a:buNone/>
                      </a:pPr>
                      <a:r>
                        <a:rPr lang="en-US" sz="1800" b="1" dirty="0">
                          <a:solidFill>
                            <a:srgbClr val="1B2A38"/>
                          </a:solidFill>
                        </a:rPr>
                        <a:t>Random Forest</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800" b="1" dirty="0">
                          <a:solidFill>
                            <a:srgbClr val="0E8F9B"/>
                          </a:solidFill>
                        </a:rPr>
                        <a:t>Tree ensemble</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700" dirty="0">
                          <a:solidFill>
                            <a:srgbClr val="1B2A38"/>
                          </a:solidFill>
                        </a:rPr>
                        <a:t>Averages 150 trees grown on bootstrap samples.</a:t>
                      </a:r>
                      <a:endParaRPr lang="en-US" sz="17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bl>
          </a:graphicData>
        </a:graphic>
      </p:graphicFrame>
      <p:sp>
        <p:nvSpPr>
          <p:cNvPr id="18" name="validation panel"/>
          <p:cNvSpPr/>
          <p:nvPr/>
        </p:nvSpPr>
        <p:spPr>
          <a:xfrm>
            <a:off x="10899648" y="3502152"/>
            <a:ext cx="6547104" cy="4727448"/>
          </a:xfrm>
          <a:prstGeom prst="roundRect">
            <a:avLst>
              <a:gd name="adj" fmla="val 1547"/>
            </a:avLst>
          </a:prstGeom>
          <a:solidFill>
            <a:srgbClr val="ECF1F5"/>
          </a:solidFill>
          <a:ln w="12700">
            <a:solidFill>
              <a:srgbClr val="ECF1F5"/>
            </a:solidFill>
            <a:prstDash val="solid"/>
          </a:ln>
        </p:spPr>
      </p:sp>
      <p:sp>
        <p:nvSpPr>
          <p:cNvPr id="19" name="kicker VALIDATION DESIGN"/>
          <p:cNvSpPr txBox="1"/>
          <p:nvPr/>
        </p:nvSpPr>
        <p:spPr>
          <a:xfrm>
            <a:off x="11201400" y="3730752"/>
            <a:ext cx="5486400" cy="365760"/>
          </a:xfrm>
          <a:prstGeom prst="rect">
            <a:avLst/>
          </a:prstGeom>
          <a:noFill/>
          <a:ln/>
        </p:spPr>
        <p:txBody>
          <a:bodyPr wrap="square" lIns="0" tIns="0" rIns="0" bIns="0" rtlCol="0" anchor="ctr"/>
          <a:lstStyle/>
          <a:p>
            <a:pPr indent="0" marL="0">
              <a:buNone/>
            </a:pPr>
            <a:r>
              <a:rPr lang="en-US" sz="1800" b="1" spc="400" kern="0" dirty="0">
                <a:solidFill>
                  <a:srgbClr val="0E8F9B"/>
                </a:solidFill>
              </a:rPr>
              <a:t>VALIDATION DESIGN</a:t>
            </a:r>
            <a:endParaRPr lang="en-US" sz="1800" dirty="0"/>
          </a:p>
        </p:txBody>
      </p:sp>
      <p:sp>
        <p:nvSpPr>
          <p:cNvPr id="20" name="80"/>
          <p:cNvSpPr txBox="1"/>
          <p:nvPr/>
        </p:nvSpPr>
        <p:spPr>
          <a:xfrm>
            <a:off x="11201400" y="4114800"/>
            <a:ext cx="1828800" cy="685800"/>
          </a:xfrm>
          <a:prstGeom prst="rect">
            <a:avLst/>
          </a:prstGeom>
          <a:noFill/>
          <a:ln/>
        </p:spPr>
        <p:txBody>
          <a:bodyPr wrap="square" lIns="0" tIns="0" rIns="0" bIns="0" rtlCol="0" anchor="ctr"/>
          <a:lstStyle/>
          <a:p>
            <a:pPr indent="0" marL="0">
              <a:buNone/>
            </a:pPr>
            <a:r>
              <a:rPr lang="en-US" sz="4200" b="1" dirty="0">
                <a:solidFill>
                  <a:srgbClr val="0E8F9B"/>
                </a:solidFill>
              </a:rPr>
              <a:t>80</a:t>
            </a:r>
            <a:endParaRPr lang="en-US" sz="4200" dirty="0"/>
          </a:p>
        </p:txBody>
      </p:sp>
      <p:sp>
        <p:nvSpPr>
          <p:cNvPr id="21" name="20"/>
          <p:cNvSpPr txBox="1"/>
          <p:nvPr/>
        </p:nvSpPr>
        <p:spPr>
          <a:xfrm>
            <a:off x="15316200" y="4114800"/>
            <a:ext cx="1828800" cy="685800"/>
          </a:xfrm>
          <a:prstGeom prst="rect">
            <a:avLst/>
          </a:prstGeom>
          <a:noFill/>
          <a:ln/>
        </p:spPr>
        <p:txBody>
          <a:bodyPr wrap="square" lIns="0" tIns="0" rIns="0" bIns="0" rtlCol="0" anchor="ctr"/>
          <a:lstStyle/>
          <a:p>
            <a:pPr algn="r" indent="0" marL="0">
              <a:buNone/>
            </a:pPr>
            <a:r>
              <a:rPr lang="en-US" sz="4200" b="1" dirty="0">
                <a:solidFill>
                  <a:srgbClr val="F2A541"/>
                </a:solidFill>
              </a:rPr>
              <a:t>20</a:t>
            </a:r>
            <a:endParaRPr lang="en-US" sz="4200" dirty="0"/>
          </a:p>
        </p:txBody>
      </p:sp>
      <p:sp>
        <p:nvSpPr>
          <p:cNvPr id="22" name="train label"/>
          <p:cNvSpPr txBox="1"/>
          <p:nvPr/>
        </p:nvSpPr>
        <p:spPr>
          <a:xfrm>
            <a:off x="11201400" y="4800600"/>
            <a:ext cx="2743200" cy="365760"/>
          </a:xfrm>
          <a:prstGeom prst="rect">
            <a:avLst/>
          </a:prstGeom>
          <a:noFill/>
          <a:ln/>
        </p:spPr>
        <p:txBody>
          <a:bodyPr wrap="square" lIns="0" tIns="0" rIns="0" bIns="0" rtlCol="0" anchor="ctr"/>
          <a:lstStyle/>
          <a:p>
            <a:pPr indent="0" marL="0">
              <a:buNone/>
            </a:pPr>
            <a:r>
              <a:rPr lang="en-US" sz="1800" dirty="0">
                <a:solidFill>
                  <a:srgbClr val="1B2A38"/>
                </a:solidFill>
              </a:rPr>
              <a:t>engines to train</a:t>
            </a:r>
            <a:endParaRPr lang="en-US" sz="1800" dirty="0"/>
          </a:p>
        </p:txBody>
      </p:sp>
      <p:sp>
        <p:nvSpPr>
          <p:cNvPr id="23" name="val label"/>
          <p:cNvSpPr txBox="1"/>
          <p:nvPr/>
        </p:nvSpPr>
        <p:spPr>
          <a:xfrm>
            <a:off x="14401800" y="4800600"/>
            <a:ext cx="2743200" cy="365760"/>
          </a:xfrm>
          <a:prstGeom prst="rect">
            <a:avLst/>
          </a:prstGeom>
          <a:noFill/>
          <a:ln/>
        </p:spPr>
        <p:txBody>
          <a:bodyPr wrap="square" lIns="0" tIns="0" rIns="0" bIns="0" rtlCol="0" anchor="ctr"/>
          <a:lstStyle/>
          <a:p>
            <a:pPr algn="r" indent="0" marL="0">
              <a:buNone/>
            </a:pPr>
            <a:r>
              <a:rPr lang="en-US" sz="1800" dirty="0">
                <a:solidFill>
                  <a:srgbClr val="1B2A38"/>
                </a:solidFill>
              </a:rPr>
              <a:t>engines to validate</a:t>
            </a:r>
            <a:endParaRPr lang="en-US" sz="1800" dirty="0"/>
          </a:p>
        </p:txBody>
      </p:sp>
      <p:sp>
        <p:nvSpPr>
          <p:cNvPr id="24" name="split train"/>
          <p:cNvSpPr/>
          <p:nvPr/>
        </p:nvSpPr>
        <p:spPr>
          <a:xfrm>
            <a:off x="11201400" y="5303520"/>
            <a:ext cx="4754880" cy="475488"/>
          </a:xfrm>
          <a:prstGeom prst="rect">
            <a:avLst/>
          </a:prstGeom>
          <a:solidFill>
            <a:srgbClr val="0E8F9B"/>
          </a:solidFill>
          <a:ln w="12700">
            <a:solidFill>
              <a:srgbClr val="0E8F9B"/>
            </a:solidFill>
            <a:prstDash val="solid"/>
          </a:ln>
        </p:spPr>
      </p:sp>
      <p:sp>
        <p:nvSpPr>
          <p:cNvPr id="25" name="split val"/>
          <p:cNvSpPr/>
          <p:nvPr/>
        </p:nvSpPr>
        <p:spPr>
          <a:xfrm>
            <a:off x="15956280" y="5303520"/>
            <a:ext cx="1188720" cy="475488"/>
          </a:xfrm>
          <a:prstGeom prst="rect">
            <a:avLst/>
          </a:prstGeom>
          <a:solidFill>
            <a:srgbClr val="F2A541"/>
          </a:solidFill>
          <a:ln w="12700">
            <a:solidFill>
              <a:srgbClr val="F2A541"/>
            </a:solidFill>
            <a:prstDash val="solid"/>
          </a:ln>
        </p:spPr>
      </p:sp>
      <p:sp>
        <p:nvSpPr>
          <p:cNvPr id="26" name="tuning note"/>
          <p:cNvSpPr txBox="1"/>
          <p:nvPr/>
        </p:nvSpPr>
        <p:spPr>
          <a:xfrm>
            <a:off x="11201400" y="5943600"/>
            <a:ext cx="6035040" cy="411480"/>
          </a:xfrm>
          <a:prstGeom prst="rect">
            <a:avLst/>
          </a:prstGeom>
          <a:noFill/>
          <a:ln/>
        </p:spPr>
        <p:txBody>
          <a:bodyPr wrap="square" lIns="0" tIns="0" rIns="0" bIns="0" rtlCol="0" anchor="ctr"/>
          <a:lstStyle/>
          <a:p>
            <a:pPr indent="0" marL="0">
              <a:buNone/>
            </a:pPr>
            <a:r>
              <a:rPr lang="en-US" sz="2000" b="1" dirty="0">
                <a:solidFill>
                  <a:srgbClr val="1B2A38"/>
                </a:solidFill>
              </a:rPr>
              <a:t>3-fold GroupKFold tuning  ·  100 official test engines</a:t>
            </a:r>
            <a:endParaRPr lang="en-US" sz="2000" dirty="0"/>
          </a:p>
        </p:txBody>
      </p:sp>
      <p:sp>
        <p:nvSpPr>
          <p:cNvPr id="27" name="metrics"/>
          <p:cNvSpPr txBox="1"/>
          <p:nvPr/>
        </p:nvSpPr>
        <p:spPr>
          <a:xfrm>
            <a:off x="11201400" y="6492240"/>
            <a:ext cx="6035040" cy="1143000"/>
          </a:xfrm>
          <a:prstGeom prst="rect">
            <a:avLst/>
          </a:prstGeom>
          <a:noFill/>
          <a:ln/>
        </p:spPr>
        <p:txBody>
          <a:bodyPr wrap="square" lIns="0" tIns="0" rIns="0" bIns="0" rtlCol="0" anchor="t"/>
          <a:lstStyle/>
          <a:p>
            <a:pPr indent="0" marL="0">
              <a:spcAft>
                <a:spcPts val="400"/>
              </a:spcAft>
              <a:buNone/>
            </a:pPr>
            <a:r>
              <a:rPr lang="en-US" sz="1800" b="1" dirty="0">
                <a:solidFill>
                  <a:srgbClr val="0E8F9B"/>
                </a:solidFill>
              </a:rPr>
              <a:t>RMSE</a:t>
            </a:r>
            <a:pPr indent="0" marL="0">
              <a:spcAft>
                <a:spcPts val="400"/>
              </a:spcAft>
              <a:buNone/>
            </a:pPr>
            <a:r>
              <a:rPr lang="en-US" sz="1800" dirty="0">
                <a:solidFill>
                  <a:srgbClr val="1B2A38"/>
                </a:solidFill>
              </a:rPr>
              <a:t> = √ mean (actual − predicted)²</a:t>
            </a:r>
            <a:endParaRPr lang="en-US" sz="1800" dirty="0"/>
          </a:p>
          <a:p>
            <a:pPr indent="0" marL="0">
              <a:spcAft>
                <a:spcPts val="400"/>
              </a:spcAft>
              <a:buNone/>
            </a:pPr>
            <a:r>
              <a:rPr lang="en-US" sz="1800" b="1" dirty="0">
                <a:solidFill>
                  <a:srgbClr val="0E8F9B"/>
                </a:solidFill>
              </a:rPr>
              <a:t>MAE</a:t>
            </a:r>
            <a:pPr indent="0" marL="0">
              <a:spcAft>
                <a:spcPts val="400"/>
              </a:spcAft>
              <a:buNone/>
            </a:pPr>
            <a:r>
              <a:rPr lang="en-US" sz="1800" dirty="0">
                <a:solidFill>
                  <a:srgbClr val="1B2A38"/>
                </a:solidFill>
              </a:rPr>
              <a:t> = mean |actual − predicted|</a:t>
            </a:r>
            <a:endParaRPr lang="en-US" sz="1800" dirty="0"/>
          </a:p>
          <a:p>
            <a:pPr indent="0" marL="0">
              <a:spcAft>
                <a:spcPts val="400"/>
              </a:spcAft>
              <a:buNone/>
            </a:pPr>
            <a:r>
              <a:rPr lang="en-US" sz="1800" b="1" dirty="0">
                <a:solidFill>
                  <a:srgbClr val="0E8F9B"/>
                </a:solidFill>
              </a:rPr>
              <a:t>R²</a:t>
            </a:r>
            <a:pPr indent="0" marL="0">
              <a:spcAft>
                <a:spcPts val="400"/>
              </a:spcAft>
              <a:buNone/>
            </a:pPr>
            <a:r>
              <a:rPr lang="en-US" sz="1800" dirty="0">
                <a:solidFill>
                  <a:srgbClr val="1B2A38"/>
                </a:solidFill>
              </a:rPr>
              <a:t> = share of RUL variation explained</a:t>
            </a:r>
            <a:endParaRPr lang="en-US" sz="1800" dirty="0"/>
          </a:p>
        </p:txBody>
      </p:sp>
      <p:sp>
        <p:nvSpPr>
          <p:cNvPr id="28" name="metrics note"/>
          <p:cNvSpPr txBox="1"/>
          <p:nvPr/>
        </p:nvSpPr>
        <p:spPr>
          <a:xfrm>
            <a:off x="11201400" y="7699248"/>
            <a:ext cx="6035040" cy="365760"/>
          </a:xfrm>
          <a:prstGeom prst="rect">
            <a:avLst/>
          </a:prstGeom>
          <a:noFill/>
          <a:ln/>
        </p:spPr>
        <p:txBody>
          <a:bodyPr wrap="square" lIns="0" tIns="0" rIns="0" bIns="0" rtlCol="0" anchor="ctr"/>
          <a:lstStyle/>
          <a:p>
            <a:pPr indent="0" marL="0">
              <a:buNone/>
            </a:pPr>
            <a:r>
              <a:rPr lang="en-US" sz="1600" i="1" dirty="0">
                <a:solidFill>
                  <a:srgbClr val="5B7083"/>
                </a:solidFill>
              </a:rPr>
              <a:t>Errors are in cycles; RMSE penalises large errors more.</a:t>
            </a:r>
            <a:endParaRPr lang="en-US" sz="1600" dirty="0"/>
          </a:p>
        </p:txBody>
      </p:sp>
      <p:sp>
        <p:nvSpPr>
          <p:cNvPr id="29" name="takeaway bar"/>
          <p:cNvSpPr/>
          <p:nvPr/>
        </p:nvSpPr>
        <p:spPr>
          <a:xfrm>
            <a:off x="822960" y="8439912"/>
            <a:ext cx="16642080" cy="941832"/>
          </a:xfrm>
          <a:prstGeom prst="roundRect">
            <a:avLst>
              <a:gd name="adj" fmla="val 7767"/>
            </a:avLst>
          </a:prstGeom>
          <a:solidFill>
            <a:srgbClr val="0B2239"/>
          </a:solidFill>
          <a:ln w="12700">
            <a:solidFill>
              <a:srgbClr val="0B2239"/>
            </a:solidFill>
            <a:prstDash val="solid"/>
          </a:ln>
        </p:spPr>
      </p:sp>
      <p:sp>
        <p:nvSpPr>
          <p:cNvPr id="30" name="takeaway text"/>
          <p:cNvSpPr txBox="1"/>
          <p:nvPr/>
        </p:nvSpPr>
        <p:spPr>
          <a:xfrm>
            <a:off x="1188720" y="8439912"/>
            <a:ext cx="15910560" cy="941832"/>
          </a:xfrm>
          <a:prstGeom prst="rect">
            <a:avLst/>
          </a:prstGeom>
          <a:noFill/>
          <a:ln/>
        </p:spPr>
        <p:txBody>
          <a:bodyPr wrap="square" lIns="0" tIns="0" rIns="0" bIns="0" rtlCol="0" anchor="ctr"/>
          <a:lstStyle/>
          <a:p>
            <a:pPr indent="0" marL="0">
              <a:buNone/>
            </a:pPr>
            <a:r>
              <a:rPr lang="en-US" sz="2100" dirty="0">
                <a:solidFill>
                  <a:srgbClr val="FFFFFF"/>
                </a:solidFill>
              </a:rPr>
              <a:t>Splitting by engine (never by row) keeps each engine out of both training and validation; settings are tuned on the 80 training engines only, and the test set is used once at the end.</a:t>
            </a:r>
            <a:endParaRPr lang="en-US" sz="2100" dirty="0"/>
          </a:p>
        </p:txBody>
      </p:sp>
      <p:sp>
        <p:nvSpPr>
          <p:cNvPr id="25" name="Slide Number Placeholder 0"/>
          <p:cNvSpPr>
            <a:spLocks noGrp="1"/>
          </p:cNvSpPr>
          <p:nvPr>
            <p:ph type="sldNum" sz="quarter" idx="4294967295"/>
          </p:nvPr>
        </p:nvSpPr>
        <p:spPr>
          <a:xfrm>
            <a:off x="16733520" y="9601200"/>
            <a:ext cx="731520" cy="365760"/>
          </a:xfrm>
          <a:prstGeom prst="rect">
            <a:avLst/>
          </a:prstGeom>
          <a:extLst>
            <a:ext uri="{C572A759-6A51-4108-AA02-DFA0A04FC94B}">
              <ma14:wrappingTextBoxFlag xmlns:ma14="http://schemas.microsoft.com/office/mac/drawingml/2011/main" val="0"/>
            </a:ext>
          </a:extLst>
        </p:spPr>
        <p:txBody>
          <a:bodyPr/>
          <a:lstStyle>
            <a:lvl1pPr>
              <a:defRPr sz="1500">
                <a:solidFill>
                  <a:srgbClr val="5B708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365760"/>
            <a:ext cx="16642080" cy="868680"/>
          </a:xfrm>
          <a:prstGeom prst="rect">
            <a:avLst/>
          </a:prstGeom>
          <a:noFill/>
          <a:ln/>
        </p:spPr>
        <p:txBody>
          <a:bodyPr wrap="square" lIns="0" tIns="0" rIns="0" bIns="0" rtlCol="0" anchor="ctr"/>
          <a:lstStyle/>
          <a:p>
            <a:pPr algn="l" indent="0" marL="0">
              <a:buNone/>
            </a:pPr>
            <a:r>
              <a:rPr lang="en-US" sz="4000" b="1" dirty="0">
                <a:solidFill>
                  <a:srgbClr val="0B2239"/>
                </a:solidFill>
                <a:latin typeface="Cambria" pitchFamily="34" charset="0"/>
                <a:ea typeface="Cambria" pitchFamily="34" charset="-122"/>
                <a:cs typeface="Cambria" pitchFamily="34" charset="-120"/>
              </a:rPr>
              <a:t>Results: Random Forest gives the lowest error</a:t>
            </a:r>
            <a:endParaRPr lang="en-US" sz="4000" dirty="0"/>
          </a:p>
        </p:txBody>
      </p:sp>
      <p:sp>
        <p:nvSpPr>
          <p:cNvPr id="3" name="Text 0"/>
          <p:cNvSpPr/>
          <p:nvPr>
            <p:ph idx="101" type="body" hasCustomPrompt="1"/>
          </p:nvPr>
        </p:nvSpPr>
        <p:spPr>
          <a:xfrm>
            <a:off x="822960" y="1234440"/>
            <a:ext cx="16642080" cy="502920"/>
          </a:xfrm>
          <a:prstGeom prst="rect">
            <a:avLst/>
          </a:prstGeom>
          <a:noFill/>
          <a:ln/>
        </p:spPr>
        <p:txBody>
          <a:bodyPr wrap="square" lIns="0" tIns="0" rIns="0" bIns="0" rtlCol="0" anchor="ctr"/>
          <a:lstStyle/>
          <a:p>
            <a:pPr indent="0" marL="0">
              <a:buNone/>
            </a:pPr>
            <a:r>
              <a:rPr lang="en-US" sz="2200" dirty="0">
                <a:solidFill>
                  <a:srgbClr val="5B7083"/>
                </a:solidFill>
              </a:rPr>
              <a:t>Scores on the 100 official NASA test engines, in operating cycles; lower is better.</a:t>
            </a:r>
            <a:endParaRPr lang="en-US" sz="2200" dirty="0"/>
          </a:p>
        </p:txBody>
      </p:sp>
      <p:sp>
        <p:nvSpPr>
          <p:cNvPr id="4" name="results chart frame"/>
          <p:cNvSpPr/>
          <p:nvPr/>
        </p:nvSpPr>
        <p:spPr>
          <a:xfrm>
            <a:off x="822960" y="2057400"/>
            <a:ext cx="9601200" cy="6172200"/>
          </a:xfrm>
          <a:prstGeom prst="roundRect">
            <a:avLst>
              <a:gd name="adj" fmla="val 1185"/>
            </a:avLst>
          </a:prstGeom>
          <a:solidFill>
            <a:srgbClr val="FFFFFF"/>
          </a:solidFill>
          <a:ln w="15875">
            <a:solidFill>
              <a:srgbClr val="C9D3DC"/>
            </a:solidFill>
            <a:prstDash val="solid"/>
          </a:ln>
        </p:spPr>
      </p:sp>
      <p:graphicFrame>
        <p:nvGraphicFramePr>
          <p:cNvPr id="5" name="test results chart" descr=""/>
          <p:cNvGraphicFramePr/>
          <p:nvPr/>
        </p:nvGraphicFramePr>
        <p:xfrm>
          <a:off x="914400" y="2194560"/>
          <a:ext cx="9418320" cy="5394960"/>
        </p:xfrm>
        <a:graphic xmlns:a="http://schemas.openxmlformats.org/drawingml/2006/main">
          <a:graphicData uri="http://schemas.openxmlformats.org/drawingml/2006/chart">
            <c:chart xmlns:c="http://schemas.openxmlformats.org/drawingml/2006/chart" r:id="rId1"/>
          </a:graphicData>
        </a:graphic>
      </p:graphicFrame>
      <p:sp>
        <p:nvSpPr>
          <p:cNvPr id="6" name="caption fig 6"/>
          <p:cNvSpPr txBox="1"/>
          <p:nvPr/>
        </p:nvSpPr>
        <p:spPr>
          <a:xfrm>
            <a:off x="1005840" y="7680960"/>
            <a:ext cx="9144000" cy="457200"/>
          </a:xfrm>
          <a:prstGeom prst="rect">
            <a:avLst/>
          </a:prstGeom>
          <a:noFill/>
          <a:ln/>
        </p:spPr>
        <p:txBody>
          <a:bodyPr wrap="square" lIns="0" tIns="0" rIns="0" bIns="0" rtlCol="0" anchor="t"/>
          <a:lstStyle/>
          <a:p>
            <a:pPr indent="0" marL="0">
              <a:buNone/>
            </a:pPr>
            <a:r>
              <a:rPr lang="en-US" sz="1600" b="1" dirty="0">
                <a:solidFill>
                  <a:srgbClr val="0E8F9B"/>
                </a:solidFill>
              </a:rPr>
              <a:t>Fig. 6  </a:t>
            </a:r>
            <a:pPr indent="0" marL="0">
              <a:buNone/>
            </a:pPr>
            <a:r>
              <a:rPr lang="en-US" sz="1600" i="1" dirty="0">
                <a:solidFill>
                  <a:srgbClr val="5B7083"/>
                </a:solidFill>
              </a:rPr>
              <a:t>Test MAE and RMSE for the four models (100 official engines).</a:t>
            </a:r>
            <a:endParaRPr lang="en-US" sz="1600" dirty="0"/>
          </a:p>
        </p:txBody>
      </p:sp>
      <p:sp>
        <p:nvSpPr>
          <p:cNvPr id="7" name="kicker SCORECARD"/>
          <p:cNvSpPr txBox="1"/>
          <p:nvPr/>
        </p:nvSpPr>
        <p:spPr>
          <a:xfrm>
            <a:off x="10835640" y="2057400"/>
            <a:ext cx="5486400" cy="365760"/>
          </a:xfrm>
          <a:prstGeom prst="rect">
            <a:avLst/>
          </a:prstGeom>
          <a:noFill/>
          <a:ln/>
        </p:spPr>
        <p:txBody>
          <a:bodyPr wrap="square" lIns="0" tIns="0" rIns="0" bIns="0" rtlCol="0" anchor="ctr"/>
          <a:lstStyle/>
          <a:p>
            <a:pPr indent="0" marL="0">
              <a:buNone/>
            </a:pPr>
            <a:r>
              <a:rPr lang="en-US" sz="1800" b="1" spc="400" kern="0" dirty="0">
                <a:solidFill>
                  <a:srgbClr val="0E8F9B"/>
                </a:solidFill>
              </a:rPr>
              <a:t>SCORECARD</a:t>
            </a:r>
            <a:endParaRPr lang="en-US" sz="1800" dirty="0"/>
          </a:p>
        </p:txBody>
      </p:sp>
      <p:graphicFrame>
        <p:nvGraphicFramePr>
          <p:cNvPr id="6" name="scorecard"/>
          <p:cNvGraphicFramePr>
            <a:graphicFrameLocks noGrp="1"/>
          </p:cNvGraphicFramePr>
          <p:nvPr>
            <p:extLst>
              <p:ext uri="{D42A27DB-BD31-4B8C-83A1-F6EECF244321}">
                <p14:modId xmlns:p14="http://schemas.microsoft.com/office/powerpoint/2010/main" val="1579011935"/>
              </p:ext>
            </p:extLst>
          </p:nvPr>
        </p:nvGraphicFramePr>
        <p:xfrm>
          <a:off x="10835640" y="2532888"/>
          <a:ext cx="6611112" cy="914400"/>
        </p:xfrm>
        <a:graphic>
          <a:graphicData uri="http://schemas.openxmlformats.org/drawingml/2006/table">
            <a:tbl>
              <a:tblPr/>
              <a:tblGrid>
                <a:gridCol w="2331720"/>
                <a:gridCol w="1069848"/>
                <a:gridCol w="1069848"/>
                <a:gridCol w="1115568"/>
                <a:gridCol w="1024128"/>
              </a:tblGrid>
              <a:tr h="566928">
                <a:tc>
                  <a:txBody>
                    <a:bodyPr/>
                    <a:lstStyle/>
                    <a:p>
                      <a:pPr algn="l" indent="0" marL="0">
                        <a:buNone/>
                      </a:pPr>
                      <a:r>
                        <a:rPr lang="en-US" sz="1800" b="1" dirty="0">
                          <a:solidFill>
                            <a:srgbClr val="FFFFFF"/>
                          </a:solidFill>
                        </a:rPr>
                        <a:t>MODEL</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2239"/>
                    </a:solidFill>
                  </a:tcPr>
                </a:tc>
                <a:tc>
                  <a:txBody>
                    <a:bodyPr/>
                    <a:lstStyle/>
                    <a:p>
                      <a:pPr algn="r" indent="0" marL="0">
                        <a:buNone/>
                      </a:pPr>
                      <a:r>
                        <a:rPr lang="en-US" sz="1800" b="1" dirty="0">
                          <a:solidFill>
                            <a:srgbClr val="FFFFFF"/>
                          </a:solidFill>
                        </a:rPr>
                        <a:t>VAL RMSE</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2239"/>
                    </a:solidFill>
                  </a:tcPr>
                </a:tc>
                <a:tc>
                  <a:txBody>
                    <a:bodyPr/>
                    <a:lstStyle/>
                    <a:p>
                      <a:pPr algn="r" indent="0" marL="0">
                        <a:buNone/>
                      </a:pPr>
                      <a:r>
                        <a:rPr lang="en-US" sz="1800" b="1" dirty="0">
                          <a:solidFill>
                            <a:srgbClr val="FFFFFF"/>
                          </a:solidFill>
                        </a:rPr>
                        <a:t>TEST MAE</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2239"/>
                    </a:solidFill>
                  </a:tcPr>
                </a:tc>
                <a:tc>
                  <a:txBody>
                    <a:bodyPr/>
                    <a:lstStyle/>
                    <a:p>
                      <a:pPr algn="r" indent="0" marL="0">
                        <a:buNone/>
                      </a:pPr>
                      <a:r>
                        <a:rPr lang="en-US" sz="1800" b="1" dirty="0">
                          <a:solidFill>
                            <a:srgbClr val="FFFFFF"/>
                          </a:solidFill>
                        </a:rPr>
                        <a:t>TEST RMSE</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2239"/>
                    </a:solidFill>
                  </a:tcPr>
                </a:tc>
                <a:tc>
                  <a:txBody>
                    <a:bodyPr/>
                    <a:lstStyle/>
                    <a:p>
                      <a:pPr algn="r" indent="0" marL="0">
                        <a:buNone/>
                      </a:pPr>
                      <a:r>
                        <a:rPr lang="en-US" sz="1800" b="1" dirty="0">
                          <a:solidFill>
                            <a:srgbClr val="FFFFFF"/>
                          </a:solidFill>
                        </a:rPr>
                        <a:t>TEST R²</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2239"/>
                    </a:solidFill>
                  </a:tcPr>
                </a:tc>
              </a:tr>
              <a:tr h="566928">
                <a:tc>
                  <a:txBody>
                    <a:bodyPr/>
                    <a:lstStyle/>
                    <a:p>
                      <a:pPr indent="0" marL="0">
                        <a:buNone/>
                      </a:pPr>
                      <a:r>
                        <a:rPr lang="en-US" sz="1800" dirty="0">
                          <a:solidFill>
                            <a:srgbClr val="1B2A38"/>
                          </a:solidFill>
                        </a:rPr>
                        <a:t>Baseline</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r" indent="0" marL="0">
                        <a:buNone/>
                      </a:pPr>
                      <a:r>
                        <a:rPr lang="en-US" sz="1800" dirty="0">
                          <a:solidFill>
                            <a:srgbClr val="1B2A38"/>
                          </a:solidFill>
                        </a:rPr>
                        <a:t>41.72</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r" indent="0" marL="0">
                        <a:buNone/>
                      </a:pPr>
                      <a:r>
                        <a:rPr lang="en-US" sz="1800" dirty="0">
                          <a:solidFill>
                            <a:srgbClr val="1B2A38"/>
                          </a:solidFill>
                        </a:rPr>
                        <a:t>34.83</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r" indent="0" marL="0">
                        <a:buNone/>
                      </a:pPr>
                      <a:r>
                        <a:rPr lang="en-US" sz="1800" dirty="0">
                          <a:solidFill>
                            <a:srgbClr val="1B2A38"/>
                          </a:solidFill>
                        </a:rPr>
                        <a:t>41.94</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r" indent="0" marL="0">
                        <a:buNone/>
                      </a:pPr>
                      <a:r>
                        <a:rPr lang="en-US" sz="1800" dirty="0">
                          <a:solidFill>
                            <a:srgbClr val="1B2A38"/>
                          </a:solidFill>
                        </a:rPr>
                        <a:t>-0.10</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566928">
                <a:tc>
                  <a:txBody>
                    <a:bodyPr/>
                    <a:lstStyle/>
                    <a:p>
                      <a:pPr indent="0" marL="0">
                        <a:buNone/>
                      </a:pPr>
                      <a:r>
                        <a:rPr lang="en-US" sz="1800" dirty="0">
                          <a:solidFill>
                            <a:srgbClr val="1B2A38"/>
                          </a:solidFill>
                        </a:rPr>
                        <a:t>Linear Regression</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r" indent="0" marL="0">
                        <a:buNone/>
                      </a:pPr>
                      <a:r>
                        <a:rPr lang="en-US" sz="1800" dirty="0">
                          <a:solidFill>
                            <a:srgbClr val="1B2A38"/>
                          </a:solidFill>
                        </a:rPr>
                        <a:t>15.29</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r" indent="0" marL="0">
                        <a:buNone/>
                      </a:pPr>
                      <a:r>
                        <a:rPr lang="en-US" sz="1800" dirty="0">
                          <a:solidFill>
                            <a:srgbClr val="1B2A38"/>
                          </a:solidFill>
                        </a:rPr>
                        <a:t>12.84</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r" indent="0" marL="0">
                        <a:buNone/>
                      </a:pPr>
                      <a:r>
                        <a:rPr lang="en-US" sz="1800" dirty="0">
                          <a:solidFill>
                            <a:srgbClr val="1B2A38"/>
                          </a:solidFill>
                        </a:rPr>
                        <a:t>15.85</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r" indent="0" marL="0">
                        <a:buNone/>
                      </a:pPr>
                      <a:r>
                        <a:rPr lang="en-US" sz="1800" dirty="0">
                          <a:solidFill>
                            <a:srgbClr val="1B2A38"/>
                          </a:solidFill>
                        </a:rPr>
                        <a:t>0.84</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566928">
                <a:tc>
                  <a:txBody>
                    <a:bodyPr/>
                    <a:lstStyle/>
                    <a:p>
                      <a:pPr indent="0" marL="0">
                        <a:buNone/>
                      </a:pPr>
                      <a:r>
                        <a:rPr lang="en-US" sz="1800" dirty="0">
                          <a:solidFill>
                            <a:srgbClr val="1B2A38"/>
                          </a:solidFill>
                        </a:rPr>
                        <a:t>Decision Tree</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r" indent="0" marL="0">
                        <a:buNone/>
                      </a:pPr>
                      <a:r>
                        <a:rPr lang="en-US" sz="1800" dirty="0">
                          <a:solidFill>
                            <a:srgbClr val="1B2A38"/>
                          </a:solidFill>
                        </a:rPr>
                        <a:t>14.13</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r" indent="0" marL="0">
                        <a:buNone/>
                      </a:pPr>
                      <a:r>
                        <a:rPr lang="en-US" sz="1800" dirty="0">
                          <a:solidFill>
                            <a:srgbClr val="1B2A38"/>
                          </a:solidFill>
                        </a:rPr>
                        <a:t>10.80</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r" indent="0" marL="0">
                        <a:buNone/>
                      </a:pPr>
                      <a:r>
                        <a:rPr lang="en-US" sz="1800" dirty="0">
                          <a:solidFill>
                            <a:srgbClr val="1B2A38"/>
                          </a:solidFill>
                        </a:rPr>
                        <a:t>14.96</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algn="r" indent="0" marL="0">
                        <a:buNone/>
                      </a:pPr>
                      <a:r>
                        <a:rPr lang="en-US" sz="1800" dirty="0">
                          <a:solidFill>
                            <a:srgbClr val="1B2A38"/>
                          </a:solidFill>
                        </a:rPr>
                        <a:t>0.86</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566928">
                <a:tc>
                  <a:txBody>
                    <a:bodyPr/>
                    <a:lstStyle/>
                    <a:p>
                      <a:pPr indent="0" marL="0">
                        <a:buNone/>
                      </a:pPr>
                      <a:r>
                        <a:rPr lang="en-US" sz="1800" b="1" dirty="0">
                          <a:solidFill>
                            <a:srgbClr val="1B2A38"/>
                          </a:solidFill>
                        </a:rPr>
                        <a:t>Random Forest</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D6ECEF"/>
                    </a:solidFill>
                  </a:tcPr>
                </a:tc>
                <a:tc>
                  <a:txBody>
                    <a:bodyPr/>
                    <a:lstStyle/>
                    <a:p>
                      <a:pPr algn="r" indent="0" marL="0">
                        <a:buNone/>
                      </a:pPr>
                      <a:r>
                        <a:rPr lang="en-US" sz="1800" b="1" dirty="0">
                          <a:solidFill>
                            <a:srgbClr val="1B2A38"/>
                          </a:solidFill>
                        </a:rPr>
                        <a:t>10.34</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D6ECEF"/>
                    </a:solidFill>
                  </a:tcPr>
                </a:tc>
                <a:tc>
                  <a:txBody>
                    <a:bodyPr/>
                    <a:lstStyle/>
                    <a:p>
                      <a:pPr algn="r" indent="0" marL="0">
                        <a:buNone/>
                      </a:pPr>
                      <a:r>
                        <a:rPr lang="en-US" sz="1800" b="1" dirty="0">
                          <a:solidFill>
                            <a:srgbClr val="1B2A38"/>
                          </a:solidFill>
                        </a:rPr>
                        <a:t>8.27</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D6ECEF"/>
                    </a:solidFill>
                  </a:tcPr>
                </a:tc>
                <a:tc>
                  <a:txBody>
                    <a:bodyPr/>
                    <a:lstStyle/>
                    <a:p>
                      <a:pPr algn="r" indent="0" marL="0">
                        <a:buNone/>
                      </a:pPr>
                      <a:r>
                        <a:rPr lang="en-US" sz="1800" b="1" dirty="0">
                          <a:solidFill>
                            <a:srgbClr val="1B2A38"/>
                          </a:solidFill>
                        </a:rPr>
                        <a:t>11.44</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D6ECEF"/>
                    </a:solidFill>
                  </a:tcPr>
                </a:tc>
                <a:tc>
                  <a:txBody>
                    <a:bodyPr/>
                    <a:lstStyle/>
                    <a:p>
                      <a:pPr algn="r" indent="0" marL="0">
                        <a:buNone/>
                      </a:pPr>
                      <a:r>
                        <a:rPr lang="en-US" sz="1800" b="1" dirty="0">
                          <a:solidFill>
                            <a:srgbClr val="1B2A38"/>
                          </a:solidFill>
                        </a:rPr>
                        <a:t>0.92</a:t>
                      </a:r>
                      <a:endParaRPr lang="en-US" sz="1800" dirty="0"/>
                    </a:p>
                  </a:txBody>
                  <a:tcPr marL="109728" marR="109728"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D6ECEF"/>
                    </a:solidFill>
                  </a:tcPr>
                </a:tc>
              </a:tr>
            </a:tbl>
          </a:graphicData>
        </a:graphic>
      </p:graphicFrame>
      <p:sp>
        <p:nvSpPr>
          <p:cNvPr id="9" name="interpretation panel"/>
          <p:cNvSpPr/>
          <p:nvPr/>
        </p:nvSpPr>
        <p:spPr>
          <a:xfrm>
            <a:off x="10835640" y="5696712"/>
            <a:ext cx="6611112" cy="2532888"/>
          </a:xfrm>
          <a:prstGeom prst="roundRect">
            <a:avLst>
              <a:gd name="adj" fmla="val 2888"/>
            </a:avLst>
          </a:prstGeom>
          <a:solidFill>
            <a:srgbClr val="ECF1F5"/>
          </a:solidFill>
          <a:ln w="12700">
            <a:solidFill>
              <a:srgbClr val="ECF1F5"/>
            </a:solidFill>
            <a:prstDash val="solid"/>
          </a:ln>
        </p:spPr>
      </p:sp>
      <p:sp>
        <p:nvSpPr>
          <p:cNvPr id="10" name="kicker INTERPRETATION"/>
          <p:cNvSpPr txBox="1"/>
          <p:nvPr/>
        </p:nvSpPr>
        <p:spPr>
          <a:xfrm>
            <a:off x="11155680" y="5897880"/>
            <a:ext cx="5486400" cy="365760"/>
          </a:xfrm>
          <a:prstGeom prst="rect">
            <a:avLst/>
          </a:prstGeom>
          <a:noFill/>
          <a:ln/>
        </p:spPr>
        <p:txBody>
          <a:bodyPr wrap="square" lIns="0" tIns="0" rIns="0" bIns="0" rtlCol="0" anchor="ctr"/>
          <a:lstStyle/>
          <a:p>
            <a:pPr indent="0" marL="0">
              <a:buNone/>
            </a:pPr>
            <a:r>
              <a:rPr lang="en-US" sz="1800" b="1" spc="400" kern="0" dirty="0">
                <a:solidFill>
                  <a:srgbClr val="0E8F9B"/>
                </a:solidFill>
              </a:rPr>
              <a:t>INTERPRETATION</a:t>
            </a:r>
            <a:endParaRPr lang="en-US" sz="1800" dirty="0"/>
          </a:p>
        </p:txBody>
      </p:sp>
      <p:sp>
        <p:nvSpPr>
          <p:cNvPr id="11" name="interpretation bullets"/>
          <p:cNvSpPr txBox="1"/>
          <p:nvPr/>
        </p:nvSpPr>
        <p:spPr>
          <a:xfrm>
            <a:off x="11247120" y="6355080"/>
            <a:ext cx="6035040" cy="182880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1B2A38"/>
                </a:solidFill>
              </a:rPr>
              <a:t>Random Forest: lowest test RMSE (11.44), about 28% below Linear Regression.</a:t>
            </a:r>
            <a:endParaRPr lang="en-US" sz="1800" dirty="0"/>
          </a:p>
          <a:p>
            <a:pPr marL="228600" indent="-228600">
              <a:spcAft>
                <a:spcPts val="600"/>
              </a:spcAft>
              <a:buSzPct val="100000"/>
              <a:buChar char="•"/>
            </a:pPr>
            <a:r>
              <a:rPr lang="en-US" sz="1800" dirty="0">
                <a:solidFill>
                  <a:srgbClr val="1B2A38"/>
                </a:solidFill>
              </a:rPr>
              <a:t>All three models beat the baseline (RMSE 41.94) by about 3 to 4 times.</a:t>
            </a:r>
            <a:endParaRPr lang="en-US" sz="1800" dirty="0"/>
          </a:p>
          <a:p>
            <a:pPr marL="228600" indent="-228600">
              <a:spcAft>
                <a:spcPts val="600"/>
              </a:spcAft>
              <a:buSzPct val="100000"/>
              <a:buChar char="•"/>
            </a:pPr>
            <a:r>
              <a:rPr lang="en-US" sz="1800" dirty="0">
                <a:solidFill>
                  <a:srgbClr val="1B2A38"/>
                </a:solidFill>
              </a:rPr>
              <a:t>68 of 100 test engines predicted within 10 cycles; 89 within 20.</a:t>
            </a:r>
            <a:endParaRPr lang="en-US" sz="1800" dirty="0"/>
          </a:p>
        </p:txBody>
      </p:sp>
      <p:sp>
        <p:nvSpPr>
          <p:cNvPr id="12" name="takeaway bar"/>
          <p:cNvSpPr/>
          <p:nvPr/>
        </p:nvSpPr>
        <p:spPr>
          <a:xfrm>
            <a:off x="822960" y="8439912"/>
            <a:ext cx="16642080" cy="941832"/>
          </a:xfrm>
          <a:prstGeom prst="roundRect">
            <a:avLst>
              <a:gd name="adj" fmla="val 7767"/>
            </a:avLst>
          </a:prstGeom>
          <a:solidFill>
            <a:srgbClr val="0B2239"/>
          </a:solidFill>
          <a:ln w="12700">
            <a:solidFill>
              <a:srgbClr val="0B2239"/>
            </a:solidFill>
            <a:prstDash val="solid"/>
          </a:ln>
        </p:spPr>
      </p:sp>
      <p:sp>
        <p:nvSpPr>
          <p:cNvPr id="13" name="takeaway text"/>
          <p:cNvSpPr txBox="1"/>
          <p:nvPr/>
        </p:nvSpPr>
        <p:spPr>
          <a:xfrm>
            <a:off x="1188720" y="8439912"/>
            <a:ext cx="15910560" cy="941832"/>
          </a:xfrm>
          <a:prstGeom prst="rect">
            <a:avLst/>
          </a:prstGeom>
          <a:noFill/>
          <a:ln/>
        </p:spPr>
        <p:txBody>
          <a:bodyPr wrap="square" lIns="0" tIns="0" rIns="0" bIns="0" rtlCol="0" anchor="ctr"/>
          <a:lstStyle/>
          <a:p>
            <a:pPr indent="0" marL="0">
              <a:buNone/>
            </a:pPr>
            <a:r>
              <a:rPr lang="en-US" sz="2100" dirty="0">
                <a:solidFill>
                  <a:srgbClr val="FFFFFF"/>
                </a:solidFill>
              </a:rPr>
              <a:t>Validation and test errors are close for every model (Random Forest RMSE 10.34 vs 11.44), so the engine-based validation was a trustworthy guide to real performance.</a:t>
            </a:r>
            <a:endParaRPr lang="en-US" sz="2100" dirty="0"/>
          </a:p>
        </p:txBody>
      </p:sp>
      <p:sp>
        <p:nvSpPr>
          <p:cNvPr id="25" name="Slide Number Placeholder 0"/>
          <p:cNvSpPr>
            <a:spLocks noGrp="1"/>
          </p:cNvSpPr>
          <p:nvPr>
            <p:ph type="sldNum" sz="quarter" idx="4294967295"/>
          </p:nvPr>
        </p:nvSpPr>
        <p:spPr>
          <a:xfrm>
            <a:off x="16733520" y="9601200"/>
            <a:ext cx="731520" cy="365760"/>
          </a:xfrm>
          <a:prstGeom prst="rect">
            <a:avLst/>
          </a:prstGeom>
          <a:extLst>
            <a:ext uri="{C572A759-6A51-4108-AA02-DFA0A04FC94B}">
              <ma14:wrappingTextBoxFlag xmlns:ma14="http://schemas.microsoft.com/office/mac/drawingml/2011/main" val="0"/>
            </a:ext>
          </a:extLst>
        </p:spPr>
        <p:txBody>
          <a:bodyPr/>
          <a:lstStyle>
            <a:lvl1pPr>
              <a:defRPr sz="1500">
                <a:solidFill>
                  <a:srgbClr val="5B708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22960" y="365760"/>
            <a:ext cx="16642080" cy="868680"/>
          </a:xfrm>
          <a:prstGeom prst="rect">
            <a:avLst/>
          </a:prstGeom>
          <a:noFill/>
          <a:ln/>
        </p:spPr>
        <p:txBody>
          <a:bodyPr wrap="square" lIns="0" tIns="0" rIns="0" bIns="0" rtlCol="0" anchor="ctr"/>
          <a:lstStyle/>
          <a:p>
            <a:pPr algn="l" indent="0" marL="0">
              <a:buNone/>
            </a:pPr>
            <a:r>
              <a:rPr lang="en-US" sz="4000" b="1" dirty="0">
                <a:solidFill>
                  <a:srgbClr val="0B2239"/>
                </a:solidFill>
                <a:latin typeface="Cambria" pitchFamily="34" charset="0"/>
                <a:ea typeface="Cambria" pitchFamily="34" charset="-122"/>
                <a:cs typeface="Cambria" pitchFamily="34" charset="-120"/>
              </a:rPr>
              <a:t>Error analysis, conclusions and next steps</a:t>
            </a:r>
            <a:endParaRPr lang="en-US" sz="4000" dirty="0"/>
          </a:p>
        </p:txBody>
      </p:sp>
      <p:sp>
        <p:nvSpPr>
          <p:cNvPr id="3" name="Text 0"/>
          <p:cNvSpPr/>
          <p:nvPr>
            <p:ph idx="101" type="body" hasCustomPrompt="1"/>
          </p:nvPr>
        </p:nvSpPr>
        <p:spPr>
          <a:xfrm>
            <a:off x="822960" y="1234440"/>
            <a:ext cx="16642080" cy="502920"/>
          </a:xfrm>
          <a:prstGeom prst="rect">
            <a:avLst/>
          </a:prstGeom>
          <a:noFill/>
          <a:ln/>
        </p:spPr>
        <p:txBody>
          <a:bodyPr wrap="square" lIns="0" tIns="0" rIns="0" bIns="0" rtlCol="0" anchor="ctr"/>
          <a:lstStyle/>
          <a:p>
            <a:pPr indent="0" marL="0">
              <a:buNone/>
            </a:pPr>
            <a:r>
              <a:rPr lang="en-US" sz="2200" dirty="0">
                <a:solidFill>
                  <a:srgbClr val="5B7083"/>
                </a:solidFill>
              </a:rPr>
              <a:t>Where do the large errors come from, and how much do the engineered features help? Validation engines, all three models.</a:t>
            </a:r>
            <a:endParaRPr lang="en-US" sz="2200" dirty="0"/>
          </a:p>
        </p:txBody>
      </p:sp>
      <p:sp>
        <p:nvSpPr>
          <p:cNvPr id="4" name="band chart frame"/>
          <p:cNvSpPr/>
          <p:nvPr/>
        </p:nvSpPr>
        <p:spPr>
          <a:xfrm>
            <a:off x="822960" y="2057400"/>
            <a:ext cx="6537960" cy="5001768"/>
          </a:xfrm>
          <a:prstGeom prst="roundRect">
            <a:avLst>
              <a:gd name="adj" fmla="val 1463"/>
            </a:avLst>
          </a:prstGeom>
          <a:solidFill>
            <a:srgbClr val="FFFFFF"/>
          </a:solidFill>
          <a:ln w="15875">
            <a:solidFill>
              <a:srgbClr val="C9D3DC"/>
            </a:solidFill>
            <a:prstDash val="solid"/>
          </a:ln>
        </p:spPr>
      </p:sp>
      <p:graphicFrame>
        <p:nvGraphicFramePr>
          <p:cNvPr id="5" name="band rmse chart" descr=""/>
          <p:cNvGraphicFramePr/>
          <p:nvPr/>
        </p:nvGraphicFramePr>
        <p:xfrm>
          <a:off x="914400" y="2148840"/>
          <a:ext cx="6355080" cy="4251960"/>
        </p:xfrm>
        <a:graphic xmlns:a="http://schemas.openxmlformats.org/drawingml/2006/main">
          <a:graphicData uri="http://schemas.openxmlformats.org/drawingml/2006/chart">
            <c:chart xmlns:c="http://schemas.openxmlformats.org/drawingml/2006/chart" r:id="rId1"/>
          </a:graphicData>
        </a:graphic>
      </p:graphicFrame>
      <p:sp>
        <p:nvSpPr>
          <p:cNvPr id="6" name="caption fig 7"/>
          <p:cNvSpPr txBox="1"/>
          <p:nvPr/>
        </p:nvSpPr>
        <p:spPr>
          <a:xfrm>
            <a:off x="1005840" y="6446520"/>
            <a:ext cx="6217920" cy="548640"/>
          </a:xfrm>
          <a:prstGeom prst="rect">
            <a:avLst/>
          </a:prstGeom>
          <a:noFill/>
          <a:ln/>
        </p:spPr>
        <p:txBody>
          <a:bodyPr wrap="square" lIns="0" tIns="0" rIns="0" bIns="0" rtlCol="0" anchor="t"/>
          <a:lstStyle/>
          <a:p>
            <a:pPr indent="0" marL="0">
              <a:buNone/>
            </a:pPr>
            <a:r>
              <a:rPr lang="en-US" sz="1600" b="1" dirty="0">
                <a:solidFill>
                  <a:srgbClr val="0E8F9B"/>
                </a:solidFill>
              </a:rPr>
              <a:t>Fig. 7  </a:t>
            </a:r>
            <a:pPr indent="0" marL="0">
              <a:buNone/>
            </a:pPr>
            <a:r>
              <a:rPr lang="en-US" sz="1600" i="1" dirty="0">
                <a:solidFill>
                  <a:srgbClr val="5B7083"/>
                </a:solidFill>
              </a:rPr>
              <a:t>Validation RMSE by true-RUL band: errors peak at 50–100 cycles left.</a:t>
            </a:r>
            <a:endParaRPr lang="en-US" sz="1600" dirty="0"/>
          </a:p>
        </p:txBody>
      </p:sp>
      <p:sp>
        <p:nvSpPr>
          <p:cNvPr id="7" name="fe chart frame"/>
          <p:cNvSpPr/>
          <p:nvPr/>
        </p:nvSpPr>
        <p:spPr>
          <a:xfrm>
            <a:off x="7607808" y="2057400"/>
            <a:ext cx="5285232" cy="5001768"/>
          </a:xfrm>
          <a:prstGeom prst="roundRect">
            <a:avLst>
              <a:gd name="adj" fmla="val 1463"/>
            </a:avLst>
          </a:prstGeom>
          <a:solidFill>
            <a:srgbClr val="FFFFFF"/>
          </a:solidFill>
          <a:ln w="15875">
            <a:solidFill>
              <a:srgbClr val="C9D3DC"/>
            </a:solidFill>
            <a:prstDash val="solid"/>
          </a:ln>
        </p:spPr>
      </p:sp>
      <p:graphicFrame>
        <p:nvGraphicFramePr>
          <p:cNvPr id="8" name="feature effect chart" descr=""/>
          <p:cNvGraphicFramePr/>
          <p:nvPr/>
        </p:nvGraphicFramePr>
        <p:xfrm>
          <a:off x="7699248" y="2148840"/>
          <a:ext cx="5102352" cy="4251960"/>
        </p:xfrm>
        <a:graphic xmlns:a="http://schemas.openxmlformats.org/drawingml/2006/main">
          <a:graphicData uri="http://schemas.openxmlformats.org/drawingml/2006/chart">
            <c:chart xmlns:c="http://schemas.openxmlformats.org/drawingml/2006/chart" r:id="rId2"/>
          </a:graphicData>
        </a:graphic>
      </p:graphicFrame>
      <p:sp>
        <p:nvSpPr>
          <p:cNvPr id="9" name="caption fig 8"/>
          <p:cNvSpPr txBox="1"/>
          <p:nvPr/>
        </p:nvSpPr>
        <p:spPr>
          <a:xfrm>
            <a:off x="7790688" y="6446520"/>
            <a:ext cx="5029200" cy="548640"/>
          </a:xfrm>
          <a:prstGeom prst="rect">
            <a:avLst/>
          </a:prstGeom>
          <a:noFill/>
          <a:ln/>
        </p:spPr>
        <p:txBody>
          <a:bodyPr wrap="square" lIns="0" tIns="0" rIns="0" bIns="0" rtlCol="0" anchor="t"/>
          <a:lstStyle/>
          <a:p>
            <a:pPr indent="0" marL="0">
              <a:buNone/>
            </a:pPr>
            <a:r>
              <a:rPr lang="en-US" sz="1600" b="1" dirty="0">
                <a:solidFill>
                  <a:srgbClr val="0E8F9B"/>
                </a:solidFill>
              </a:rPr>
              <a:t>Fig. 8  </a:t>
            </a:r>
            <a:pPr indent="0" marL="0">
              <a:buNone/>
            </a:pPr>
            <a:r>
              <a:rPr lang="en-US" sz="1600" i="1" dirty="0">
                <a:solidFill>
                  <a:srgbClr val="5B7083"/>
                </a:solidFill>
              </a:rPr>
              <a:t>Validation RMSE, raw sensors vs. engineered features.</a:t>
            </a:r>
            <a:endParaRPr lang="en-US" sz="1600" dirty="0"/>
          </a:p>
        </p:txBody>
      </p:sp>
      <p:sp>
        <p:nvSpPr>
          <p:cNvPr id="10" name="conclusions panel"/>
          <p:cNvSpPr/>
          <p:nvPr/>
        </p:nvSpPr>
        <p:spPr>
          <a:xfrm>
            <a:off x="13167360" y="2057400"/>
            <a:ext cx="4279392" cy="5001768"/>
          </a:xfrm>
          <a:prstGeom prst="roundRect">
            <a:avLst>
              <a:gd name="adj" fmla="val 1709"/>
            </a:avLst>
          </a:prstGeom>
          <a:solidFill>
            <a:srgbClr val="ECF1F5"/>
          </a:solidFill>
          <a:ln w="12700">
            <a:solidFill>
              <a:srgbClr val="ECF1F5"/>
            </a:solidFill>
            <a:prstDash val="solid"/>
          </a:ln>
        </p:spPr>
      </p:sp>
      <p:sp>
        <p:nvSpPr>
          <p:cNvPr id="11" name="kicker CONCLUSIONS"/>
          <p:cNvSpPr txBox="1"/>
          <p:nvPr/>
        </p:nvSpPr>
        <p:spPr>
          <a:xfrm>
            <a:off x="13487400" y="2286000"/>
            <a:ext cx="3840480" cy="365760"/>
          </a:xfrm>
          <a:prstGeom prst="rect">
            <a:avLst/>
          </a:prstGeom>
          <a:noFill/>
          <a:ln/>
        </p:spPr>
        <p:txBody>
          <a:bodyPr wrap="square" lIns="0" tIns="0" rIns="0" bIns="0" rtlCol="0" anchor="ctr"/>
          <a:lstStyle/>
          <a:p>
            <a:pPr indent="0" marL="0">
              <a:buNone/>
            </a:pPr>
            <a:r>
              <a:rPr lang="en-US" sz="1800" b="1" spc="400" kern="0" dirty="0">
                <a:solidFill>
                  <a:srgbClr val="0E8F9B"/>
                </a:solidFill>
              </a:rPr>
              <a:t>CONCLUSIONS</a:t>
            </a:r>
            <a:endParaRPr lang="en-US" sz="1800" dirty="0"/>
          </a:p>
        </p:txBody>
      </p:sp>
      <p:sp>
        <p:nvSpPr>
          <p:cNvPr id="12" name="conclusion bullets"/>
          <p:cNvSpPr txBox="1"/>
          <p:nvPr/>
        </p:nvSpPr>
        <p:spPr>
          <a:xfrm>
            <a:off x="13533120" y="2788920"/>
            <a:ext cx="3703320" cy="420624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1B2A38"/>
                </a:solidFill>
              </a:rPr>
              <a:t>Engineered features cut validation RMSE by 12% (Linear), 20% (Tree) and 35% (Forest).</a:t>
            </a:r>
            <a:endParaRPr lang="en-US" sz="1800" dirty="0"/>
          </a:p>
          <a:p>
            <a:pPr marL="228600" indent="-228600">
              <a:spcAft>
                <a:spcPts val="600"/>
              </a:spcAft>
              <a:buSzPct val="100000"/>
              <a:buChar char="•"/>
            </a:pPr>
            <a:r>
              <a:rPr lang="en-US" sz="1800" dirty="0">
                <a:solidFill>
                  <a:srgbClr val="1B2A38"/>
                </a:solidFill>
              </a:rPr>
              <a:t>Hardest region: 50–100 cycles left, when wear is just appearing.</a:t>
            </a:r>
            <a:endParaRPr lang="en-US" sz="1800" dirty="0"/>
          </a:p>
          <a:p>
            <a:pPr marL="228600" indent="-228600">
              <a:spcAft>
                <a:spcPts val="600"/>
              </a:spcAft>
              <a:buSzPct val="100000"/>
              <a:buChar char="•"/>
            </a:pPr>
            <a:r>
              <a:rPr lang="en-US" sz="1800" dirty="0">
                <a:solidFill>
                  <a:srgbClr val="1B2A38"/>
                </a:solidFill>
              </a:rPr>
              <a:t>Early life looks easy partly because of the 125-cycle cap.</a:t>
            </a:r>
            <a:endParaRPr lang="en-US" sz="1800" dirty="0"/>
          </a:p>
          <a:p>
            <a:pPr marL="228600" indent="-228600">
              <a:spcAft>
                <a:spcPts val="600"/>
              </a:spcAft>
              <a:buSzPct val="100000"/>
              <a:buChar char="•"/>
            </a:pPr>
            <a:r>
              <a:rPr lang="en-US" sz="1800" dirty="0">
                <a:solidFill>
                  <a:srgbClr val="1B2A38"/>
                </a:solidFill>
              </a:rPr>
              <a:t>Limits: FD001 only, simulated data, one split.</a:t>
            </a:r>
            <a:endParaRPr lang="en-US" sz="1800" dirty="0"/>
          </a:p>
        </p:txBody>
      </p:sp>
      <p:sp>
        <p:nvSpPr>
          <p:cNvPr id="13" name="kicker NEXT STEPS"/>
          <p:cNvSpPr txBox="1"/>
          <p:nvPr/>
        </p:nvSpPr>
        <p:spPr>
          <a:xfrm>
            <a:off x="822960" y="7269480"/>
            <a:ext cx="5486400" cy="365760"/>
          </a:xfrm>
          <a:prstGeom prst="rect">
            <a:avLst/>
          </a:prstGeom>
          <a:noFill/>
          <a:ln/>
        </p:spPr>
        <p:txBody>
          <a:bodyPr wrap="square" lIns="0" tIns="0" rIns="0" bIns="0" rtlCol="0" anchor="ctr"/>
          <a:lstStyle/>
          <a:p>
            <a:pPr indent="0" marL="0">
              <a:buNone/>
            </a:pPr>
            <a:r>
              <a:rPr lang="en-US" sz="1800" b="1" spc="400" kern="0" dirty="0">
                <a:solidFill>
                  <a:srgbClr val="0E8F9B"/>
                </a:solidFill>
              </a:rPr>
              <a:t>NEXT STEPS</a:t>
            </a:r>
            <a:endParaRPr lang="en-US" sz="1800" dirty="0"/>
          </a:p>
        </p:txBody>
      </p:sp>
      <p:sp>
        <p:nvSpPr>
          <p:cNvPr id="14" name="next step 1"/>
          <p:cNvSpPr/>
          <p:nvPr/>
        </p:nvSpPr>
        <p:spPr>
          <a:xfrm>
            <a:off x="822960" y="7708392"/>
            <a:ext cx="5394960" cy="1115568"/>
          </a:xfrm>
          <a:prstGeom prst="roundRect">
            <a:avLst>
              <a:gd name="adj" fmla="val 6557"/>
            </a:avLst>
          </a:prstGeom>
          <a:solidFill>
            <a:srgbClr val="ECF1F5"/>
          </a:solidFill>
          <a:ln w="12700">
            <a:solidFill>
              <a:srgbClr val="ECF1F5"/>
            </a:solidFill>
            <a:prstDash val="solid"/>
          </a:ln>
        </p:spPr>
      </p:sp>
      <p:sp>
        <p:nvSpPr>
          <p:cNvPr id="15" name="step circle 1"/>
          <p:cNvSpPr/>
          <p:nvPr/>
        </p:nvSpPr>
        <p:spPr>
          <a:xfrm>
            <a:off x="1024128" y="8037576"/>
            <a:ext cx="457200" cy="457200"/>
          </a:xfrm>
          <a:prstGeom prst="ellipse">
            <a:avLst/>
          </a:prstGeom>
          <a:solidFill>
            <a:srgbClr val="0E8F9B"/>
          </a:solidFill>
          <a:ln w="12700">
            <a:solidFill>
              <a:srgbClr val="0E8F9B"/>
            </a:solidFill>
            <a:prstDash val="solid"/>
          </a:ln>
        </p:spPr>
      </p:sp>
      <p:sp>
        <p:nvSpPr>
          <p:cNvPr id="16" name="step num 1"/>
          <p:cNvSpPr txBox="1"/>
          <p:nvPr/>
        </p:nvSpPr>
        <p:spPr>
          <a:xfrm>
            <a:off x="1024128" y="803757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step text 1"/>
          <p:cNvSpPr txBox="1"/>
          <p:nvPr/>
        </p:nvSpPr>
        <p:spPr>
          <a:xfrm>
            <a:off x="1691640" y="7708392"/>
            <a:ext cx="4389120" cy="1115568"/>
          </a:xfrm>
          <a:prstGeom prst="rect">
            <a:avLst/>
          </a:prstGeom>
          <a:noFill/>
          <a:ln/>
        </p:spPr>
        <p:txBody>
          <a:bodyPr wrap="square" lIns="0" tIns="0" rIns="0" bIns="0" rtlCol="0" anchor="ctr"/>
          <a:lstStyle/>
          <a:p>
            <a:pPr indent="0" marL="0">
              <a:buNone/>
            </a:pPr>
            <a:r>
              <a:rPr lang="en-US" sz="1800" dirty="0">
                <a:solidFill>
                  <a:srgbClr val="1B2A38"/>
                </a:solidFill>
              </a:rPr>
              <a:t>Extend to the multi-condition subsets FD002–FD004.</a:t>
            </a:r>
            <a:endParaRPr lang="en-US" sz="1800" dirty="0"/>
          </a:p>
        </p:txBody>
      </p:sp>
      <p:sp>
        <p:nvSpPr>
          <p:cNvPr id="18" name="next step 2"/>
          <p:cNvSpPr/>
          <p:nvPr/>
        </p:nvSpPr>
        <p:spPr>
          <a:xfrm>
            <a:off x="6446520" y="7708392"/>
            <a:ext cx="5394960" cy="1115568"/>
          </a:xfrm>
          <a:prstGeom prst="roundRect">
            <a:avLst>
              <a:gd name="adj" fmla="val 6557"/>
            </a:avLst>
          </a:prstGeom>
          <a:solidFill>
            <a:srgbClr val="ECF1F5"/>
          </a:solidFill>
          <a:ln w="12700">
            <a:solidFill>
              <a:srgbClr val="ECF1F5"/>
            </a:solidFill>
            <a:prstDash val="solid"/>
          </a:ln>
        </p:spPr>
      </p:sp>
      <p:sp>
        <p:nvSpPr>
          <p:cNvPr id="19" name="step circle 2"/>
          <p:cNvSpPr/>
          <p:nvPr/>
        </p:nvSpPr>
        <p:spPr>
          <a:xfrm>
            <a:off x="6647688" y="8037576"/>
            <a:ext cx="457200" cy="457200"/>
          </a:xfrm>
          <a:prstGeom prst="ellipse">
            <a:avLst/>
          </a:prstGeom>
          <a:solidFill>
            <a:srgbClr val="0E8F9B"/>
          </a:solidFill>
          <a:ln w="12700">
            <a:solidFill>
              <a:srgbClr val="0E8F9B"/>
            </a:solidFill>
            <a:prstDash val="solid"/>
          </a:ln>
        </p:spPr>
      </p:sp>
      <p:sp>
        <p:nvSpPr>
          <p:cNvPr id="20" name="step num 2"/>
          <p:cNvSpPr txBox="1"/>
          <p:nvPr/>
        </p:nvSpPr>
        <p:spPr>
          <a:xfrm>
            <a:off x="6647688" y="803757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1" name="step text 2"/>
          <p:cNvSpPr txBox="1"/>
          <p:nvPr/>
        </p:nvSpPr>
        <p:spPr>
          <a:xfrm>
            <a:off x="7315200" y="7708392"/>
            <a:ext cx="4389120" cy="1115568"/>
          </a:xfrm>
          <a:prstGeom prst="rect">
            <a:avLst/>
          </a:prstGeom>
          <a:noFill/>
          <a:ln/>
        </p:spPr>
        <p:txBody>
          <a:bodyPr wrap="square" lIns="0" tIns="0" rIns="0" bIns="0" rtlCol="0" anchor="ctr"/>
          <a:lstStyle/>
          <a:p>
            <a:pPr indent="0" marL="0">
              <a:buNone/>
            </a:pPr>
            <a:r>
              <a:rPr lang="en-US" sz="1800" dirty="0">
                <a:solidFill>
                  <a:srgbClr val="1B2A38"/>
                </a:solidFill>
              </a:rPr>
              <a:t>Repeated cross-validation and uncertainty ranges.</a:t>
            </a:r>
            <a:endParaRPr lang="en-US" sz="1800" dirty="0"/>
          </a:p>
        </p:txBody>
      </p:sp>
      <p:sp>
        <p:nvSpPr>
          <p:cNvPr id="22" name="next step 3"/>
          <p:cNvSpPr/>
          <p:nvPr/>
        </p:nvSpPr>
        <p:spPr>
          <a:xfrm>
            <a:off x="12070080" y="7708392"/>
            <a:ext cx="5394960" cy="1115568"/>
          </a:xfrm>
          <a:prstGeom prst="roundRect">
            <a:avLst>
              <a:gd name="adj" fmla="val 6557"/>
            </a:avLst>
          </a:prstGeom>
          <a:solidFill>
            <a:srgbClr val="ECF1F5"/>
          </a:solidFill>
          <a:ln w="12700">
            <a:solidFill>
              <a:srgbClr val="ECF1F5"/>
            </a:solidFill>
            <a:prstDash val="solid"/>
          </a:ln>
        </p:spPr>
      </p:sp>
      <p:sp>
        <p:nvSpPr>
          <p:cNvPr id="23" name="step circle 3"/>
          <p:cNvSpPr/>
          <p:nvPr/>
        </p:nvSpPr>
        <p:spPr>
          <a:xfrm>
            <a:off x="12271248" y="8037576"/>
            <a:ext cx="457200" cy="457200"/>
          </a:xfrm>
          <a:prstGeom prst="ellipse">
            <a:avLst/>
          </a:prstGeom>
          <a:solidFill>
            <a:srgbClr val="0E8F9B"/>
          </a:solidFill>
          <a:ln w="12700">
            <a:solidFill>
              <a:srgbClr val="0E8F9B"/>
            </a:solidFill>
            <a:prstDash val="solid"/>
          </a:ln>
        </p:spPr>
      </p:sp>
      <p:sp>
        <p:nvSpPr>
          <p:cNvPr id="24" name="step num 3"/>
          <p:cNvSpPr txBox="1"/>
          <p:nvPr/>
        </p:nvSpPr>
        <p:spPr>
          <a:xfrm>
            <a:off x="12271248" y="803757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5" name="step text 3"/>
          <p:cNvSpPr txBox="1"/>
          <p:nvPr/>
        </p:nvSpPr>
        <p:spPr>
          <a:xfrm>
            <a:off x="12938760" y="7708392"/>
            <a:ext cx="4389120" cy="1115568"/>
          </a:xfrm>
          <a:prstGeom prst="rect">
            <a:avLst/>
          </a:prstGeom>
          <a:noFill/>
          <a:ln/>
        </p:spPr>
        <p:txBody>
          <a:bodyPr wrap="square" lIns="0" tIns="0" rIns="0" bIns="0" rtlCol="0" anchor="ctr"/>
          <a:lstStyle/>
          <a:p>
            <a:pPr indent="0" marL="0">
              <a:buNone/>
            </a:pPr>
            <a:r>
              <a:rPr lang="en-US" sz="1800" dirty="0">
                <a:solidFill>
                  <a:srgbClr val="1B2A38"/>
                </a:solidFill>
              </a:rPr>
              <a:t>Phase 2: compare with LSTM / CNN on the same split.</a:t>
            </a:r>
            <a:endParaRPr lang="en-US" sz="1800" dirty="0"/>
          </a:p>
        </p:txBody>
      </p:sp>
      <p:sp>
        <p:nvSpPr>
          <p:cNvPr id="26" name="closing line"/>
          <p:cNvSpPr txBox="1"/>
          <p:nvPr/>
        </p:nvSpPr>
        <p:spPr>
          <a:xfrm>
            <a:off x="822960" y="8961120"/>
            <a:ext cx="16642080" cy="411480"/>
          </a:xfrm>
          <a:prstGeom prst="rect">
            <a:avLst/>
          </a:prstGeom>
          <a:noFill/>
          <a:ln/>
        </p:spPr>
        <p:txBody>
          <a:bodyPr wrap="square" lIns="0" tIns="0" rIns="0" bIns="0" rtlCol="0" anchor="ctr"/>
          <a:lstStyle/>
          <a:p>
            <a:pPr indent="0" marL="0">
              <a:buNone/>
            </a:pPr>
            <a:r>
              <a:rPr lang="en-US" sz="2000" b="1" dirty="0">
                <a:solidFill>
                  <a:srgbClr val="1B2A38"/>
                </a:solidFill>
              </a:rPr>
              <a:t>Classical ML with good degradation features predicts engine RUL to within about 8 cycles on average.</a:t>
            </a:r>
            <a:endParaRPr lang="en-US" sz="2000" dirty="0"/>
          </a:p>
        </p:txBody>
      </p:sp>
      <p:sp>
        <p:nvSpPr>
          <p:cNvPr id="25" name="Slide Number Placeholder 0"/>
          <p:cNvSpPr>
            <a:spLocks noGrp="1"/>
          </p:cNvSpPr>
          <p:nvPr>
            <p:ph type="sldNum" sz="quarter" idx="4294967295"/>
          </p:nvPr>
        </p:nvSpPr>
        <p:spPr>
          <a:xfrm>
            <a:off x="16733520" y="9601200"/>
            <a:ext cx="731520" cy="365760"/>
          </a:xfrm>
          <a:prstGeom prst="rect">
            <a:avLst/>
          </a:prstGeom>
          <a:extLst>
            <a:ext uri="{C572A759-6A51-4108-AA02-DFA0A04FC94B}">
              <ma14:wrappingTextBoxFlag xmlns:ma14="http://schemas.microsoft.com/office/mac/drawingml/2011/main" val="0"/>
            </a:ext>
          </a:extLst>
        </p:spPr>
        <p:txBody>
          <a:bodyPr/>
          <a:lstStyle>
            <a:lvl1pPr>
              <a:defRPr sz="1500">
                <a:solidFill>
                  <a:srgbClr val="5B708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365760"/>
            <a:ext cx="16642080" cy="868680"/>
          </a:xfrm>
          <a:prstGeom prst="rect">
            <a:avLst/>
          </a:prstGeom>
          <a:noFill/>
          <a:ln/>
        </p:spPr>
        <p:txBody>
          <a:bodyPr wrap="square" lIns="0" tIns="0" rIns="0" bIns="0" rtlCol="0" anchor="ctr"/>
          <a:lstStyle/>
          <a:p>
            <a:pPr algn="l" indent="0" marL="0">
              <a:buNone/>
            </a:pPr>
            <a:r>
              <a:rPr lang="en-US" sz="4000" b="1" dirty="0">
                <a:solidFill>
                  <a:srgbClr val="0B2239"/>
                </a:solidFill>
                <a:latin typeface="Cambria" pitchFamily="34" charset="0"/>
                <a:ea typeface="Cambria" pitchFamily="34" charset="-122"/>
                <a:cs typeface="Cambria" pitchFamily="34" charset="-120"/>
              </a:rPr>
              <a:t>Team introduction</a:t>
            </a:r>
            <a:endParaRPr lang="en-US" sz="4000" dirty="0"/>
          </a:p>
        </p:txBody>
      </p:sp>
      <p:sp>
        <p:nvSpPr>
          <p:cNvPr id="3" name="Text 0"/>
          <p:cNvSpPr/>
          <p:nvPr>
            <p:ph idx="101" type="body" hasCustomPrompt="1"/>
          </p:nvPr>
        </p:nvSpPr>
        <p:spPr>
          <a:xfrm>
            <a:off x="822960" y="1234440"/>
            <a:ext cx="16642080" cy="502920"/>
          </a:xfrm>
          <a:prstGeom prst="rect">
            <a:avLst/>
          </a:prstGeom>
          <a:noFill/>
          <a:ln/>
        </p:spPr>
        <p:txBody>
          <a:bodyPr wrap="square" lIns="0" tIns="0" rIns="0" bIns="0" rtlCol="0" anchor="ctr"/>
          <a:lstStyle/>
          <a:p>
            <a:pPr indent="0" marL="0">
              <a:buNone/>
            </a:pPr>
            <a:r>
              <a:rPr lang="en-US" sz="2200" dirty="0">
                <a:solidFill>
                  <a:srgbClr val="5B7083"/>
                </a:solidFill>
              </a:rPr>
              <a:t>Each member owned one stage of the shared project pipeline.</a:t>
            </a:r>
            <a:endParaRPr lang="en-US" sz="2200" dirty="0"/>
          </a:p>
        </p:txBody>
      </p:sp>
      <p:sp>
        <p:nvSpPr>
          <p:cNvPr id="4" name="step 1"/>
          <p:cNvSpPr/>
          <p:nvPr/>
        </p:nvSpPr>
        <p:spPr>
          <a:xfrm>
            <a:off x="822960" y="2057400"/>
            <a:ext cx="3429000" cy="1097280"/>
          </a:xfrm>
          <a:prstGeom prst="chevron">
            <a:avLst/>
          </a:prstGeom>
          <a:solidFill>
            <a:srgbClr val="0B2239"/>
          </a:solidFill>
          <a:ln w="12700">
            <a:solidFill>
              <a:srgbClr val="0B2239"/>
            </a:solidFill>
            <a:prstDash val="solid"/>
          </a:ln>
        </p:spPr>
      </p:sp>
      <p:sp>
        <p:nvSpPr>
          <p:cNvPr id="5" name="step 1 label"/>
          <p:cNvSpPr txBox="1"/>
          <p:nvPr/>
        </p:nvSpPr>
        <p:spPr>
          <a:xfrm>
            <a:off x="1508760" y="2057400"/>
            <a:ext cx="2240280" cy="1097280"/>
          </a:xfrm>
          <a:prstGeom prst="rect">
            <a:avLst/>
          </a:prstGeom>
          <a:noFill/>
          <a:ln/>
        </p:spPr>
        <p:txBody>
          <a:bodyPr wrap="square" lIns="0" tIns="0" rIns="0" bIns="0" rtlCol="0" anchor="ctr"/>
          <a:lstStyle/>
          <a:p>
            <a:pPr indent="0" marL="0">
              <a:buNone/>
            </a:pPr>
            <a:r>
              <a:rPr lang="en-US" sz="1800" b="1" dirty="0">
                <a:solidFill>
                  <a:srgbClr val="FFFFFF"/>
                </a:solidFill>
              </a:rPr>
              <a:t>EDA &amp; baseline</a:t>
            </a:r>
            <a:endParaRPr lang="en-US" sz="1800" dirty="0"/>
          </a:p>
          <a:p>
            <a:pPr indent="0" marL="0">
              <a:buNone/>
            </a:pPr>
            <a:r>
              <a:rPr lang="en-US" sz="1600" dirty="0">
                <a:solidFill>
                  <a:srgbClr val="B8C7D4"/>
                </a:solidFill>
              </a:rPr>
              <a:t>Rohit Kumar</a:t>
            </a:r>
            <a:endParaRPr lang="en-US" sz="1800" dirty="0"/>
          </a:p>
        </p:txBody>
      </p:sp>
      <p:sp>
        <p:nvSpPr>
          <p:cNvPr id="6" name="step 2"/>
          <p:cNvSpPr/>
          <p:nvPr/>
        </p:nvSpPr>
        <p:spPr>
          <a:xfrm>
            <a:off x="4133088" y="2057400"/>
            <a:ext cx="3429000" cy="1097280"/>
          </a:xfrm>
          <a:prstGeom prst="chevron">
            <a:avLst/>
          </a:prstGeom>
          <a:solidFill>
            <a:srgbClr val="0B2239"/>
          </a:solidFill>
          <a:ln w="12700">
            <a:solidFill>
              <a:srgbClr val="0B2239"/>
            </a:solidFill>
            <a:prstDash val="solid"/>
          </a:ln>
        </p:spPr>
      </p:sp>
      <p:sp>
        <p:nvSpPr>
          <p:cNvPr id="7" name="step 2 label"/>
          <p:cNvSpPr txBox="1"/>
          <p:nvPr/>
        </p:nvSpPr>
        <p:spPr>
          <a:xfrm>
            <a:off x="4818888" y="2057400"/>
            <a:ext cx="2240280" cy="1097280"/>
          </a:xfrm>
          <a:prstGeom prst="rect">
            <a:avLst/>
          </a:prstGeom>
          <a:noFill/>
          <a:ln/>
        </p:spPr>
        <p:txBody>
          <a:bodyPr wrap="square" lIns="0" tIns="0" rIns="0" bIns="0" rtlCol="0" anchor="ctr"/>
          <a:lstStyle/>
          <a:p>
            <a:pPr indent="0" marL="0">
              <a:buNone/>
            </a:pPr>
            <a:r>
              <a:rPr lang="en-US" sz="1800" b="1" dirty="0">
                <a:solidFill>
                  <a:srgbClr val="FFFFFF"/>
                </a:solidFill>
              </a:rPr>
              <a:t>Feature engineering</a:t>
            </a:r>
            <a:endParaRPr lang="en-US" sz="1800" dirty="0"/>
          </a:p>
          <a:p>
            <a:pPr indent="0" marL="0">
              <a:buNone/>
            </a:pPr>
            <a:r>
              <a:rPr lang="en-US" sz="1600" dirty="0">
                <a:solidFill>
                  <a:srgbClr val="B8C7D4"/>
                </a:solidFill>
              </a:rPr>
              <a:t>Mayank Yadav</a:t>
            </a:r>
            <a:endParaRPr lang="en-US" sz="1800" dirty="0"/>
          </a:p>
        </p:txBody>
      </p:sp>
      <p:sp>
        <p:nvSpPr>
          <p:cNvPr id="8" name="step 3"/>
          <p:cNvSpPr/>
          <p:nvPr/>
        </p:nvSpPr>
        <p:spPr>
          <a:xfrm>
            <a:off x="7443216" y="2057400"/>
            <a:ext cx="3429000" cy="1097280"/>
          </a:xfrm>
          <a:prstGeom prst="chevron">
            <a:avLst/>
          </a:prstGeom>
          <a:solidFill>
            <a:srgbClr val="0B2239"/>
          </a:solidFill>
          <a:ln w="12700">
            <a:solidFill>
              <a:srgbClr val="0B2239"/>
            </a:solidFill>
            <a:prstDash val="solid"/>
          </a:ln>
        </p:spPr>
      </p:sp>
      <p:sp>
        <p:nvSpPr>
          <p:cNvPr id="9" name="step 3 label"/>
          <p:cNvSpPr txBox="1"/>
          <p:nvPr/>
        </p:nvSpPr>
        <p:spPr>
          <a:xfrm>
            <a:off x="8129016" y="2057400"/>
            <a:ext cx="2240280" cy="1097280"/>
          </a:xfrm>
          <a:prstGeom prst="rect">
            <a:avLst/>
          </a:prstGeom>
          <a:noFill/>
          <a:ln/>
        </p:spPr>
        <p:txBody>
          <a:bodyPr wrap="square" lIns="0" tIns="0" rIns="0" bIns="0" rtlCol="0" anchor="ctr"/>
          <a:lstStyle/>
          <a:p>
            <a:pPr indent="0" marL="0">
              <a:buNone/>
            </a:pPr>
            <a:r>
              <a:rPr lang="en-US" sz="1800" b="1" dirty="0">
                <a:solidFill>
                  <a:srgbClr val="FFFFFF"/>
                </a:solidFill>
              </a:rPr>
              <a:t>Decision Tree &amp; app</a:t>
            </a:r>
            <a:endParaRPr lang="en-US" sz="1800" dirty="0"/>
          </a:p>
          <a:p>
            <a:pPr indent="0" marL="0">
              <a:buNone/>
            </a:pPr>
            <a:r>
              <a:rPr lang="en-US" sz="1600" dirty="0">
                <a:solidFill>
                  <a:srgbClr val="B8C7D4"/>
                </a:solidFill>
              </a:rPr>
              <a:t>Arun</a:t>
            </a:r>
            <a:endParaRPr lang="en-US" sz="1800" dirty="0"/>
          </a:p>
        </p:txBody>
      </p:sp>
      <p:sp>
        <p:nvSpPr>
          <p:cNvPr id="10" name="step 4"/>
          <p:cNvSpPr/>
          <p:nvPr/>
        </p:nvSpPr>
        <p:spPr>
          <a:xfrm>
            <a:off x="10753344" y="2057400"/>
            <a:ext cx="3429000" cy="1097280"/>
          </a:xfrm>
          <a:prstGeom prst="chevron">
            <a:avLst/>
          </a:prstGeom>
          <a:solidFill>
            <a:srgbClr val="0B2239"/>
          </a:solidFill>
          <a:ln w="12700">
            <a:solidFill>
              <a:srgbClr val="0B2239"/>
            </a:solidFill>
            <a:prstDash val="solid"/>
          </a:ln>
        </p:spPr>
      </p:sp>
      <p:sp>
        <p:nvSpPr>
          <p:cNvPr id="11" name="step 4 label"/>
          <p:cNvSpPr txBox="1"/>
          <p:nvPr/>
        </p:nvSpPr>
        <p:spPr>
          <a:xfrm>
            <a:off x="11439144" y="2057400"/>
            <a:ext cx="2240280" cy="1097280"/>
          </a:xfrm>
          <a:prstGeom prst="rect">
            <a:avLst/>
          </a:prstGeom>
          <a:noFill/>
          <a:ln/>
        </p:spPr>
        <p:txBody>
          <a:bodyPr wrap="square" lIns="0" tIns="0" rIns="0" bIns="0" rtlCol="0" anchor="ctr"/>
          <a:lstStyle/>
          <a:p>
            <a:pPr indent="0" marL="0">
              <a:buNone/>
            </a:pPr>
            <a:r>
              <a:rPr lang="en-US" sz="1800" b="1" dirty="0">
                <a:solidFill>
                  <a:srgbClr val="FFFFFF"/>
                </a:solidFill>
              </a:rPr>
              <a:t>Random Forest</a:t>
            </a:r>
            <a:endParaRPr lang="en-US" sz="1800" dirty="0"/>
          </a:p>
          <a:p>
            <a:pPr indent="0" marL="0">
              <a:buNone/>
            </a:pPr>
            <a:r>
              <a:rPr lang="en-US" sz="1600" dirty="0">
                <a:solidFill>
                  <a:srgbClr val="B8C7D4"/>
                </a:solidFill>
              </a:rPr>
              <a:t>Keshav</a:t>
            </a:r>
            <a:endParaRPr lang="en-US" sz="1800" dirty="0"/>
          </a:p>
        </p:txBody>
      </p:sp>
      <p:sp>
        <p:nvSpPr>
          <p:cNvPr id="12" name="step 5"/>
          <p:cNvSpPr/>
          <p:nvPr/>
        </p:nvSpPr>
        <p:spPr>
          <a:xfrm>
            <a:off x="14063472" y="2057400"/>
            <a:ext cx="3429000" cy="1097280"/>
          </a:xfrm>
          <a:prstGeom prst="chevron">
            <a:avLst/>
          </a:prstGeom>
          <a:solidFill>
            <a:srgbClr val="0E8F9B"/>
          </a:solidFill>
          <a:ln w="12700">
            <a:solidFill>
              <a:srgbClr val="0E8F9B"/>
            </a:solidFill>
            <a:prstDash val="solid"/>
          </a:ln>
        </p:spPr>
      </p:sp>
      <p:sp>
        <p:nvSpPr>
          <p:cNvPr id="13" name="step 5 label"/>
          <p:cNvSpPr txBox="1"/>
          <p:nvPr/>
        </p:nvSpPr>
        <p:spPr>
          <a:xfrm>
            <a:off x="14749272" y="2057400"/>
            <a:ext cx="2240280" cy="1097280"/>
          </a:xfrm>
          <a:prstGeom prst="rect">
            <a:avLst/>
          </a:prstGeom>
          <a:noFill/>
          <a:ln/>
        </p:spPr>
        <p:txBody>
          <a:bodyPr wrap="square" lIns="0" tIns="0" rIns="0" bIns="0" rtlCol="0" anchor="ctr"/>
          <a:lstStyle/>
          <a:p>
            <a:pPr indent="0" marL="0">
              <a:buNone/>
            </a:pPr>
            <a:r>
              <a:rPr lang="en-US" sz="1800" b="1" dirty="0">
                <a:solidFill>
                  <a:srgbClr val="FFFFFF"/>
                </a:solidFill>
              </a:rPr>
              <a:t>Documentation</a:t>
            </a:r>
            <a:endParaRPr lang="en-US" sz="1800" dirty="0"/>
          </a:p>
          <a:p>
            <a:pPr indent="0" marL="0">
              <a:buNone/>
            </a:pPr>
            <a:r>
              <a:rPr lang="en-US" sz="1600" dirty="0">
                <a:solidFill>
                  <a:srgbClr val="D9F3F5"/>
                </a:solidFill>
              </a:rPr>
              <a:t>Sarvesh Kumar</a:t>
            </a:r>
            <a:endParaRPr lang="en-US" sz="1800" dirty="0"/>
          </a:p>
        </p:txBody>
      </p:sp>
      <p:graphicFrame>
        <p:nvGraphicFramePr>
          <p:cNvPr id="8" name="team table"/>
          <p:cNvGraphicFramePr>
            <a:graphicFrameLocks noGrp="1"/>
          </p:cNvGraphicFramePr>
          <p:nvPr>
            <p:extLst>
              <p:ext uri="{D42A27DB-BD31-4B8C-83A1-F6EECF244321}">
                <p14:modId xmlns:p14="http://schemas.microsoft.com/office/powerpoint/2010/main" val="1579011935"/>
              </p:ext>
            </p:extLst>
          </p:nvPr>
        </p:nvGraphicFramePr>
        <p:xfrm>
          <a:off x="822960" y="3566160"/>
          <a:ext cx="16642080" cy="914400"/>
        </p:xfrm>
        <a:graphic>
          <a:graphicData uri="http://schemas.openxmlformats.org/drawingml/2006/table">
            <a:tbl>
              <a:tblPr/>
              <a:tblGrid>
                <a:gridCol w="2606040"/>
                <a:gridCol w="3429000"/>
                <a:gridCol w="10607040"/>
              </a:tblGrid>
              <a:tr h="603504">
                <a:tc>
                  <a:txBody>
                    <a:bodyPr/>
                    <a:lstStyle/>
                    <a:p>
                      <a:pPr algn="l" indent="0" marL="0">
                        <a:buNone/>
                      </a:pPr>
                      <a:r>
                        <a:rPr lang="en-US" sz="1800" b="1" dirty="0">
                          <a:solidFill>
                            <a:srgbClr val="FFFFFF"/>
                          </a:solidFill>
                        </a:rPr>
                        <a:t>ENROLLMENT NO.</a:t>
                      </a:r>
                      <a:endParaRPr lang="en-US" sz="18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2239"/>
                    </a:solidFill>
                  </a:tcPr>
                </a:tc>
                <a:tc>
                  <a:txBody>
                    <a:bodyPr/>
                    <a:lstStyle/>
                    <a:p>
                      <a:pPr algn="l" indent="0" marL="0">
                        <a:buNone/>
                      </a:pPr>
                      <a:r>
                        <a:rPr lang="en-US" sz="1800" b="1" dirty="0">
                          <a:solidFill>
                            <a:srgbClr val="FFFFFF"/>
                          </a:solidFill>
                        </a:rPr>
                        <a:t>NAME</a:t>
                      </a:r>
                      <a:endParaRPr lang="en-US" sz="18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2239"/>
                    </a:solidFill>
                  </a:tcPr>
                </a:tc>
                <a:tc>
                  <a:txBody>
                    <a:bodyPr/>
                    <a:lstStyle/>
                    <a:p>
                      <a:pPr algn="l" indent="0" marL="0">
                        <a:buNone/>
                      </a:pPr>
                      <a:r>
                        <a:rPr lang="en-US" sz="1800" b="1" dirty="0">
                          <a:solidFill>
                            <a:srgbClr val="FFFFFF"/>
                          </a:solidFill>
                        </a:rPr>
                        <a:t>ROLE / CONTRIBUTION</a:t>
                      </a:r>
                      <a:endParaRPr lang="en-US" sz="18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2239"/>
                    </a:solidFill>
                  </a:tcPr>
                </a:tc>
              </a:tr>
              <a:tr h="1024128">
                <a:tc>
                  <a:txBody>
                    <a:bodyPr/>
                    <a:lstStyle/>
                    <a:p>
                      <a:pPr indent="0" marL="0">
                        <a:buNone/>
                      </a:pPr>
                      <a:r>
                        <a:rPr lang="en-US" sz="1800" dirty="0">
                          <a:solidFill>
                            <a:srgbClr val="1B2A38"/>
                          </a:solidFill>
                        </a:rPr>
                        <a:t>2401010392</a:t>
                      </a:r>
                      <a:endParaRPr lang="en-US" sz="18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2000" b="1" dirty="0">
                          <a:solidFill>
                            <a:srgbClr val="1B2A38"/>
                          </a:solidFill>
                        </a:rPr>
                        <a:t>Rohit Kumar</a:t>
                      </a:r>
                      <a:endParaRPr lang="en-US" sz="20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800" dirty="0">
                          <a:solidFill>
                            <a:srgbClr val="1B2A38"/>
                          </a:solidFill>
                        </a:rPr>
                        <a:t>Data exploration: checked data quality, plotted sensor trends, screened flat sensors; fixed the linear model and final comparison.</a:t>
                      </a:r>
                      <a:endParaRPr lang="en-US" sz="18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1024128">
                <a:tc>
                  <a:txBody>
                    <a:bodyPr/>
                    <a:lstStyle/>
                    <a:p>
                      <a:pPr indent="0" marL="0">
                        <a:buNone/>
                      </a:pPr>
                      <a:r>
                        <a:rPr lang="en-US" sz="1800" dirty="0">
                          <a:solidFill>
                            <a:srgbClr val="1B2A38"/>
                          </a:solidFill>
                        </a:rPr>
                        <a:t>2401010271</a:t>
                      </a:r>
                      <a:endParaRPr lang="en-US" sz="18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CF1F5"/>
                    </a:solidFill>
                  </a:tcPr>
                </a:tc>
                <a:tc>
                  <a:txBody>
                    <a:bodyPr/>
                    <a:lstStyle/>
                    <a:p>
                      <a:pPr indent="0" marL="0">
                        <a:buNone/>
                      </a:pPr>
                      <a:r>
                        <a:rPr lang="en-US" sz="2000" b="1" dirty="0">
                          <a:solidFill>
                            <a:srgbClr val="1B2A38"/>
                          </a:solidFill>
                        </a:rPr>
                        <a:t>Mayank Yadav</a:t>
                      </a:r>
                      <a:endParaRPr lang="en-US" sz="20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CF1F5"/>
                    </a:solidFill>
                  </a:tcPr>
                </a:tc>
                <a:tc>
                  <a:txBody>
                    <a:bodyPr/>
                    <a:lstStyle/>
                    <a:p>
                      <a:pPr indent="0" marL="0">
                        <a:buNone/>
                      </a:pPr>
                      <a:r>
                        <a:rPr lang="en-US" sz="1800" dirty="0">
                          <a:solidFill>
                            <a:srgbClr val="1B2A38"/>
                          </a:solidFill>
                        </a:rPr>
                        <a:t>Data preparation: built the capped RUL target, engine-wise split and the 71 rolling and drift features.</a:t>
                      </a:r>
                      <a:endParaRPr lang="en-US" sz="18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CF1F5"/>
                    </a:solidFill>
                  </a:tcPr>
                </a:tc>
              </a:tr>
              <a:tr h="1024128">
                <a:tc>
                  <a:txBody>
                    <a:bodyPr/>
                    <a:lstStyle/>
                    <a:p>
                      <a:pPr indent="0" marL="0">
                        <a:buNone/>
                      </a:pPr>
                      <a:r>
                        <a:rPr lang="en-US" sz="1800" dirty="0">
                          <a:solidFill>
                            <a:srgbClr val="1B2A38"/>
                          </a:solidFill>
                        </a:rPr>
                        <a:t>2401010098</a:t>
                      </a:r>
                      <a:endParaRPr lang="en-US" sz="18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2000" b="1" dirty="0">
                          <a:solidFill>
                            <a:srgbClr val="1B2A38"/>
                          </a:solidFill>
                        </a:rPr>
                        <a:t>Arun</a:t>
                      </a:r>
                      <a:endParaRPr lang="en-US" sz="20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800" dirty="0">
                          <a:solidFill>
                            <a:srgbClr val="1B2A38"/>
                          </a:solidFill>
                        </a:rPr>
                        <a:t>Modelling: tuned and pruned the Decision Tree, ran the final comparison and built the Streamlit web app.</a:t>
                      </a:r>
                      <a:endParaRPr lang="en-US" sz="18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1024128">
                <a:tc>
                  <a:txBody>
                    <a:bodyPr/>
                    <a:lstStyle/>
                    <a:p>
                      <a:pPr indent="0" marL="0">
                        <a:buNone/>
                      </a:pPr>
                      <a:r>
                        <a:rPr lang="en-US" sz="1800" dirty="0">
                          <a:solidFill>
                            <a:srgbClr val="1B2A38"/>
                          </a:solidFill>
                        </a:rPr>
                        <a:t>2401010221</a:t>
                      </a:r>
                      <a:endParaRPr lang="en-US" sz="18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CF1F5"/>
                    </a:solidFill>
                  </a:tcPr>
                </a:tc>
                <a:tc>
                  <a:txBody>
                    <a:bodyPr/>
                    <a:lstStyle/>
                    <a:p>
                      <a:pPr indent="0" marL="0">
                        <a:buNone/>
                      </a:pPr>
                      <a:r>
                        <a:rPr lang="en-US" sz="2000" b="1" dirty="0">
                          <a:solidFill>
                            <a:srgbClr val="1B2A38"/>
                          </a:solidFill>
                        </a:rPr>
                        <a:t>Keshav</a:t>
                      </a:r>
                      <a:endParaRPr lang="en-US" sz="20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CF1F5"/>
                    </a:solidFill>
                  </a:tcPr>
                </a:tc>
                <a:tc>
                  <a:txBody>
                    <a:bodyPr/>
                    <a:lstStyle/>
                    <a:p>
                      <a:pPr indent="0" marL="0">
                        <a:buNone/>
                      </a:pPr>
                      <a:r>
                        <a:rPr lang="en-US" sz="1800" dirty="0">
                          <a:solidFill>
                            <a:srgbClr val="1B2A38"/>
                          </a:solidFill>
                        </a:rPr>
                        <a:t>Random Forest (best model): grid-searched and trained the 150-tree forest, analysed feature importance, raw vs. engineered features and early/late-life errors, and evaluated it on the test set.</a:t>
                      </a:r>
                      <a:endParaRPr lang="en-US" sz="18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CF1F5"/>
                    </a:solidFill>
                  </a:tcPr>
                </a:tc>
              </a:tr>
              <a:tr h="1024128">
                <a:tc>
                  <a:txBody>
                    <a:bodyPr/>
                    <a:lstStyle/>
                    <a:p>
                      <a:pPr indent="0" marL="0">
                        <a:buNone/>
                      </a:pPr>
                      <a:r>
                        <a:rPr lang="en-US" sz="1800" dirty="0">
                          <a:solidFill>
                            <a:srgbClr val="1B2A38"/>
                          </a:solidFill>
                        </a:rPr>
                        <a:t>2401010422</a:t>
                      </a:r>
                      <a:endParaRPr lang="en-US" sz="18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2000" b="1" dirty="0">
                          <a:solidFill>
                            <a:srgbClr val="1B2A38"/>
                          </a:solidFill>
                        </a:rPr>
                        <a:t>Sarvesh Kumar</a:t>
                      </a:r>
                      <a:endParaRPr lang="en-US" sz="20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800" dirty="0">
                          <a:solidFill>
                            <a:srgbClr val="1B2A38"/>
                          </a:solidFill>
                        </a:rPr>
                        <a:t>Documentation: wrote the academic report, viva Q&amp;A and README with setup instructions and results.</a:t>
                      </a:r>
                      <a:endParaRPr lang="en-US" sz="1800" dirty="0"/>
                    </a:p>
                  </a:txBody>
                  <a:tcPr marL="137160" marR="137160"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6733520" y="9601200"/>
            <a:ext cx="731520" cy="365760"/>
          </a:xfrm>
          <a:prstGeom prst="rect">
            <a:avLst/>
          </a:prstGeom>
          <a:extLst>
            <a:ext uri="{C572A759-6A51-4108-AA02-DFA0A04FC94B}">
              <ma14:wrappingTextBoxFlag xmlns:ma14="http://schemas.microsoft.com/office/mac/drawingml/2011/main" val="0"/>
            </a:ext>
          </a:extLst>
        </p:spPr>
        <p:txBody>
          <a:bodyPr/>
          <a:lstStyle>
            <a:lvl1pPr>
              <a:defRPr sz="1500">
                <a:solidFill>
                  <a:srgbClr val="5B7083"/>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Engine RUL">
  <a:themeElements>
    <a:clrScheme name="Engine RUL">
      <a:dk1>
        <a:srgbClr val="1B2A38"/>
      </a:dk1>
      <a:lt1>
        <a:srgbClr val="FFFFFF"/>
      </a:lt1>
      <a:dk2>
        <a:srgbClr val="0B2239"/>
      </a:dk2>
      <a:lt2>
        <a:srgbClr val="ECF1F5"/>
      </a:lt2>
      <a:accent1>
        <a:srgbClr val="0E8F9B"/>
      </a:accent1>
      <a:accent2>
        <a:srgbClr val="F2A541"/>
      </a:accent2>
      <a:accent3>
        <a:srgbClr val="5B7083"/>
      </a:accent3>
      <a:accent4>
        <a:srgbClr val="A9B8C2"/>
      </a:accent4>
      <a:accent5>
        <a:srgbClr val="5CD0D8"/>
      </a:accent5>
      <a:accent6>
        <a:srgbClr val="2E5C8A"/>
      </a:accent6>
      <a:hlink>
        <a:srgbClr val="0E8F9B"/>
      </a:hlink>
      <a:folHlink>
        <a:srgbClr val="5B7083"/>
      </a:folHlink>
    </a:clrScheme>
    <a:fontScheme name="Engine RU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Turbofan Engine RUL Prediction - Phase 1</dc:title>
  <dc:subject>PptxGenJS Presentation</dc:subject>
  <dc:creator>Keshav, Rohit Kumar, Mayank Yadav, Arun, Sarvesh Kumar</dc:creator>
  <cp:lastModifiedBy>Keshav, Rohit Kumar, Mayank Yadav, Arun, Sarvesh Kumar</cp:lastModifiedBy>
  <cp:revision>1</cp:revision>
  <dcterms:created xsi:type="dcterms:W3CDTF">2026-10-27T03:27:37Z</dcterms:created>
  <dcterms:modified xsi:type="dcterms:W3CDTF">2026-10-27T03:27:37Z</dcterms:modified>
</cp:coreProperties>
</file>